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25"/>
  </p:notesMasterIdLst>
  <p:handoutMasterIdLst>
    <p:handoutMasterId r:id="rId39"/>
  </p:handoutMasterIdLst>
  <p:sldIdLst>
    <p:sldId id="1928" r:id="rId4"/>
    <p:sldId id="1989" r:id="rId5"/>
    <p:sldId id="1930" r:id="rId6"/>
    <p:sldId id="1932" r:id="rId7"/>
    <p:sldId id="1933" r:id="rId8"/>
    <p:sldId id="1934" r:id="rId9"/>
    <p:sldId id="1936" r:id="rId10"/>
    <p:sldId id="1938" r:id="rId11"/>
    <p:sldId id="1940" r:id="rId12"/>
    <p:sldId id="1963" r:id="rId13"/>
    <p:sldId id="1964" r:id="rId14"/>
    <p:sldId id="1952" r:id="rId15"/>
    <p:sldId id="1953" r:id="rId16"/>
    <p:sldId id="1943" r:id="rId17"/>
    <p:sldId id="1950" r:id="rId18"/>
    <p:sldId id="1945" r:id="rId19"/>
    <p:sldId id="1972" r:id="rId20"/>
    <p:sldId id="1946" r:id="rId21"/>
    <p:sldId id="1948" r:id="rId22"/>
    <p:sldId id="1949" r:id="rId23"/>
    <p:sldId id="1954" r:id="rId24"/>
    <p:sldId id="1955" r:id="rId26"/>
    <p:sldId id="1956" r:id="rId27"/>
    <p:sldId id="1957" r:id="rId28"/>
    <p:sldId id="1958" r:id="rId29"/>
    <p:sldId id="1951" r:id="rId30"/>
    <p:sldId id="1961" r:id="rId31"/>
    <p:sldId id="1962" r:id="rId32"/>
    <p:sldId id="1990" r:id="rId33"/>
    <p:sldId id="1966" r:id="rId34"/>
    <p:sldId id="1967" r:id="rId35"/>
    <p:sldId id="1968" r:id="rId36"/>
    <p:sldId id="1969" r:id="rId37"/>
    <p:sldId id="1971" r:id="rId38"/>
  </p:sldIdLst>
  <p:sldSz cx="12192000" cy="6858000"/>
  <p:notesSz cx="6858000" cy="9144000"/>
  <p:custDataLst>
    <p:tags r:id="rId4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章 嘉玺" initials="章" lastIdx="1" clrIdx="0"/>
  <p:cmAuthor id="2" name="webuser" initials="webuser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8B0012"/>
    <a:srgbClr val="70AD47"/>
    <a:srgbClr val="2774AE"/>
    <a:srgbClr val="70AE47"/>
    <a:srgbClr val="549E39"/>
    <a:srgbClr val="90B085"/>
    <a:srgbClr val="2D2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15"/>
    <p:restoredTop sz="91926" autoAdjust="0"/>
  </p:normalViewPr>
  <p:slideViewPr>
    <p:cSldViewPr snapToGrid="0" snapToObjects="1">
      <p:cViewPr varScale="1">
        <p:scale>
          <a:sx n="107" d="100"/>
          <a:sy n="107" d="100"/>
        </p:scale>
        <p:origin x="51" y="5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81" d="100"/>
          <a:sy n="81" d="100"/>
        </p:scale>
        <p:origin x="3384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4" Type="http://schemas.openxmlformats.org/officeDocument/2006/relationships/tags" Target="tags/tag10.xml"/><Relationship Id="rId43" Type="http://schemas.openxmlformats.org/officeDocument/2006/relationships/commentAuthors" Target="commentAuthors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slide" Target="slides/slide1.xml"/><Relationship Id="rId39" Type="http://schemas.openxmlformats.org/officeDocument/2006/relationships/handoutMaster" Target="handoutMasters/handoutMaster1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notesMaster" Target="notesMasters/notesMaster1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AD35F3-BE5B-41CC-A973-5F94E77F22B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6126E5-09CE-4398-8EB0-4AC849D0A16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AE8E16-D6C5-3248-816C-85B3C8E8792E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44C98A-D9C5-894D-9A13-8F52E37846C0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TileLang enables developers to write kernels at a high level of abstraction</a:t>
            </a:r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1988820" y="5448300"/>
            <a:ext cx="9664065" cy="447675"/>
          </a:xfrm>
          <a:prstGeom prst="rect">
            <a:avLst/>
          </a:prstGeom>
        </p:spPr>
        <p:txBody>
          <a:bodyPr/>
          <a:lstStyle>
            <a:lvl1pPr algn="ctr">
              <a:defRPr lang="zh-CN" altLang="en-US" sz="2400" b="0" i="0" kern="1200" baseline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80604020202020204" pitchFamily="34" charset="0"/>
                <a:ea typeface="微软雅黑" panose="020B0503020204020204" pitchFamily="34" charset="-122"/>
                <a:cs typeface="Arial" panose="0208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2450465" y="6356350"/>
            <a:ext cx="9202420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副标题 2"/>
          <p:cNvSpPr>
            <a:spLocks noGrp="1"/>
          </p:cNvSpPr>
          <p:nvPr>
            <p:ph type="subTitle" idx="1"/>
          </p:nvPr>
        </p:nvSpPr>
        <p:spPr>
          <a:xfrm>
            <a:off x="2009140" y="4846320"/>
            <a:ext cx="9643110" cy="47498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4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4" y="1323975"/>
            <a:ext cx="11277601" cy="4852988"/>
          </a:xfrm>
        </p:spPr>
        <p:txBody>
          <a:bodyPr anchor="t"/>
          <a:lstStyle>
            <a:lvl1pPr algn="l">
              <a:buClr>
                <a:srgbClr val="8B0012"/>
              </a:buClr>
              <a:buSzTx/>
              <a:buFontTx/>
              <a:buChar char="•"/>
              <a:defRPr/>
            </a:lvl1pPr>
            <a:lvl2pPr algn="l">
              <a:buClr>
                <a:srgbClr val="8B0012"/>
              </a:buClr>
              <a:buSzPct val="75000"/>
              <a:buFontTx/>
              <a:buChar char="◦"/>
              <a:defRPr/>
            </a:lvl2pPr>
            <a:lvl3pPr algn="l">
              <a:buClr>
                <a:srgbClr val="8B0012"/>
              </a:buClr>
              <a:buSzTx/>
              <a:buFontTx/>
              <a:buChar char="-"/>
              <a:defRPr/>
            </a:lvl3pPr>
            <a:lvl4pPr algn="l">
              <a:buClr>
                <a:srgbClr val="8B0012"/>
              </a:buClr>
              <a:buSzTx/>
              <a:buFontTx/>
              <a:buChar char="-"/>
              <a:defRPr/>
            </a:lvl4pPr>
            <a:lvl5pPr>
              <a:buClr>
                <a:srgbClr val="8B0012"/>
              </a:buClr>
              <a:buSzTx/>
              <a:buFontTx/>
              <a:buChar char="-"/>
              <a:defRPr/>
            </a:lvl5pPr>
            <a:lvl6pPr>
              <a:buClr>
                <a:srgbClr val="8B0012"/>
              </a:buClr>
              <a:buSzTx/>
              <a:buFontTx/>
              <a:buChar char="-"/>
              <a:defRPr/>
            </a:lvl6pPr>
            <a:lvl7pPr>
              <a:buClr>
                <a:srgbClr val="8B0012"/>
              </a:buClr>
              <a:buSzTx/>
              <a:buFontTx/>
              <a:buChar char="-"/>
              <a:defRPr/>
            </a:lvl7pPr>
            <a:lvl8pPr>
              <a:buClr>
                <a:srgbClr val="8B0012"/>
              </a:buClr>
              <a:buSzTx/>
              <a:buFontTx/>
              <a:buChar char="-"/>
              <a:defRPr/>
            </a:lvl8pPr>
            <a:lvl9pPr>
              <a:buClr>
                <a:srgbClr val="8B0012"/>
              </a:buClr>
              <a:buSzTx/>
              <a:buFontTx/>
              <a:buChar char="-"/>
              <a:defRPr/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3" y="1323976"/>
            <a:ext cx="5591177" cy="4852988"/>
          </a:xfrm>
        </p:spPr>
        <p:txBody>
          <a:bodyPr anchor="t"/>
          <a:lstStyle>
            <a:lvl1pPr algn="l">
              <a:buClr>
                <a:srgbClr val="8B0012"/>
              </a:buClr>
              <a:buSzTx/>
              <a:buFontTx/>
              <a:buChar char="•"/>
              <a:defRPr/>
            </a:lvl1pPr>
            <a:lvl2pPr algn="l">
              <a:buClr>
                <a:srgbClr val="8B0012"/>
              </a:buClr>
              <a:buSzPct val="75000"/>
              <a:buFontTx/>
              <a:buChar char="◦"/>
              <a:defRPr/>
            </a:lvl2pPr>
            <a:lvl3pPr algn="l">
              <a:buClr>
                <a:srgbClr val="8B0012"/>
              </a:buClr>
              <a:buSzTx/>
              <a:buFontTx/>
              <a:buChar char="-"/>
              <a:defRPr/>
            </a:lvl3pPr>
            <a:lvl4pPr algn="l">
              <a:buClr>
                <a:srgbClr val="8B0012"/>
              </a:buClr>
              <a:buSzTx/>
              <a:buFontTx/>
              <a:buChar char="-"/>
              <a:defRPr/>
            </a:lvl4pPr>
            <a:lvl5pPr>
              <a:buClr>
                <a:srgbClr val="8B0012"/>
              </a:buClr>
              <a:buSzTx/>
              <a:buFontTx/>
              <a:buChar char="-"/>
              <a:defRPr/>
            </a:lvl5pPr>
            <a:lvl6pPr>
              <a:buClr>
                <a:srgbClr val="8B0012"/>
              </a:buClr>
              <a:buSzTx/>
              <a:buFontTx/>
              <a:buChar char="-"/>
              <a:defRPr/>
            </a:lvl6pPr>
            <a:lvl7pPr>
              <a:buClr>
                <a:srgbClr val="8B0012"/>
              </a:buClr>
              <a:buSzTx/>
              <a:buFontTx/>
              <a:buChar char="-"/>
              <a:defRPr/>
            </a:lvl7pPr>
            <a:lvl8pPr>
              <a:buClr>
                <a:srgbClr val="8B0012"/>
              </a:buClr>
              <a:buSzTx/>
              <a:buFontTx/>
              <a:buChar char="-"/>
              <a:defRPr/>
            </a:lvl8pPr>
            <a:lvl9pPr>
              <a:buClr>
                <a:srgbClr val="8B0012"/>
              </a:buClr>
              <a:buSzTx/>
              <a:buFontTx/>
              <a:buChar char="-"/>
              <a:defRPr/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</p:txBody>
      </p:sp>
      <p:sp>
        <p:nvSpPr>
          <p:cNvPr id="10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1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6210297" y="1323977"/>
            <a:ext cx="5591177" cy="4856162"/>
          </a:xfrm>
        </p:spPr>
        <p:txBody>
          <a:bodyPr anchor="t"/>
          <a:lstStyle>
            <a:lvl1pPr algn="l">
              <a:buClr>
                <a:srgbClr val="8B0012"/>
              </a:buClr>
              <a:buSzTx/>
              <a:buFontTx/>
              <a:buChar char="•"/>
              <a:defRPr/>
            </a:lvl1pPr>
            <a:lvl2pPr algn="l">
              <a:buClr>
                <a:srgbClr val="8B0012"/>
              </a:buClr>
              <a:buSzPct val="75000"/>
              <a:buFontTx/>
              <a:buChar char="◦"/>
              <a:defRPr/>
            </a:lvl2pPr>
            <a:lvl3pPr algn="l">
              <a:buClr>
                <a:srgbClr val="8B0012"/>
              </a:buClr>
              <a:buSzTx/>
              <a:buFontTx/>
              <a:buChar char="-"/>
              <a:defRPr/>
            </a:lvl3pPr>
            <a:lvl4pPr algn="l">
              <a:buClr>
                <a:srgbClr val="8B0012"/>
              </a:buClr>
              <a:buSzTx/>
              <a:buFontTx/>
              <a:buChar char="-"/>
              <a:defRPr/>
            </a:lvl4pPr>
            <a:lvl5pPr>
              <a:buClr>
                <a:srgbClr val="8B0012"/>
              </a:buClr>
              <a:buSzTx/>
              <a:buFontTx/>
              <a:buChar char="-"/>
              <a:defRPr/>
            </a:lvl5pPr>
            <a:lvl6pPr>
              <a:buClr>
                <a:srgbClr val="8B0012"/>
              </a:buClr>
              <a:buSzTx/>
              <a:buFontTx/>
              <a:buChar char="-"/>
              <a:defRPr/>
            </a:lvl6pPr>
            <a:lvl7pPr>
              <a:buClr>
                <a:srgbClr val="8B0012"/>
              </a:buClr>
              <a:buSzTx/>
              <a:buFontTx/>
              <a:buChar char="-"/>
              <a:defRPr/>
            </a:lvl7pPr>
            <a:lvl8pPr>
              <a:buClr>
                <a:srgbClr val="8B0012"/>
              </a:buClr>
              <a:buSzTx/>
              <a:buFontTx/>
              <a:buChar char="-"/>
              <a:defRPr/>
            </a:lvl8pPr>
            <a:lvl9pPr>
              <a:buClr>
                <a:srgbClr val="8B0012"/>
              </a:buClr>
              <a:buSzTx/>
              <a:buFontTx/>
              <a:buChar char="-"/>
              <a:defRPr/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6749" y="457201"/>
            <a:ext cx="2771775" cy="5719762"/>
          </a:xfrm>
        </p:spPr>
        <p:txBody>
          <a:bodyPr/>
          <a:lstStyle/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3657600" y="457201"/>
            <a:ext cx="8001000" cy="5719763"/>
          </a:xfrm>
        </p:spPr>
        <p:txBody>
          <a:bodyPr anchor="t"/>
          <a:lstStyle>
            <a:lvl1pPr algn="l">
              <a:buClr>
                <a:srgbClr val="8B0012"/>
              </a:buClr>
              <a:buSzTx/>
              <a:buFontTx/>
              <a:buChar char="•"/>
              <a:defRPr/>
            </a:lvl1pPr>
            <a:lvl2pPr algn="l">
              <a:buClr>
                <a:srgbClr val="8B0012"/>
              </a:buClr>
              <a:buSzTx/>
              <a:buFontTx/>
              <a:buChar char="◦"/>
              <a:defRPr/>
            </a:lvl2pPr>
            <a:lvl3pPr algn="l">
              <a:buClr>
                <a:srgbClr val="8B0012"/>
              </a:buClr>
              <a:buSzTx/>
              <a:buFontTx/>
              <a:buChar char="-"/>
              <a:defRPr/>
            </a:lvl3pPr>
            <a:lvl4pPr algn="l">
              <a:buClr>
                <a:srgbClr val="8B0012"/>
              </a:buClr>
              <a:buSzTx/>
              <a:buFontTx/>
              <a:buChar char="-"/>
              <a:defRPr/>
            </a:lvl4pPr>
            <a:lvl5pPr>
              <a:buClr>
                <a:srgbClr val="8B0012"/>
              </a:buClr>
              <a:buSzTx/>
              <a:buFontTx/>
              <a:buChar char="-"/>
              <a:defRPr/>
            </a:lvl5pPr>
            <a:lvl6pPr>
              <a:buClr>
                <a:srgbClr val="8B0012"/>
              </a:buClr>
              <a:buSzTx/>
              <a:buFontTx/>
              <a:buChar char="-"/>
              <a:defRPr/>
            </a:lvl6pPr>
            <a:lvl7pPr>
              <a:buClr>
                <a:srgbClr val="8B0012"/>
              </a:buClr>
              <a:buSzTx/>
              <a:buFontTx/>
              <a:buChar char="-"/>
              <a:defRPr/>
            </a:lvl7pPr>
            <a:lvl8pPr>
              <a:buClr>
                <a:srgbClr val="8B0012"/>
              </a:buClr>
              <a:buSzTx/>
              <a:buFontTx/>
              <a:buChar char="-"/>
              <a:defRPr/>
            </a:lvl8pPr>
            <a:lvl9pPr>
              <a:buClr>
                <a:srgbClr val="8B0012"/>
              </a:buClr>
              <a:buSzTx/>
              <a:buFontTx/>
              <a:buChar char="-"/>
              <a:defRPr/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</p:txBody>
      </p:sp>
      <p:sp>
        <p:nvSpPr>
          <p:cNvPr id="8" name="页脚占位符 3"/>
          <p:cNvSpPr>
            <a:spLocks noGrp="1"/>
          </p:cNvSpPr>
          <p:nvPr>
            <p:ph type="ftr" sz="quarter" idx="15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 hasCustomPrompt="1"/>
            <p:custDataLst>
              <p:tags r:id="rId2"/>
            </p:custDataLst>
          </p:nvPr>
        </p:nvSpPr>
        <p:spPr>
          <a:xfrm>
            <a:off x="5452216" y="0"/>
            <a:ext cx="6110447" cy="6858000"/>
          </a:xfrm>
        </p:spPr>
        <p:txBody>
          <a:bodyPr anchor="ctr"/>
          <a:lstStyle>
            <a:lvl1pPr algn="l">
              <a:lnSpc>
                <a:spcPct val="100000"/>
              </a:lnSpc>
              <a:spcBef>
                <a:spcPts val="3000"/>
              </a:spcBef>
              <a:buClr>
                <a:srgbClr val="8B0012"/>
              </a:buClr>
              <a:buSzTx/>
              <a:buFontTx/>
              <a:buChar char="•"/>
              <a:defRPr sz="2800" baseline="0">
                <a:latin typeface="Arial" panose="02080604020202020204" pitchFamily="34" charset="0"/>
              </a:defRPr>
            </a:lvl1pPr>
            <a:lvl2pPr algn="l">
              <a:lnSpc>
                <a:spcPct val="100000"/>
              </a:lnSpc>
              <a:buClr>
                <a:srgbClr val="8B0012"/>
              </a:buClr>
              <a:buSzTx/>
              <a:buFontTx/>
              <a:buChar char="◦"/>
              <a:defRPr sz="2400" baseline="0">
                <a:latin typeface="Arial" panose="02080604020202020204" pitchFamily="34" charset="0"/>
              </a:defRPr>
            </a:lvl2pPr>
            <a:lvl3pPr algn="l">
              <a:lnSpc>
                <a:spcPct val="100000"/>
              </a:lnSpc>
              <a:buClr>
                <a:srgbClr val="8B0012"/>
              </a:buClr>
              <a:buSzTx/>
              <a:buFontTx/>
              <a:buChar char="-"/>
              <a:defRPr sz="2000" baseline="0">
                <a:latin typeface="Arial" panose="02080604020202020204" pitchFamily="34" charset="0"/>
              </a:defRPr>
            </a:lvl3pPr>
            <a:lvl4pPr algn="l">
              <a:lnSpc>
                <a:spcPct val="100000"/>
              </a:lnSpc>
              <a:buClr>
                <a:srgbClr val="8B0012"/>
              </a:buClr>
              <a:buSzTx/>
              <a:buFontTx/>
              <a:buChar char="-"/>
              <a:defRPr sz="1600" baseline="0">
                <a:latin typeface="Arial" panose="02080604020202020204" pitchFamily="34" charset="0"/>
              </a:defRPr>
            </a:lvl4pPr>
            <a:lvl5pPr>
              <a:buClr>
                <a:srgbClr val="8B0012"/>
              </a:buClr>
              <a:buSzTx/>
              <a:buFontTx/>
              <a:buChar char="-"/>
              <a:defRPr/>
            </a:lvl5pPr>
            <a:lvl6pPr>
              <a:buClr>
                <a:srgbClr val="8B0012"/>
              </a:buClr>
              <a:buSzTx/>
              <a:buFontTx/>
              <a:buChar char="-"/>
              <a:defRPr/>
            </a:lvl6pPr>
            <a:lvl7pPr>
              <a:buClr>
                <a:srgbClr val="8B0012"/>
              </a:buClr>
              <a:buSzTx/>
              <a:buFontTx/>
              <a:buChar char="-"/>
              <a:defRPr/>
            </a:lvl7pPr>
            <a:lvl8pPr>
              <a:buClr>
                <a:srgbClr val="8B0012"/>
              </a:buClr>
              <a:buSzTx/>
              <a:buFontTx/>
              <a:buChar char="-"/>
              <a:defRPr/>
            </a:lvl8pPr>
            <a:lvl9pPr>
              <a:buClr>
                <a:srgbClr val="8B0012"/>
              </a:buClr>
              <a:buSzTx/>
              <a:buFontTx/>
              <a:buChar char="-"/>
              <a:defRPr/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</p:txBody>
      </p:sp>
      <p:grpSp>
        <p:nvGrpSpPr>
          <p:cNvPr id="14" name="Group 7"/>
          <p:cNvGrpSpPr/>
          <p:nvPr userDrawn="1"/>
        </p:nvGrpSpPr>
        <p:grpSpPr>
          <a:xfrm>
            <a:off x="3057633" y="31667"/>
            <a:ext cx="9134367" cy="6838951"/>
            <a:chOff x="-4763" y="9525"/>
            <a:chExt cx="9032249" cy="6838951"/>
          </a:xfrm>
          <a:solidFill>
            <a:srgbClr val="8B0012"/>
          </a:solidFill>
        </p:grpSpPr>
        <p:sp>
          <p:nvSpPr>
            <p:cNvPr id="15" name="Line 16"/>
            <p:cNvSpPr>
              <a:spLocks noChangeShapeType="1"/>
            </p:cNvSpPr>
            <p:nvPr>
              <p:custDataLst>
                <p:tags r:id="rId3"/>
              </p:custData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</a:ln>
          </p:spPr>
        </p:sp>
        <p:grpSp>
          <p:nvGrpSpPr>
            <p:cNvPr id="16" name="Group 9"/>
            <p:cNvGrpSpPr/>
            <p:nvPr/>
          </p:nvGrpSpPr>
          <p:grpSpPr>
            <a:xfrm>
              <a:off x="8428998" y="4867275"/>
              <a:ext cx="598488" cy="1981201"/>
              <a:chOff x="11441112" y="4867275"/>
              <a:chExt cx="598488" cy="1981201"/>
            </a:xfrm>
            <a:grpFill/>
          </p:grpSpPr>
          <p:sp>
            <p:nvSpPr>
              <p:cNvPr id="17" name="Freeform 35"/>
              <p:cNvSpPr/>
              <p:nvPr>
                <p:custDataLst>
                  <p:tags r:id="rId4"/>
                </p:custData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8" name="Freeform 36"/>
              <p:cNvSpPr>
                <a:spLocks noEditPoint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9" name="Freeform 38"/>
              <p:cNvSpPr>
                <a:spLocks noEditPoint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0" name="Freeform 39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1" name="Freeform 40"/>
              <p:cNvSpPr>
                <a:spLocks noEditPoint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2" name="Rectangle 41"/>
              <p:cNvSpPr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</p:spPr>
          </p:sp>
        </p:grpSp>
      </p:grpSp>
      <p:sp>
        <p:nvSpPr>
          <p:cNvPr id="23" name="内容占位符 22"/>
          <p:cNvSpPr>
            <a:spLocks noGrp="1"/>
          </p:cNvSpPr>
          <p:nvPr>
            <p:ph sz="quarter" idx="11" hasCustomPrompt="1"/>
            <p:custDataLst>
              <p:tags r:id="rId10"/>
            </p:custDataLst>
          </p:nvPr>
        </p:nvSpPr>
        <p:spPr>
          <a:xfrm>
            <a:off x="0" y="0"/>
            <a:ext cx="4659313" cy="6858000"/>
          </a:xfrm>
          <a:solidFill>
            <a:srgbClr val="8B001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 dirty="0"/>
              <a:t>Outline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7" Type="http://schemas.openxmlformats.org/officeDocument/2006/relationships/image" Target="../media/image3.png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5.xml"/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roup 65"/>
          <p:cNvGrpSpPr/>
          <p:nvPr userDrawn="1"/>
        </p:nvGrpSpPr>
        <p:grpSpPr>
          <a:xfrm>
            <a:off x="0" y="0"/>
            <a:ext cx="2212199" cy="6858001"/>
            <a:chOff x="0" y="0"/>
            <a:chExt cx="2305051" cy="6858001"/>
          </a:xfrm>
          <a:solidFill>
            <a:srgbClr val="8B0012"/>
          </a:soli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69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0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1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2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3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4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grpSp>
        <p:nvGrpSpPr>
          <p:cNvPr id="6" name="Group 2"/>
          <p:cNvGrpSpPr/>
          <p:nvPr userDrawn="1"/>
        </p:nvGrpSpPr>
        <p:grpSpPr>
          <a:xfrm>
            <a:off x="9489385" y="488041"/>
            <a:ext cx="2580450" cy="547850"/>
            <a:chOff x="9221415" y="158476"/>
            <a:chExt cx="2580450" cy="547850"/>
          </a:xfrm>
        </p:grpSpPr>
        <p:pic>
          <p:nvPicPr>
            <p:cNvPr id="9" name="Picture 3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10" name="Picture 4"/>
            <p:cNvPicPr>
              <a:picLocks noChangeAspect="1"/>
            </p:cNvPicPr>
            <p:nvPr/>
          </p:nvPicPr>
          <p:blipFill>
            <a:blip r:embed="rId4"/>
            <a:srcRect l="13229" t="29812" r="10430" b="29795"/>
            <a:stretch>
              <a:fillRect/>
            </a:stretch>
          </p:blipFill>
          <p:spPr>
            <a:xfrm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>
    <p:fade/>
  </p:transition>
  <p:hf hdr="0" dt="0"/>
  <p:txStyles>
    <p:titleStyle>
      <a:lvl1pPr algn="l" defTabSz="342900" rtl="0" eaLnBrk="1" latinLnBrk="0" hangingPunct="1">
        <a:spcBef>
          <a:spcPct val="0"/>
        </a:spcBef>
        <a:buNone/>
        <a:defRPr sz="3600" b="0" i="0" kern="1200" baseline="0">
          <a:solidFill>
            <a:schemeClr val="tx1">
              <a:lumMod val="85000"/>
              <a:lumOff val="15000"/>
            </a:schemeClr>
          </a:solidFill>
          <a:latin typeface="Calibri" panose="020F0502020204030204" charset="0"/>
          <a:ea typeface="微软雅黑" panose="020B0503020204020204" pitchFamily="34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0045" marR="0" indent="-360045" algn="l" defTabSz="342900" rtl="0" eaLnBrk="1" fontAlgn="auto" latinLnBrk="0" hangingPunct="1">
        <a:lnSpc>
          <a:spcPct val="100000"/>
        </a:lnSpc>
        <a:spcBef>
          <a:spcPts val="1500"/>
        </a:spcBef>
        <a:spcAft>
          <a:spcPts val="0"/>
        </a:spcAft>
        <a:buClr>
          <a:srgbClr val="8B0012"/>
        </a:buClr>
        <a:buSzTx/>
        <a:buFontTx/>
        <a:buChar char="•"/>
        <a:defRPr lang="zh-CN" altLang="en-US" sz="2400" b="0" i="0" kern="1200" baseline="0" dirty="0" smtClean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pitchFamily="34" charset="-122"/>
          <a:cs typeface="+mn-cs"/>
        </a:defRPr>
      </a:lvl1pPr>
      <a:lvl2pPr marL="557530" marR="0" indent="-21463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Tx/>
        <a:buChar char="◦"/>
        <a:defRPr lang="zh-CN" altLang="en-US" sz="2000" b="0" i="0" kern="1200" baseline="0" dirty="0" smtClean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pitchFamily="34" charset="-122"/>
          <a:cs typeface="+mn-cs"/>
        </a:defRPr>
      </a:lvl2pPr>
      <a:lvl3pPr marL="8572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Tx/>
        <a:buChar char="-"/>
        <a:defRPr lang="zh-CN" altLang="en-US" sz="1600" kern="1200" baseline="0" dirty="0" smtClean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pitchFamily="34" charset="-122"/>
          <a:cs typeface="+mn-cs"/>
        </a:defRPr>
      </a:lvl3pPr>
      <a:lvl4pPr marL="12001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Tx/>
        <a:buChar char="-"/>
        <a:defRPr lang="zh-CN" altLang="en-US" sz="1200" kern="1200" baseline="0" dirty="0" smtClean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pitchFamily="34" charset="-122"/>
          <a:cs typeface="+mn-cs"/>
        </a:defRPr>
      </a:lvl4pPr>
      <a:lvl5pPr marL="15430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Tx/>
        <a:buChar char="-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rgbClr val="8B0012"/>
        </a:buClr>
        <a:buSzTx/>
        <a:buFontTx/>
        <a:buChar char="-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rgbClr val="8B0012"/>
        </a:buClr>
        <a:buSzTx/>
        <a:buFontTx/>
        <a:buChar char="-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rgbClr val="8B0012"/>
        </a:buClr>
        <a:buSzTx/>
        <a:buFontTx/>
        <a:buChar char="-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rgbClr val="8B0012"/>
        </a:buClr>
        <a:buSzTx/>
        <a:buFontTx/>
        <a:buChar char="-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23874" y="1323975"/>
            <a:ext cx="11277601" cy="48325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741680" y="431800"/>
            <a:ext cx="8620760" cy="7010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523874" y="6356351"/>
            <a:ext cx="112776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aseline="0">
                <a:solidFill>
                  <a:srgbClr val="666666"/>
                </a:solidFill>
                <a:latin typeface="Arial" panose="0208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44" name="Freeform 5"/>
          <p:cNvSpPr/>
          <p:nvPr userDrawn="1"/>
        </p:nvSpPr>
        <p:spPr bwMode="auto">
          <a:xfrm flipV="1">
            <a:off x="-4185" y="529393"/>
            <a:ext cx="564624" cy="507999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rgbClr val="8B0012"/>
          </a:solidFill>
          <a:ln>
            <a:noFill/>
          </a:ln>
        </p:spPr>
        <p:txBody>
          <a:bodyPr/>
          <a:lstStyle/>
          <a:p>
            <a:endParaRPr lang="en-US" sz="135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" y="593458"/>
            <a:ext cx="4190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0" baseline="0">
                <a:solidFill>
                  <a:schemeClr val="bg1"/>
                </a:solidFill>
                <a:latin typeface="Arial" panose="02080604020202020204" pitchFamily="34" charset="0"/>
                <a:ea typeface="微软雅黑" panose="020B0503020204020204" pitchFamily="34" charset="-122"/>
                <a:cs typeface="Calibri" panose="020F0502020204030204" charset="0"/>
              </a:defRPr>
            </a:lvl1pPr>
          </a:lstStyle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4" name="Group 2"/>
          <p:cNvGrpSpPr/>
          <p:nvPr userDrawn="1"/>
        </p:nvGrpSpPr>
        <p:grpSpPr>
          <a:xfrm>
            <a:off x="9489385" y="488041"/>
            <a:ext cx="2580450" cy="547850"/>
            <a:chOff x="9221415" y="158476"/>
            <a:chExt cx="2580450" cy="547850"/>
          </a:xfrm>
        </p:grpSpPr>
        <p:pic>
          <p:nvPicPr>
            <p:cNvPr id="7" name="Picture 3"/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8" name="Picture 4"/>
            <p:cNvPicPr>
              <a:picLocks noChangeAspect="1"/>
            </p:cNvPicPr>
            <p:nvPr/>
          </p:nvPicPr>
          <p:blipFill>
            <a:blip r:embed="rId7"/>
            <a:srcRect l="13229" t="29812" r="10430" b="29795"/>
            <a:stretch>
              <a:fillRect/>
            </a:stretch>
          </p:blipFill>
          <p:spPr>
            <a:xfrm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</p:sldLayoutIdLst>
  <p:transition>
    <p:fade/>
  </p:transition>
  <p:hf hdr="0" dt="0"/>
  <p:txStyles>
    <p:titleStyle>
      <a:lvl1pPr algn="l" defTabSz="342900" rtl="0" eaLnBrk="1" latinLnBrk="0" hangingPunct="1">
        <a:spcBef>
          <a:spcPct val="0"/>
        </a:spcBef>
        <a:buNone/>
        <a:defRPr lang="zh-CN" altLang="en-US" sz="3600" b="0" i="0" kern="1200" baseline="0" dirty="0">
          <a:solidFill>
            <a:schemeClr val="tx1">
              <a:lumMod val="85000"/>
              <a:lumOff val="15000"/>
            </a:schemeClr>
          </a:solidFill>
          <a:latin typeface="Calibri" panose="020F0502020204030204" charset="0"/>
          <a:ea typeface="微软雅黑" panose="020B0503020204020204" pitchFamily="34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0045" marR="0" indent="-360045" algn="l" defTabSz="342900" rtl="0" eaLnBrk="1" fontAlgn="auto" latinLnBrk="0" hangingPunct="1">
        <a:lnSpc>
          <a:spcPct val="100000"/>
        </a:lnSpc>
        <a:spcBef>
          <a:spcPts val="1500"/>
        </a:spcBef>
        <a:spcAft>
          <a:spcPts val="0"/>
        </a:spcAft>
        <a:buClr>
          <a:srgbClr val="8B0012"/>
        </a:buClr>
        <a:buSzTx/>
        <a:buFontTx/>
        <a:buChar char="•"/>
        <a:defRPr sz="2400" b="0" i="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pitchFamily="34" charset="-122"/>
          <a:cs typeface="+mn-cs"/>
        </a:defRPr>
      </a:lvl1pPr>
      <a:lvl2pPr marL="557530" marR="0" indent="-21463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Pct val="75000"/>
        <a:buFontTx/>
        <a:buChar char="◦"/>
        <a:defRPr sz="20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pitchFamily="34" charset="-122"/>
          <a:cs typeface="+mn-cs"/>
        </a:defRPr>
      </a:lvl2pPr>
      <a:lvl3pPr marL="8572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Tx/>
        <a:buChar char="-"/>
        <a:defRPr sz="16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pitchFamily="34" charset="-122"/>
          <a:cs typeface="+mn-cs"/>
        </a:defRPr>
      </a:lvl3pPr>
      <a:lvl4pPr marL="12001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Tx/>
        <a:buChar char="-"/>
        <a:defRPr sz="12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pitchFamily="34" charset="-122"/>
          <a:cs typeface="+mn-cs"/>
        </a:defRPr>
      </a:lvl4pPr>
      <a:lvl5pPr marL="15430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Tx/>
        <a:buChar char="-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rgbClr val="8B0012"/>
        </a:buClr>
        <a:buSzTx/>
        <a:buFontTx/>
        <a:buChar char="-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rgbClr val="8B0012"/>
        </a:buClr>
        <a:buSzTx/>
        <a:buFontTx/>
        <a:buChar char="-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rgbClr val="8B0012"/>
        </a:buClr>
        <a:buSzTx/>
        <a:buFontTx/>
        <a:buChar char="-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rgbClr val="8B0012"/>
        </a:buClr>
        <a:buSzTx/>
        <a:buFontTx/>
        <a:buChar char="-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hyperlink" Target="https://zhuanlan.zhihu.com/p/7795643474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hyperlink" Target="https://zhuanlan.zhihu.com/p/7795643474" TargetMode="Externa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hyperlink" Target="https://zhuanlan.zhihu.com/p/7795643474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hyperlink" Target="https://pytorch.ac.cn/blog/accelerated-pytorch-inference/" TargetMode="External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hyperlink" Target="https://www.tilelang.com/get_started/overview.html" TargetMode="External"/><Relationship Id="rId1" Type="http://schemas.openxmlformats.org/officeDocument/2006/relationships/hyperlink" Target="https://arxiv.org/pdf/2504.17577v2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jpe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/>
              <a:t>AI</a:t>
            </a:r>
            <a:r>
              <a:rPr lang="en-US" altLang="zh-CN">
                <a:solidFill>
                  <a:schemeClr val="tx1">
                    <a:lumMod val="85000"/>
                    <a:lumOff val="15000"/>
                  </a:schemeClr>
                </a:solidFill>
                <a:ea typeface="微软雅黑" charset="0"/>
              </a:rPr>
              <a:t> Compiler: Basics and Optimizations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zh-CN"/>
              <a:t>Review: Programming with Triton</a:t>
            </a:r>
            <a:endParaRPr lang="x-none" altLang="zh-CN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p>
            <a:pPr marL="0" indent="0">
              <a:buNone/>
            </a:pPr>
            <a:r>
              <a:rPr lang="x-none" altLang="zh-CN"/>
              <a:t>More examples...</a:t>
            </a:r>
            <a:endParaRPr lang="x-none" altLang="zh-CN"/>
          </a:p>
          <a:p>
            <a:r>
              <a:rPr lang="x-none" altLang="zh-CN"/>
              <a:t>FlagGems (to register with the ATen backend of PyTorch)</a:t>
            </a:r>
            <a:endParaRPr lang="x-none" altLang="zh-CN"/>
          </a:p>
          <a:p>
            <a:pPr lvl="1"/>
            <a:r>
              <a:rPr lang="x-none" altLang="zh-CN"/>
              <a:t>https://github.com/flagos-ai/FlagGems/tree/master/src/flag_gems/ops</a:t>
            </a:r>
            <a:endParaRPr lang="x-none" altLang="zh-CN"/>
          </a:p>
          <a:p>
            <a:pPr lvl="0"/>
            <a:r>
              <a:rPr lang="x-none" altLang="zh-CN"/>
              <a:t>Triton kernels in SGLang</a:t>
            </a:r>
            <a:endParaRPr lang="x-none" altLang="zh-CN"/>
          </a:p>
          <a:p>
            <a:pPr lvl="1"/>
            <a:r>
              <a:rPr lang="x-none" altLang="zh-CN"/>
              <a:t>https://github.com/sgl-project/sglang/tree/main/python/sglang/kernels/ops</a:t>
            </a:r>
            <a:endParaRPr lang="x-none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p>
            <a:r>
              <a:rPr lang="en-US" altLang="zh-CN" b="1"/>
              <a:t>General Flow</a:t>
            </a:r>
            <a:endParaRPr lang="en-US" altLang="zh-CN" b="1"/>
          </a:p>
          <a:p>
            <a:r>
              <a:rPr lang="en-US" altLang="zh-CN"/>
              <a:t>AI</a:t>
            </a:r>
            <a:r>
              <a:rPr lang="zh-CN" altLang="en-US"/>
              <a:t>-</a:t>
            </a:r>
            <a:r>
              <a:rPr lang="en-US" altLang="zh-CN"/>
              <a:t>DSL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 Design</a:t>
            </a:r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</a:endParaRPr>
          </a:p>
          <a:p>
            <a:r>
              <a:rPr lang="en-US" altLang="zh-CN"/>
              <a:t>Optimization Passes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ea typeface="微软雅黑" charset="0"/>
              </a:rPr>
              <a:t>G</a:t>
            </a:r>
            <a:r>
              <a:rPr lang="en-US" altLang="zh-CN">
                <a:solidFill>
                  <a:schemeClr val="tx1">
                    <a:lumMod val="85000"/>
                    <a:lumOff val="15000"/>
                  </a:schemeClr>
                </a:solidFill>
                <a:ea typeface="微软雅黑" charset="0"/>
              </a:rPr>
              <a:t>eneral Flow: Compilation Procedure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p>
            <a:r>
              <a:rPr lang="en-US" altLang="zh-CN"/>
              <a:t>High</a:t>
            </a:r>
            <a:r>
              <a:rPr lang="zh-CN" altLang="en-US"/>
              <a:t>-</a:t>
            </a:r>
            <a:r>
              <a:rPr lang="en-US" altLang="zh-CN">
                <a:cs typeface="Arial" panose="02080604020202020204" pitchFamily="34" charset="0"/>
              </a:rPr>
              <a:t>level representation lowering to hardware code gradually</a:t>
            </a:r>
            <a:endParaRPr lang="en-US" altLang="zh-CN">
              <a:cs typeface="Arial" panose="02080604020202020204" pitchFamily="34" charset="0"/>
            </a:endParaRPr>
          </a:p>
          <a:p>
            <a:pPr lvl="1"/>
            <a:r>
              <a:rPr lang="en-US" altLang="zh-CN"/>
              <a:t>High</a:t>
            </a:r>
            <a:r>
              <a:rPr lang="zh-CN" altLang="en-US"/>
              <a:t>-</a:t>
            </a:r>
            <a:r>
              <a:rPr lang="en-US" altLang="zh-CN"/>
              <a:t>level</a:t>
            </a:r>
            <a:r>
              <a:rPr lang="zh-CN" altLang="en-US"/>
              <a:t> </a:t>
            </a:r>
            <a:r>
              <a:rPr lang="en-US" altLang="zh-CN"/>
              <a:t>framerwork</a:t>
            </a:r>
            <a:r>
              <a:rPr lang="zh-CN" altLang="en-US"/>
              <a:t>：</a:t>
            </a:r>
            <a:r>
              <a:rPr lang="en-US" altLang="zh-CN"/>
              <a:t>pyTorch</a:t>
            </a:r>
            <a:r>
              <a:rPr lang="zh-CN" altLang="en-US"/>
              <a:t>，</a:t>
            </a:r>
            <a:r>
              <a:rPr lang="en-US" altLang="zh-CN"/>
              <a:t>TensorFlow</a:t>
            </a:r>
            <a:r>
              <a:rPr lang="zh-CN" altLang="en-US"/>
              <a:t>，</a:t>
            </a:r>
            <a:r>
              <a:rPr lang="en-US" altLang="zh-CN"/>
              <a:t>...</a:t>
            </a:r>
            <a:endParaRPr lang="en-US" altLang="zh-CN"/>
          </a:p>
          <a:p>
            <a:pPr lvl="1"/>
            <a:r>
              <a:rPr lang="en-US" altLang="zh-CN"/>
              <a:t>High</a:t>
            </a:r>
            <a:r>
              <a:rPr lang="zh-CN" altLang="en-US"/>
              <a:t>-</a:t>
            </a:r>
            <a:r>
              <a:rPr lang="en-US" altLang="zh-CN"/>
              <a:t>level</a:t>
            </a:r>
            <a:r>
              <a:rPr lang="zh-CN" altLang="en-US"/>
              <a:t> </a:t>
            </a:r>
            <a:r>
              <a:rPr lang="en-US" altLang="zh-CN"/>
              <a:t>DSL</a:t>
            </a:r>
            <a:r>
              <a:rPr lang="zh-CN" altLang="en-US"/>
              <a:t>：</a:t>
            </a:r>
            <a:r>
              <a:rPr lang="en-US" altLang="zh-CN"/>
              <a:t>Triton</a:t>
            </a:r>
            <a:r>
              <a:rPr lang="zh-CN" altLang="en-US"/>
              <a:t>，</a:t>
            </a:r>
            <a:r>
              <a:rPr lang="en-US" altLang="zh-CN"/>
              <a:t>Tilelang</a:t>
            </a:r>
            <a:r>
              <a:rPr lang="zh-CN" altLang="en-US"/>
              <a:t>，</a:t>
            </a:r>
            <a:r>
              <a:rPr lang="en-US" altLang="zh-CN"/>
              <a:t>...</a:t>
            </a:r>
            <a:endParaRPr lang="en-US" altLang="zh-CN"/>
          </a:p>
          <a:p>
            <a:pPr lvl="1"/>
            <a:r>
              <a:rPr lang="en-US" altLang="zh-CN"/>
              <a:t>Low</a:t>
            </a:r>
            <a:r>
              <a:rPr lang="zh-CN" altLang="en-US"/>
              <a:t>-</a:t>
            </a:r>
            <a:r>
              <a:rPr lang="en-US" altLang="zh-CN"/>
              <a:t>level</a:t>
            </a:r>
            <a:r>
              <a:rPr lang="zh-CN" altLang="en-US"/>
              <a:t> </a:t>
            </a:r>
            <a:r>
              <a:rPr lang="en-US" altLang="zh-CN"/>
              <a:t>DSL</a:t>
            </a:r>
            <a:r>
              <a:rPr lang="zh-CN" altLang="en-US"/>
              <a:t>：</a:t>
            </a:r>
            <a:r>
              <a:rPr lang="en-US" altLang="zh-CN"/>
              <a:t>CUDA</a:t>
            </a:r>
            <a:r>
              <a:rPr lang="zh-CN" altLang="en-US"/>
              <a:t>，</a:t>
            </a:r>
            <a:r>
              <a:rPr lang="en-US" altLang="zh-CN"/>
              <a:t>Ascend C</a:t>
            </a:r>
            <a:r>
              <a:rPr lang="zh-CN" altLang="en-US"/>
              <a:t>，</a:t>
            </a:r>
            <a:r>
              <a:rPr lang="en-US" altLang="zh-CN"/>
              <a:t>...</a:t>
            </a:r>
            <a:endParaRPr lang="en-US" altLang="zh-CN"/>
          </a:p>
          <a:p>
            <a:pPr lvl="1"/>
            <a:r>
              <a:rPr lang="en-US" altLang="zh-CN"/>
              <a:t>Intermediate</a:t>
            </a:r>
            <a:r>
              <a:rPr lang="zh-CN" altLang="en-US"/>
              <a:t> </a:t>
            </a:r>
            <a:r>
              <a:rPr lang="en-US" altLang="zh-CN"/>
              <a:t>Representations</a:t>
            </a:r>
            <a:r>
              <a:rPr lang="zh-CN" altLang="en-US"/>
              <a:t>：</a:t>
            </a:r>
            <a:r>
              <a:rPr lang="en-US" altLang="zh-CN"/>
              <a:t>MLIR</a:t>
            </a:r>
            <a:r>
              <a:rPr lang="zh-CN" altLang="en-US"/>
              <a:t>（</a:t>
            </a:r>
            <a:r>
              <a:rPr lang="en-US" altLang="zh-CN"/>
              <a:t>TIR</a:t>
            </a:r>
            <a:r>
              <a:rPr lang="zh-CN" altLang="en-US"/>
              <a:t>，</a:t>
            </a:r>
            <a:r>
              <a:rPr lang="en-US" altLang="zh-CN"/>
              <a:t>TGIR</a:t>
            </a:r>
            <a:r>
              <a:rPr lang="zh-CN" altLang="en-US"/>
              <a:t>），</a:t>
            </a:r>
            <a:r>
              <a:rPr lang="en-US" altLang="zh-CN"/>
              <a:t>LLVM</a:t>
            </a:r>
            <a:r>
              <a:rPr lang="zh-CN" altLang="en-US"/>
              <a:t>，</a:t>
            </a:r>
            <a:r>
              <a:rPr lang="en-US" altLang="zh-CN"/>
              <a:t>...</a:t>
            </a:r>
            <a:endParaRPr lang="zh-CN" altLang="en-US"/>
          </a:p>
          <a:p>
            <a:pPr lvl="1"/>
            <a:r>
              <a:rPr lang="en-US" altLang="zh-CN"/>
              <a:t>Hardware</a:t>
            </a:r>
            <a:r>
              <a:rPr lang="zh-CN" altLang="en-US"/>
              <a:t> </a:t>
            </a:r>
            <a:r>
              <a:rPr lang="en-US" altLang="zh-CN"/>
              <a:t>Code</a:t>
            </a:r>
            <a:r>
              <a:rPr lang="zh-CN" altLang="en-US"/>
              <a:t>：</a:t>
            </a:r>
            <a:r>
              <a:rPr lang="en-US" altLang="zh-CN"/>
              <a:t>PTX</a:t>
            </a:r>
            <a:r>
              <a:rPr lang="zh-CN" altLang="en-US"/>
              <a:t>，</a:t>
            </a:r>
            <a:r>
              <a:rPr lang="en-US" altLang="zh-CN"/>
              <a:t>CPU ISA</a:t>
            </a:r>
            <a:r>
              <a:rPr lang="zh-CN" altLang="en-US"/>
              <a:t>，</a:t>
            </a:r>
            <a:r>
              <a:rPr lang="en-US" altLang="zh-CN"/>
              <a:t>NPU ISA</a:t>
            </a:r>
            <a:r>
              <a:rPr lang="zh-CN" altLang="en-US"/>
              <a:t>，</a:t>
            </a:r>
            <a:r>
              <a:rPr lang="en-US" altLang="zh-CN"/>
              <a:t>...</a:t>
            </a:r>
            <a:endParaRPr lang="en-US" altLang="zh-CN"/>
          </a:p>
          <a:p>
            <a:pPr lvl="0"/>
            <a:r>
              <a:rPr lang="en-US" altLang="zh-CN"/>
              <a:t>Introduce hardware information gradually and optimize automatically</a:t>
            </a:r>
            <a:endParaRPr lang="zh-CN" altLang="en-US"/>
          </a:p>
          <a:p>
            <a:pPr lvl="1"/>
            <a:r>
              <a:rPr lang="en-US" altLang="zh-CN"/>
              <a:t>Computation graph optimziation, parameter sweeping, register assignment, ...</a:t>
            </a:r>
            <a:endParaRPr lang="en-US" altLang="zh-CN"/>
          </a:p>
          <a:p>
            <a:pPr lvl="0"/>
            <a:r>
              <a:rPr lang="en-US" altLang="zh-CN"/>
              <a:t>IR/DSL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 to meet the needs of </a:t>
            </a:r>
            <a:r>
              <a:rPr lang="en-US" altLang="zh-CN"/>
              <a:t>AI comutation</a:t>
            </a:r>
            <a:endParaRPr lang="zh-CN" altLang="en-US"/>
          </a:p>
          <a:p>
            <a:pPr lvl="1"/>
            <a:r>
              <a:rPr lang="en-US" altLang="zh-CN"/>
              <a:t>TVM: tensor operation</a:t>
            </a:r>
            <a:endParaRPr lang="zh-CN" altLang="en-US"/>
          </a:p>
          <a:p>
            <a:pPr lvl="1"/>
            <a:r>
              <a:rPr lang="en-US" altLang="zh-CN"/>
              <a:t>Tilelang: tile</a:t>
            </a:r>
            <a:r>
              <a:rPr lang="zh-CN" altLang="en-US"/>
              <a:t>-</a:t>
            </a:r>
            <a:r>
              <a:rPr lang="en-US" altLang="zh-CN"/>
              <a:t>level abstract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General Flow: Computation Graph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254635" y="1323975"/>
            <a:ext cx="11765915" cy="4853305"/>
          </a:xfrm>
        </p:spPr>
        <p:txBody>
          <a:bodyPr>
            <a:normAutofit lnSpcReduction="10000"/>
          </a:bodyPr>
          <a:p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Computation graph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：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Design the dependency among opertors in AI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-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computing tasks</a:t>
            </a:r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</a:endParaRPr>
          </a:p>
          <a:p>
            <a:pPr lvl="1"/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Static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 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graph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（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Tensorflow1.x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）</a:t>
            </a:r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</a:endParaRPr>
          </a:p>
          <a:p>
            <a:pPr lvl="2"/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Specify at compilation, easy to optimize</a:t>
            </a:r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</a:endParaRPr>
          </a:p>
          <a:p>
            <a:pPr lvl="1"/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Dynamic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 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graph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（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PyTorch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）</a:t>
            </a:r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</a:endParaRPr>
          </a:p>
          <a:p>
            <a:pPr lvl="2"/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Specify at runtime, fit for modern LLM</a:t>
            </a:r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</a:endParaRPr>
          </a:p>
          <a:p>
            <a:pPr lvl="0"/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Why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 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computation graph</a:t>
            </a:r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</a:endParaRPr>
          </a:p>
          <a:p>
            <a:pPr lvl="1"/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Represent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 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forward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 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and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 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backward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 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relationship</a:t>
            </a:r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</a:endParaRPr>
          </a:p>
          <a:p>
            <a:pPr lvl="1"/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Fit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 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for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 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multi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-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level AI operator representation</a:t>
            </a:r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</a:endParaRPr>
          </a:p>
          <a:p>
            <a:pPr lvl="0"/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Components</a:t>
            </a:r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</a:endParaRPr>
          </a:p>
          <a:p>
            <a:pPr lvl="1"/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Nodes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：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Tensor/Data or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 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operation</a:t>
            </a:r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</a:endParaRPr>
          </a:p>
          <a:p>
            <a:pPr lvl="1"/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Edges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：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Opertaion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 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or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 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Tensor/Data</a:t>
            </a:r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altLang="zh-CN" dirty="0"/>
              <a:t>Image Source: https://blog.rijuyuezhu.top/posts/54261af8/</a:t>
            </a:r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6" name="Picture 5" descr="post_object_image_168771149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4228" y="1888393"/>
            <a:ext cx="6207812" cy="4188404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General Flow: Computation Graph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p>
            <a:r>
              <a:rPr lang="en-US" altLang="zh-CN">
                <a:ea typeface="微软雅黑" charset="0"/>
              </a:rPr>
              <a:t>Computation graph construction</a:t>
            </a:r>
            <a:endParaRPr lang="zh-CN" altLang="en-US">
              <a:ea typeface="微软雅黑" charset="0"/>
            </a:endParaRPr>
          </a:p>
          <a:p>
            <a:pPr lvl="1"/>
            <a:r>
              <a:rPr lang="en-US" altLang="zh-CN">
                <a:ea typeface="微软雅黑" charset="0"/>
              </a:rPr>
              <a:t>Static</a:t>
            </a:r>
            <a:r>
              <a:rPr lang="zh-CN" altLang="en-US">
                <a:ea typeface="微软雅黑" charset="0"/>
              </a:rPr>
              <a:t>：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D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efine variable and operation before compilation</a:t>
            </a:r>
            <a:r>
              <a:rPr lang="zh-CN" altLang="en-US">
                <a:ea typeface="微软雅黑" charset="0"/>
              </a:rPr>
              <a:t>-</a:t>
            </a:r>
            <a:r>
              <a:rPr lang="en-US" altLang="zh-CN">
                <a:ea typeface="微软雅黑" charset="0"/>
              </a:rPr>
              <a:t>&gt;Obtain computation graph</a:t>
            </a:r>
            <a:endParaRPr lang="en-US" altLang="zh-CN">
              <a:ea typeface="微软雅黑" charset="0"/>
            </a:endParaRPr>
          </a:p>
          <a:p>
            <a:pPr lvl="1"/>
            <a:r>
              <a:rPr lang="en-US" altLang="zh-CN">
                <a:ea typeface="微软雅黑" charset="0"/>
              </a:rPr>
              <a:t>Dynamic</a:t>
            </a:r>
            <a:endParaRPr lang="zh-CN" altLang="en-US">
              <a:ea typeface="微软雅黑" charset="0"/>
            </a:endParaRPr>
          </a:p>
          <a:p>
            <a:pPr lvl="2"/>
            <a:r>
              <a:rPr lang="en-US" altLang="zh-CN" sz="2000">
                <a:ea typeface="微软雅黑" charset="0"/>
              </a:rPr>
              <a:t>Define variables</a:t>
            </a:r>
            <a:endParaRPr lang="zh-CN" altLang="en-US" sz="2000">
              <a:ea typeface="微软雅黑" charset="0"/>
            </a:endParaRPr>
          </a:p>
          <a:p>
            <a:pPr lvl="2"/>
            <a:r>
              <a:rPr lang="en-US" altLang="zh-CN" sz="2000">
                <a:ea typeface="微软雅黑" charset="0"/>
              </a:rPr>
              <a:t>Forward</a:t>
            </a:r>
            <a:r>
              <a:rPr lang="zh-CN" altLang="en-US" sz="2000">
                <a:ea typeface="微软雅黑" charset="0"/>
              </a:rPr>
              <a:t> </a:t>
            </a:r>
            <a:r>
              <a:rPr lang="en-US" altLang="zh-CN" sz="2000">
                <a:ea typeface="微软雅黑" charset="0"/>
              </a:rPr>
              <a:t>pass</a:t>
            </a:r>
            <a:endParaRPr lang="zh-CN" altLang="en-US" sz="2000">
              <a:ea typeface="微软雅黑" charset="0"/>
            </a:endParaRPr>
          </a:p>
          <a:p>
            <a:pPr lvl="2"/>
            <a:r>
              <a:rPr lang="en-US" altLang="zh-CN" sz="2000">
                <a:ea typeface="微软雅黑" charset="0"/>
              </a:rPr>
              <a:t>Construct</a:t>
            </a:r>
            <a:r>
              <a:rPr lang="zh-CN" altLang="en-US" sz="2000">
                <a:ea typeface="微软雅黑" charset="0"/>
              </a:rPr>
              <a:t> </a:t>
            </a:r>
            <a:r>
              <a:rPr lang="en-US" altLang="zh-CN" sz="2000">
                <a:ea typeface="微软雅黑" charset="0"/>
              </a:rPr>
              <a:t>on</a:t>
            </a:r>
            <a:r>
              <a:rPr lang="zh-CN" altLang="en-US" sz="2000">
                <a:ea typeface="微软雅黑" charset="0"/>
              </a:rPr>
              <a:t> </a:t>
            </a:r>
            <a:r>
              <a:rPr lang="en-US" altLang="zh-CN" sz="2000">
                <a:ea typeface="微软雅黑" charset="0"/>
              </a:rPr>
              <a:t>the</a:t>
            </a:r>
            <a:r>
              <a:rPr lang="zh-CN" altLang="en-US" sz="2000">
                <a:ea typeface="微软雅黑" charset="0"/>
              </a:rPr>
              <a:t> </a:t>
            </a:r>
            <a:r>
              <a:rPr lang="en-US" altLang="zh-CN" sz="2000">
                <a:ea typeface="微软雅黑" charset="0"/>
              </a:rPr>
              <a:t>fly</a:t>
            </a:r>
            <a:endParaRPr lang="en-US" altLang="zh-CN" sz="2000">
              <a:ea typeface="微软雅黑" charset="0"/>
            </a:endParaRPr>
          </a:p>
          <a:p>
            <a:pPr lvl="2"/>
            <a:r>
              <a:rPr lang="en-US" altLang="zh-CN" sz="2000">
                <a:ea typeface="微软雅黑" charset="0"/>
              </a:rPr>
              <a:t>Backward pass</a:t>
            </a:r>
            <a:endParaRPr lang="zh-CN" altLang="en-US" sz="2000">
              <a:ea typeface="微软雅黑" charset="0"/>
            </a:endParaRPr>
          </a:p>
          <a:p>
            <a:pPr lvl="0"/>
            <a:r>
              <a:rPr lang="en-US" altLang="zh-CN" sz="2000">
                <a:ea typeface="微软雅黑" charset="0"/>
              </a:rPr>
              <a:t>Optimization time</a:t>
            </a:r>
            <a:endParaRPr lang="zh-CN" altLang="en-US" sz="2000">
              <a:ea typeface="微软雅黑" charset="0"/>
            </a:endParaRPr>
          </a:p>
          <a:p>
            <a:pPr lvl="1"/>
            <a:r>
              <a:rPr lang="en-US" altLang="zh-CN">
                <a:ea typeface="微软雅黑" charset="0"/>
              </a:rPr>
              <a:t>Static</a:t>
            </a:r>
            <a:r>
              <a:rPr lang="zh-CN" altLang="en-US">
                <a:ea typeface="微软雅黑" charset="0"/>
              </a:rPr>
              <a:t>：</a:t>
            </a:r>
            <a:r>
              <a:rPr lang="en-US" altLang="zh-CN">
                <a:ea typeface="微软雅黑" charset="0"/>
              </a:rPr>
              <a:t>compilation</a:t>
            </a:r>
            <a:endParaRPr lang="zh-CN" altLang="en-US">
              <a:ea typeface="微软雅黑" charset="0"/>
            </a:endParaRPr>
          </a:p>
          <a:p>
            <a:pPr lvl="1"/>
            <a:r>
              <a:rPr lang="en-US" altLang="zh-CN">
                <a:ea typeface="微软雅黑" charset="0"/>
              </a:rPr>
              <a:t>Dynamic</a:t>
            </a:r>
            <a:r>
              <a:rPr lang="zh-CN" altLang="en-US">
                <a:ea typeface="微软雅黑" charset="0"/>
              </a:rPr>
              <a:t>：</a:t>
            </a:r>
            <a:r>
              <a:rPr lang="en-US" altLang="zh-CN">
                <a:ea typeface="微软雅黑" charset="0"/>
              </a:rPr>
              <a:t>runtime</a:t>
            </a:r>
            <a:endParaRPr lang="zh-CN" altLang="en-US" sz="2500">
              <a:ea typeface="微软雅黑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altLang="zh-CN" dirty="0"/>
              <a:t>Example Source: https://www.geeksforgeeks.org/deep-learning/dynamic-vs-static-computational-graphs-pytorch-and-tensorflow/</a:t>
            </a:r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Picture 6" descr="post_object_image_29476358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2019" y="2188006"/>
            <a:ext cx="3957104" cy="3762981"/>
          </a:xfrm>
          <a:prstGeom prst="rect">
            <a:avLst/>
          </a:prstGeom>
        </p:spPr>
      </p:pic>
      <p:pic>
        <p:nvPicPr>
          <p:cNvPr id="8" name="Picture 7" descr="post_object_image_372314740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3714" y="3010676"/>
            <a:ext cx="3844611" cy="2940340"/>
          </a:xfrm>
          <a:prstGeom prst="rect">
            <a:avLst/>
          </a:prstGeom>
        </p:spPr>
      </p:pic>
      <p:sp>
        <p:nvSpPr>
          <p:cNvPr id="9" name="Text Box 8"/>
          <p:cNvSpPr txBox="1"/>
          <p:nvPr userDrawn="1"/>
        </p:nvSpPr>
        <p:spPr>
          <a:xfrm>
            <a:off x="8835794" y="5986782"/>
            <a:ext cx="26085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en-US" altLang="zh-CN"/>
              <a:t>Tensorflow Static Graph</a:t>
            </a:r>
            <a:endParaRPr lang="zh-CN" altLang="en-US"/>
          </a:p>
        </p:txBody>
      </p:sp>
      <p:sp>
        <p:nvSpPr>
          <p:cNvPr id="10" name="Text Box 9"/>
          <p:cNvSpPr txBox="1"/>
          <p:nvPr userDrawn="1"/>
        </p:nvSpPr>
        <p:spPr>
          <a:xfrm>
            <a:off x="4766330" y="5951016"/>
            <a:ext cx="26593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zh-CN" altLang="en-US">
                <a:solidFill>
                  <a:schemeClr val="tx1"/>
                </a:solidFill>
              </a:rPr>
              <a:t>PyTorch </a:t>
            </a:r>
            <a:r>
              <a:rPr lang="en-US" altLang="zh-CN">
                <a:solidFill>
                  <a:schemeClr val="tx1"/>
                </a:solidFill>
              </a:rPr>
              <a:t>Dynamic Graph</a:t>
            </a:r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ea typeface="微软雅黑" charset="0"/>
              </a:rPr>
              <a:t>G</a:t>
            </a:r>
            <a:r>
              <a:rPr lang="en-US" altLang="zh-CN">
                <a:solidFill>
                  <a:schemeClr val="tx1">
                    <a:lumMod val="85000"/>
                    <a:lumOff val="15000"/>
                  </a:schemeClr>
                </a:solidFill>
                <a:ea typeface="微软雅黑" charset="0"/>
              </a:rPr>
              <a:t>eneral Flow: Graph Optimization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419100" y="1323975"/>
            <a:ext cx="11382375" cy="4853305"/>
          </a:xfrm>
        </p:spPr>
        <p:txBody>
          <a:bodyPr/>
          <a:p>
            <a:r>
              <a:rPr lang="en-US" altLang="zh-CN">
                <a:cs typeface="Arial" panose="02080604020202020204" pitchFamily="34" charset="0"/>
              </a:rPr>
              <a:t>Operation</a:t>
            </a:r>
            <a:r>
              <a:rPr lang="zh-CN" altLang="en-US">
                <a:cs typeface="Arial" panose="02080604020202020204" pitchFamily="34" charset="0"/>
              </a:rPr>
              <a:t> </a:t>
            </a:r>
            <a:r>
              <a:rPr lang="en-US" altLang="zh-CN">
                <a:cs typeface="Arial" panose="02080604020202020204" pitchFamily="34" charset="0"/>
              </a:rPr>
              <a:t>fusion</a:t>
            </a:r>
            <a:endParaRPr lang="zh-CN" altLang="en-US">
              <a:cs typeface="Arial" panose="02080604020202020204" pitchFamily="34" charset="0"/>
            </a:endParaRPr>
          </a:p>
          <a:p>
            <a:pPr lvl="1"/>
            <a:r>
              <a:rPr lang="en-US" altLang="zh-CN">
                <a:cs typeface="Arial" panose="02080604020202020204" pitchFamily="34" charset="0"/>
              </a:rPr>
              <a:t>Reduce</a:t>
            </a:r>
            <a:r>
              <a:rPr lang="zh-CN" altLang="en-US">
                <a:cs typeface="Arial" panose="02080604020202020204" pitchFamily="34" charset="0"/>
              </a:rPr>
              <a:t> </a:t>
            </a:r>
            <a:r>
              <a:rPr lang="en-US" altLang="zh-CN">
                <a:cs typeface="Arial" panose="02080604020202020204" pitchFamily="34" charset="0"/>
              </a:rPr>
              <a:t>data</a:t>
            </a:r>
            <a:r>
              <a:rPr lang="zh-CN" altLang="en-US">
                <a:cs typeface="Arial" panose="02080604020202020204" pitchFamily="34" charset="0"/>
              </a:rPr>
              <a:t> </a:t>
            </a:r>
            <a:r>
              <a:rPr lang="en-US" altLang="zh-CN">
                <a:cs typeface="Arial" panose="02080604020202020204" pitchFamily="34" charset="0"/>
              </a:rPr>
              <a:t>transimission</a:t>
            </a:r>
            <a:endParaRPr lang="zh-CN" altLang="en-US">
              <a:cs typeface="Arial" panose="02080604020202020204" pitchFamily="34" charset="0"/>
            </a:endParaRPr>
          </a:p>
          <a:p>
            <a:pPr lvl="1"/>
            <a:r>
              <a:rPr lang="en-US" altLang="zh-CN">
                <a:cs typeface="Arial" panose="02080604020202020204" pitchFamily="34" charset="0"/>
              </a:rPr>
              <a:t>Reduce launch</a:t>
            </a:r>
            <a:r>
              <a:rPr lang="zh-CN" altLang="en-US">
                <a:cs typeface="Arial" panose="02080604020202020204" pitchFamily="34" charset="0"/>
              </a:rPr>
              <a:t> </a:t>
            </a:r>
            <a:r>
              <a:rPr lang="en-US" altLang="zh-CN">
                <a:cs typeface="Arial" panose="02080604020202020204" pitchFamily="34" charset="0"/>
              </a:rPr>
              <a:t>overhead</a:t>
            </a:r>
            <a:endParaRPr lang="zh-CN" altLang="en-US">
              <a:cs typeface="Arial" panose="02080604020202020204" pitchFamily="34" charset="0"/>
            </a:endParaRPr>
          </a:p>
          <a:p>
            <a:pPr lvl="1"/>
            <a:r>
              <a:rPr lang="zh-CN" altLang="en-US" sz="1665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  <a:cs typeface="Arial" panose="02080604020202020204" pitchFamily="34" charset="0"/>
              </a:rPr>
              <a:t>S</a:t>
            </a:r>
            <a:r>
              <a:rPr lang="en-US" altLang="zh-CN" sz="1665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  <a:cs typeface="Arial" panose="02080604020202020204" pitchFamily="34" charset="0"/>
              </a:rPr>
              <a:t>implify graph pattern</a:t>
            </a:r>
            <a:endParaRPr lang="en-US" altLang="zh-CN" sz="1665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  <a:cs typeface="Arial" panose="02080604020202020204" pitchFamily="34" charset="0"/>
            </a:endParaRPr>
          </a:p>
          <a:p>
            <a:pPr lvl="0"/>
            <a:r>
              <a:rPr lang="en-US" altLang="zh-CN">
                <a:cs typeface="Arial" panose="02080604020202020204" pitchFamily="34" charset="0"/>
              </a:rPr>
              <a:t>Redundant</a:t>
            </a:r>
            <a:r>
              <a:rPr lang="zh-CN" altLang="en-US">
                <a:cs typeface="Arial" panose="02080604020202020204" pitchFamily="34" charset="0"/>
              </a:rPr>
              <a:t> </a:t>
            </a:r>
            <a:r>
              <a:rPr lang="en-US" altLang="zh-CN">
                <a:cs typeface="Arial" panose="02080604020202020204" pitchFamily="34" charset="0"/>
              </a:rPr>
              <a:t>node</a:t>
            </a:r>
            <a:r>
              <a:rPr lang="zh-CN" altLang="en-US">
                <a:cs typeface="Arial" panose="02080604020202020204" pitchFamily="34" charset="0"/>
              </a:rPr>
              <a:t> </a:t>
            </a:r>
            <a:r>
              <a:rPr lang="en-US" altLang="zh-CN">
                <a:cs typeface="Arial" panose="02080604020202020204" pitchFamily="34" charset="0"/>
              </a:rPr>
              <a:t>elimination</a:t>
            </a:r>
            <a:endParaRPr lang="zh-CN" altLang="en-US">
              <a:cs typeface="Arial" panose="02080604020202020204" pitchFamily="34" charset="0"/>
            </a:endParaRPr>
          </a:p>
          <a:p>
            <a:pPr lvl="1"/>
            <a:r>
              <a:rPr lang="en-US" altLang="zh-CN">
                <a:cs typeface="Arial" panose="02080604020202020204" pitchFamily="34" charset="0"/>
              </a:rPr>
              <a:t>Certain</a:t>
            </a:r>
            <a:r>
              <a:rPr lang="zh-CN" altLang="en-US">
                <a:cs typeface="Arial" panose="02080604020202020204" pitchFamily="34" charset="0"/>
              </a:rPr>
              <a:t> </a:t>
            </a:r>
            <a:r>
              <a:rPr lang="en-US" altLang="zh-CN">
                <a:cs typeface="Arial" panose="02080604020202020204" pitchFamily="34" charset="0"/>
              </a:rPr>
              <a:t>operations are inactive</a:t>
            </a:r>
            <a:endParaRPr lang="zh-CN" altLang="en-US">
              <a:cs typeface="Arial" panose="02080604020202020204" pitchFamily="34" charset="0"/>
            </a:endParaRPr>
          </a:p>
          <a:p>
            <a:pPr lvl="2"/>
            <a:r>
              <a:rPr lang="en-US" altLang="zh-CN"/>
              <a:t>cast between same data types</a:t>
            </a:r>
            <a:endParaRPr lang="en-US" altLang="zh-CN"/>
          </a:p>
          <a:p>
            <a:pPr lvl="0"/>
            <a:r>
              <a:rPr lang="en-US" altLang="zh-CN"/>
              <a:t>Constant</a:t>
            </a:r>
            <a:r>
              <a:rPr lang="zh-CN" altLang="en-US"/>
              <a:t> </a:t>
            </a:r>
            <a:r>
              <a:rPr lang="en-US" altLang="zh-CN"/>
              <a:t>folding</a:t>
            </a:r>
            <a:endParaRPr lang="zh-CN" altLang="en-US"/>
          </a:p>
          <a:p>
            <a:pPr lvl="1"/>
            <a:r>
              <a:rPr lang="en-US" altLang="zh-CN"/>
              <a:t>Calculate</a:t>
            </a:r>
            <a:r>
              <a:rPr lang="zh-CN" altLang="en-US"/>
              <a:t> </a:t>
            </a:r>
            <a:r>
              <a:rPr lang="en-US" altLang="zh-CN"/>
              <a:t>in</a:t>
            </a:r>
            <a:r>
              <a:rPr lang="zh-CN" altLang="en-US"/>
              <a:t> </a:t>
            </a:r>
            <a:r>
              <a:rPr lang="en-US" altLang="zh-CN"/>
              <a:t>advance</a:t>
            </a:r>
            <a:r>
              <a:rPr lang="zh-CN" altLang="en-US"/>
              <a:t> </a:t>
            </a:r>
            <a:r>
              <a:rPr lang="en-US" altLang="zh-CN"/>
              <a:t>for constants</a:t>
            </a:r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altLang="zh-CN" dirty="0"/>
              <a:t>Image Source: </a:t>
            </a:r>
            <a:r>
              <a:rPr lang="en-US" altLang="zh-CN" dirty="0">
                <a:hlinkClick r:id="rId1"/>
              </a:rPr>
              <a:t>https://zhuanlan.zhihu.com/p/7795643474</a:t>
            </a:r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6" name="Picture 5" descr="post_object_image_3631355026"/>
          <p:cNvPicPr>
            <a:picLocks noChangeAspect="1"/>
          </p:cNvPicPr>
          <p:nvPr/>
        </p:nvPicPr>
        <p:blipFill>
          <a:blip r:embed="rId2"/>
          <a:srcRect r="32679"/>
          <a:stretch>
            <a:fillRect/>
          </a:stretch>
        </p:blipFill>
        <p:spPr>
          <a:xfrm>
            <a:off x="4912301" y="1427188"/>
            <a:ext cx="4115332" cy="2756289"/>
          </a:xfrm>
          <a:prstGeom prst="rect">
            <a:avLst/>
          </a:prstGeom>
        </p:spPr>
      </p:pic>
      <p:pic>
        <p:nvPicPr>
          <p:cNvPr id="7" name="Picture 6" descr="post_object_image_3164651710"/>
          <p:cNvPicPr>
            <a:picLocks noChangeAspect="1"/>
          </p:cNvPicPr>
          <p:nvPr/>
        </p:nvPicPr>
        <p:blipFill>
          <a:blip r:embed="rId3"/>
          <a:srcRect r="36240" b="51"/>
          <a:stretch>
            <a:fillRect/>
          </a:stretch>
        </p:blipFill>
        <p:spPr>
          <a:xfrm>
            <a:off x="9176496" y="1427212"/>
            <a:ext cx="2857873" cy="303886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2340" y="4466041"/>
            <a:ext cx="4032011" cy="178650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General Flow: Graph Optimization</a:t>
            </a:r>
            <a:endParaRPr lang="en-US" altLang="zh-CN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523874" y="1323975"/>
            <a:ext cx="11277601" cy="5111037"/>
          </a:xfrm>
        </p:spPr>
        <p:txBody>
          <a:bodyPr>
            <a:normAutofit lnSpcReduction="10000"/>
          </a:bodyPr>
          <a:p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Common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 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subgraph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 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optimization</a:t>
            </a:r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</a:endParaRPr>
          </a:p>
          <a:p>
            <a:pPr lvl="1"/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Common subgraph: same structure, parameter and input</a:t>
            </a:r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</a:endParaRPr>
          </a:p>
          <a:p>
            <a:pPr lvl="1"/>
            <a:r>
              <a: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R</a:t>
            </a:r>
            <a:r>
              <a:rPr lang="en-US" altLang="zh-CN" sz="2000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euse subgraph</a:t>
            </a:r>
            <a:endParaRPr lang="zh-CN" altLang="en-US" sz="2000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</a:endParaRPr>
          </a:p>
          <a:p>
            <a:pPr lvl="0"/>
            <a:endParaRPr lang="zh-CN" altLang="en-US" sz="2000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</a:endParaRPr>
          </a:p>
          <a:p>
            <a:pPr lvl="0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</a:endParaRPr>
          </a:p>
          <a:p>
            <a:pPr lvl="0"/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</a:endParaRPr>
          </a:p>
          <a:p>
            <a:pPr lvl="0"/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</a:endParaRPr>
          </a:p>
          <a:p>
            <a:pPr lvl="0"/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Operator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 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substitute</a:t>
            </a:r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</a:endParaRPr>
          </a:p>
          <a:p>
            <a:pPr lvl="1"/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Equivalent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 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operator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 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subsitution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 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for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 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certain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 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hardware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 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feature</a:t>
            </a:r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</a:endParaRPr>
          </a:p>
          <a:p>
            <a:pPr lvl="2"/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Conv can be calculated by TensorCore by adding some additional calculation</a:t>
            </a:r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</a:endParaRPr>
          </a:p>
          <a:p>
            <a:pPr lvl="2"/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Two consecutive conv can be subtitute by an equivalent conv</a:t>
            </a:r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altLang="zh-CN" dirty="0"/>
              <a:t>Image Source: </a:t>
            </a:r>
            <a:r>
              <a:rPr lang="en-US" altLang="zh-CN" dirty="0">
                <a:hlinkClick r:id="rId1"/>
              </a:rPr>
              <a:t>https://zhuanlan.zhihu.com/p/7795643474</a:t>
            </a:r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308" y="2529363"/>
            <a:ext cx="4703359" cy="180050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General Flow: Graph Optimization</a:t>
            </a:r>
            <a:endParaRPr lang="en-US" altLang="zh-CN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523874" y="1323975"/>
            <a:ext cx="11277601" cy="5111037"/>
          </a:xfrm>
        </p:spPr>
        <p:txBody>
          <a:bodyPr/>
          <a:p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  <a:cs typeface="Arial" panose="02080604020202020204" pitchFamily="34" charset="0"/>
              </a:rPr>
              <a:t>Operation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  <a:cs typeface="Arial" panose="02080604020202020204" pitchFamily="34" charset="0"/>
              </a:rPr>
              <a:t> 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  <a:cs typeface="Arial" panose="02080604020202020204" pitchFamily="34" charset="0"/>
              </a:rPr>
              <a:t>scheduling</a:t>
            </a:r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  <a:cs typeface="Arial" panose="02080604020202020204" pitchFamily="34" charset="0"/>
            </a:endParaRPr>
          </a:p>
          <a:p>
            <a:pPr lvl="1"/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  <a:cs typeface="Arial" panose="02080604020202020204" pitchFamily="34" charset="0"/>
              </a:rPr>
              <a:t>C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  <a:cs typeface="Arial" panose="02080604020202020204" pitchFamily="34" charset="0"/>
              </a:rPr>
              <a:t>aluculate some operation in advance to reduce duplicate computation</a:t>
            </a:r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  <a:cs typeface="Arial" panose="02080604020202020204" pitchFamily="34" charset="0"/>
            </a:endParaRPr>
          </a:p>
          <a:p>
            <a:pPr lvl="2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  <a:cs typeface="Arial" panose="02080604020202020204" pitchFamily="34" charset="0"/>
            </a:endParaRPr>
          </a:p>
          <a:p>
            <a:pPr lvl="2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  <a:cs typeface="Arial" panose="02080604020202020204" pitchFamily="34" charset="0"/>
            </a:endParaRPr>
          </a:p>
          <a:p>
            <a:pPr lvl="2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  <a:cs typeface="Arial" panose="02080604020202020204" pitchFamily="34" charset="0"/>
            </a:endParaRPr>
          </a:p>
          <a:p>
            <a:pPr lvl="2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  <a:cs typeface="Arial" panose="02080604020202020204" pitchFamily="34" charset="0"/>
            </a:endParaRPr>
          </a:p>
          <a:p>
            <a:pPr lvl="2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  <a:cs typeface="Arial" panose="02080604020202020204" pitchFamily="34" charset="0"/>
            </a:endParaRPr>
          </a:p>
          <a:p>
            <a:pPr lvl="1"/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  <a:cs typeface="Arial" panose="02080604020202020204" pitchFamily="34" charset="0"/>
              </a:rPr>
              <a:t>Reduce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  <a:cs typeface="Arial" panose="02080604020202020204" pitchFamily="34" charset="0"/>
              </a:rPr>
              <a:t> 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  <a:cs typeface="Arial" panose="02080604020202020204" pitchFamily="34" charset="0"/>
              </a:rPr>
              <a:t>data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  <a:cs typeface="Arial" panose="02080604020202020204" pitchFamily="34" charset="0"/>
              </a:rPr>
              <a:t> 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  <a:cs typeface="Arial" panose="02080604020202020204" pitchFamily="34" charset="0"/>
              </a:rPr>
              <a:t>transfer cost</a:t>
            </a:r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  <a:cs typeface="Arial" panose="0208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altLang="zh-CN" dirty="0"/>
              <a:t>Image Source: </a:t>
            </a:r>
            <a:r>
              <a:rPr lang="en-US" altLang="zh-CN" dirty="0">
                <a:hlinkClick r:id="rId1"/>
              </a:rPr>
              <a:t>https://zhuanlan.zhihu.com/p/7795643474</a:t>
            </a:r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430" y="2161124"/>
            <a:ext cx="3073533" cy="163196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0432" y="4263673"/>
            <a:ext cx="2718926" cy="1750113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General Flow: torch.compile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p>
            <a:r>
              <a:rPr lang="en-US" altLang="zh-CN"/>
              <a:t>Dymanic</a:t>
            </a:r>
            <a:r>
              <a:rPr lang="zh-CN" altLang="en-US"/>
              <a:t>-</a:t>
            </a:r>
            <a:r>
              <a:rPr lang="en-US" altLang="zh-CN"/>
              <a:t>Static Tradeoff</a:t>
            </a:r>
            <a:endParaRPr lang="en-US" altLang="zh-CN"/>
          </a:p>
          <a:p>
            <a:pPr lvl="1"/>
            <a:r>
              <a:rPr lang="en-US" altLang="zh-CN"/>
              <a:t>Both PyTorch and TensorFlow extends thier computation graph (torch.fx and TensorFlow2.0)</a:t>
            </a:r>
            <a:endParaRPr lang="en-US" altLang="zh-CN"/>
          </a:p>
          <a:p>
            <a:pPr lvl="1"/>
            <a:r>
              <a:rPr lang="en-US" altLang="zh-CN"/>
              <a:t>Easy to develop and efficiently optimized for execution</a:t>
            </a:r>
            <a:endParaRPr lang="en-US" altLang="zh-CN"/>
          </a:p>
          <a:p>
            <a:pPr lvl="0"/>
            <a:r>
              <a:rPr lang="en-US" altLang="zh-CN"/>
              <a:t>torch.compile: Benchmark and Optimization On</a:t>
            </a:r>
            <a:r>
              <a:rPr lang="zh-CN" altLang="en-US"/>
              <a:t>-</a:t>
            </a:r>
            <a:r>
              <a:rPr lang="en-US" altLang="zh-CN"/>
              <a:t>the</a:t>
            </a:r>
            <a:r>
              <a:rPr lang="zh-CN" altLang="en-US"/>
              <a:t>-</a:t>
            </a:r>
            <a:r>
              <a:rPr lang="en-US" altLang="zh-CN"/>
              <a:t>fly</a:t>
            </a:r>
            <a:endParaRPr lang="en-US" altLang="zh-CN"/>
          </a:p>
          <a:p>
            <a:pPr lvl="1"/>
            <a:r>
              <a:rPr lang="en-US" altLang="zh-CN"/>
              <a:t>Main idea: Optimize current computation as long as it does not change</a:t>
            </a:r>
            <a:endParaRPr lang="en-US" altLang="zh-CN"/>
          </a:p>
          <a:p>
            <a:pPr lvl="1"/>
            <a:r>
              <a:rPr lang="en-US" altLang="zh-CN"/>
              <a:t>Faster Compilation and faster execution after first run</a:t>
            </a:r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altLang="zh-CN" dirty="0"/>
              <a:t>Image Source: https://pytorch.ac.cn/blog/accelerated-pytorch-inference/</a:t>
            </a:r>
            <a:endParaRPr lang="en-US" altLang="zh-C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Picture 6" descr="post_object_image_92270386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0214" y="3888817"/>
            <a:ext cx="5047059" cy="2547087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post_object_image_10324805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6479" y="1090464"/>
            <a:ext cx="5895044" cy="28619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General Flow: torch.compile</a:t>
            </a:r>
            <a:endParaRPr lang="en-US" altLang="zh-CN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523873" y="1323976"/>
            <a:ext cx="10205055" cy="4852988"/>
          </a:xfrm>
        </p:spPr>
        <p:txBody>
          <a:bodyPr/>
          <a:p>
            <a:r>
              <a:rPr lang="en-US" altLang="zh-CN"/>
              <a:t>TorchDynamo</a:t>
            </a:r>
            <a:endParaRPr lang="en-US" altLang="zh-CN"/>
          </a:p>
          <a:p>
            <a:pPr lvl="1"/>
            <a:r>
              <a:rPr lang="en-US" altLang="zh-CN"/>
              <a:t>Rewrite python bytecode</a:t>
            </a:r>
            <a:endParaRPr lang="en-US" altLang="zh-CN"/>
          </a:p>
          <a:p>
            <a:pPr lvl="1"/>
            <a:r>
              <a:rPr lang="en-US" altLang="zh-CN"/>
              <a:t>Retrieved computation graph from bytecode</a:t>
            </a:r>
            <a:endParaRPr lang="en-US" altLang="zh-CN"/>
          </a:p>
          <a:p>
            <a:pPr lvl="1"/>
            <a:r>
              <a:rPr lang="en-US" altLang="zh-CN"/>
              <a:t>Output forward static graph in first run</a:t>
            </a:r>
            <a:endParaRPr lang="en-US" altLang="zh-CN"/>
          </a:p>
          <a:p>
            <a:pPr lvl="0"/>
            <a:r>
              <a:rPr lang="en-US" altLang="zh-CN"/>
              <a:t>AOTAutoGrad</a:t>
            </a:r>
            <a:endParaRPr lang="en-US" altLang="zh-CN"/>
          </a:p>
          <a:p>
            <a:pPr lvl="1"/>
            <a:r>
              <a:rPr lang="en-US" altLang="zh-CN"/>
              <a:t>AOTDispatcher: dispatch 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operator</a:t>
            </a:r>
            <a:r>
              <a:rPr lang="en-US" altLang="zh-CN"/>
              <a:t> to specific kernel</a:t>
            </a:r>
            <a:endParaRPr lang="en-US" altLang="zh-CN"/>
          </a:p>
          <a:p>
            <a:pPr lvl="1"/>
            <a:r>
              <a:rPr lang="en-US" altLang="zh-CN"/>
              <a:t>AOT</a:t>
            </a:r>
            <a:r>
              <a:rPr lang="zh-CN" altLang="en-US"/>
              <a:t>-</a:t>
            </a:r>
            <a:r>
              <a:rPr lang="en-US" altLang="zh-CN"/>
              <a:t>ahead of time: trace BP graph simultaneously as forward computation graph</a:t>
            </a:r>
            <a:endParaRPr lang="en-US" altLang="zh-CN"/>
          </a:p>
          <a:p>
            <a:pPr lvl="0"/>
            <a:r>
              <a:rPr lang="en-US" altLang="zh-CN"/>
              <a:t>TorchInductor</a:t>
            </a:r>
            <a:endParaRPr lang="en-US" altLang="zh-CN"/>
          </a:p>
          <a:p>
            <a:pPr lvl="1"/>
            <a:r>
              <a:rPr lang="en-US" altLang="zh-CN"/>
              <a:t>Optimize graph and generate hardware code</a:t>
            </a:r>
            <a:endParaRPr lang="en-US" altLang="zh-CN"/>
          </a:p>
          <a:p>
            <a:pPr lvl="1"/>
            <a:r>
              <a:rPr lang="en-US" altLang="zh-CN"/>
              <a:t>Leverage kernal fusion and other methods for sepcific architecture</a:t>
            </a: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altLang="zh-CN" dirty="0"/>
              <a:t>Image Source: </a:t>
            </a:r>
            <a:r>
              <a:rPr lang="en-US" altLang="zh-CN" dirty="0">
                <a:hlinkClick r:id="rId2"/>
              </a:rPr>
              <a:t>https://pytorch.ac.cn/blog/accelerated</a:t>
            </a:r>
            <a:r>
              <a:rPr lang="zh-CN" altLang="en-US" dirty="0">
                <a:hlinkClick r:id="rId2"/>
              </a:rPr>
              <a:t>-</a:t>
            </a:r>
            <a:r>
              <a:rPr lang="en-US" altLang="zh-CN" dirty="0">
                <a:hlinkClick r:id="rId2"/>
              </a:rPr>
              <a:t>pytorch</a:t>
            </a:r>
            <a:r>
              <a:rPr lang="zh-CN" altLang="en-US" dirty="0">
                <a:hlinkClick r:id="rId2"/>
              </a:rPr>
              <a:t>-</a:t>
            </a:r>
            <a:r>
              <a:rPr lang="en-US" altLang="zh-CN" dirty="0">
                <a:hlinkClick r:id="rId2"/>
              </a:rPr>
              <a:t>inference/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General Flow: TorchDynamo </a:t>
            </a:r>
            <a:r>
              <a:t>Overview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419100" y="1323975"/>
            <a:ext cx="7821930" cy="4853305"/>
          </a:xfrm>
        </p:spPr>
        <p:txBody>
          <a:bodyPr>
            <a:noAutofit/>
          </a:bodyPr>
          <a:p>
            <a:r>
              <a:rPr lang="en-US" altLang="zh-CN" sz="2000"/>
              <a:t>Eager </a:t>
            </a:r>
            <a:r>
              <a:rPr lang="en-US" altLang="en-US" sz="2000"/>
              <a:t> Mode Pros and Cons: </a:t>
            </a:r>
            <a:endParaRPr lang="en-US" altLang="en-US" sz="2000"/>
          </a:p>
          <a:p>
            <a:pPr lvl="1"/>
            <a:r>
              <a:rPr lang="en-US" altLang="zh-CN" sz="1800"/>
              <a:t>PyTorch </a:t>
            </a:r>
            <a:r>
              <a:rPr lang="en-US" altLang="en-US" sz="1800"/>
              <a:t> </a:t>
            </a:r>
            <a:r>
              <a:rPr lang="en-US" altLang="zh-CN" sz="1800"/>
              <a:t> define-by-run </a:t>
            </a:r>
            <a:r>
              <a:rPr lang="en-US" altLang="en-US" sz="1800"/>
              <a:t> mechanism is highly flexible and well-loved by researchers</a:t>
            </a:r>
            <a:r>
              <a:rPr lang="en-US" altLang="zh-CN" sz="1800"/>
              <a:t> </a:t>
            </a:r>
            <a:r>
              <a:rPr lang="en-US" altLang="en-US" sz="1800"/>
              <a:t>. However, the framework can only see one operator at a time, making cross-operator graph-level optimization (e.g., operator fusion, memory scheduling) difficult.</a:t>
            </a:r>
            <a:endParaRPr lang="en-US" altLang="en-US" sz="1800"/>
          </a:p>
          <a:p>
            <a:pPr lvl="0"/>
            <a:r>
              <a:rPr lang="en-US" altLang="en-US" sz="2000"/>
              <a:t>Compromises of Previous Approaches: </a:t>
            </a:r>
            <a:endParaRPr lang="en-US" altLang="zh-CN" sz="2000"/>
          </a:p>
          <a:p>
            <a:pPr lvl="1"/>
            <a:r>
              <a:rPr lang="en-US" altLang="zh-CN" sz="1800"/>
              <a:t>TorchScript</a:t>
            </a:r>
            <a:r>
              <a:rPr lang="en-US" altLang="en-US" sz="1800"/>
              <a:t>: Attempts static parsing of</a:t>
            </a:r>
            <a:r>
              <a:rPr lang="en-US" altLang="zh-CN" sz="1800"/>
              <a:t> Python AST</a:t>
            </a:r>
            <a:r>
              <a:rPr lang="en-US" altLang="en-US" sz="1800"/>
              <a:t>, facing</a:t>
            </a:r>
            <a:r>
              <a:rPr lang="x-none" altLang="en-US" sz="1800"/>
              <a:t> </a:t>
            </a:r>
            <a:r>
              <a:rPr lang="en-US" altLang="zh-CN" sz="1800"/>
              <a:t>“</a:t>
            </a:r>
            <a:r>
              <a:rPr lang="en-US" altLang="en-US" sz="1800"/>
              <a:t>all-or-nothing</a:t>
            </a:r>
            <a:r>
              <a:rPr lang="en-US" altLang="zh-CN" sz="1800"/>
              <a:t>”</a:t>
            </a:r>
            <a:r>
              <a:rPr lang="en-US" altLang="en-US" sz="1800"/>
              <a:t> dilemma, easily failing because it doesn't support complete</a:t>
            </a:r>
            <a:r>
              <a:rPr lang="en-US" altLang="zh-CN" sz="1800"/>
              <a:t> Python </a:t>
            </a:r>
            <a:r>
              <a:rPr lang="en-US" altLang="en-US" sz="1800"/>
              <a:t> semantics</a:t>
            </a:r>
            <a:r>
              <a:rPr lang="en-US" altLang="zh-CN" sz="1800"/>
              <a:t> </a:t>
            </a:r>
            <a:r>
              <a:rPr lang="en-US" altLang="en-US" sz="1800"/>
              <a:t>.</a:t>
            </a:r>
            <a:endParaRPr lang="en-US" altLang="zh-CN" sz="1800"/>
          </a:p>
          <a:p>
            <a:pPr lvl="1"/>
            <a:r>
              <a:rPr lang="en-US" altLang="zh-CN" sz="1800"/>
              <a:t>Lazy Tensors</a:t>
            </a:r>
            <a:r>
              <a:rPr lang="en-US" altLang="en-US" sz="1800"/>
              <a:t>: High runtime overhead, delaying low-level kernel launch and causing frequent recompilation</a:t>
            </a:r>
            <a:r>
              <a:rPr lang="en-US" altLang="zh-CN" sz="1800"/>
              <a:t> </a:t>
            </a:r>
            <a:r>
              <a:rPr lang="en-US" altLang="en-US" sz="1800"/>
              <a:t>.</a:t>
            </a:r>
            <a:endParaRPr lang="en-US" altLang="en-US" sz="1800"/>
          </a:p>
          <a:p>
            <a:pPr lvl="0"/>
            <a:r>
              <a:rPr lang="en-US" altLang="zh-CN" sz="2000"/>
              <a:t>TorchDynamo </a:t>
            </a:r>
            <a:r>
              <a:rPr lang="en-US" altLang="en-US" sz="2000"/>
              <a:t> Core Motivation: </a:t>
            </a:r>
            <a:endParaRPr lang="en-US" altLang="en-US" sz="2000"/>
          </a:p>
          <a:p>
            <a:pPr lvl="1"/>
            <a:r>
              <a:rPr lang="en-US" altLang="en-US" sz="1800"/>
              <a:t>As a</a:t>
            </a:r>
            <a:r>
              <a:rPr lang="en-US" altLang="zh-CN" sz="1800"/>
              <a:t> Python</a:t>
            </a:r>
            <a:r>
              <a:rPr lang="en-US" altLang="en-US" sz="1800"/>
              <a:t>-level Just-In-Time compiler, the goal is to achieve</a:t>
            </a:r>
            <a:r>
              <a:rPr lang="en-US" altLang="zh-CN" sz="1800"/>
              <a:t> Python </a:t>
            </a:r>
            <a:r>
              <a:rPr lang="en-US" altLang="en-US" sz="1800"/>
              <a:t>graph compilation without sacrificing any</a:t>
            </a:r>
            <a:r>
              <a:rPr lang="en-US" altLang="zh-CN" sz="1800"/>
              <a:t> PyTorch </a:t>
            </a:r>
            <a:r>
              <a:rPr lang="en-US" altLang="en-US" sz="1800"/>
              <a:t>flexibility</a:t>
            </a:r>
            <a:r>
              <a:rPr lang="en-US" altLang="zh-CN" sz="1800"/>
              <a:t> </a:t>
            </a:r>
            <a:r>
              <a:rPr lang="en-US" altLang="en-US" sz="1800"/>
              <a:t>.</a:t>
            </a:r>
            <a:endParaRPr lang="en-US" altLang="en-US" sz="180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altLang="zh-CN" dirty="0"/>
              <a:t>Ansel, Jason, et al. "Pytorch 2: Faster machine learning through dynamic python bytecode transformation and graph compilation." Proceedings of the 29th ACM international conference on architectural support for programming languages and operating systems, volume 2. 2024.</a:t>
            </a:r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en-US" altLang="en-US" smtClean="0"/>
            </a:fld>
            <a:endParaRPr lang="en-US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5935" y="2263140"/>
            <a:ext cx="3735705" cy="297434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General Flow: TorchDynamo </a:t>
            </a:r>
            <a:r>
              <a:rPr>
                <a:sym typeface="+mn-ea"/>
              </a:rPr>
              <a:t>Example</a:t>
            </a:r>
            <a:endParaRPr>
              <a:sym typeface="+mn-ea"/>
            </a:endParaRPr>
          </a:p>
        </p:txBody>
      </p:sp>
      <p:pic>
        <p:nvPicPr>
          <p:cNvPr id="6" name="内容占位符 5"/>
          <p:cNvPicPr>
            <a:picLocks noChangeAspect="1"/>
          </p:cNvPicPr>
          <p:nvPr>
            <p:ph sz="quarter" idx="13"/>
          </p:nvPr>
        </p:nvPicPr>
        <p:blipFill>
          <a:blip r:embed="rId1"/>
          <a:stretch>
            <a:fillRect/>
          </a:stretch>
        </p:blipFill>
        <p:spPr>
          <a:xfrm>
            <a:off x="1565910" y="1323975"/>
            <a:ext cx="9192260" cy="4853305"/>
          </a:xfrm>
          <a:prstGeom prst="rect">
            <a:avLst/>
          </a:prstGeom>
        </p:spPr>
      </p:pic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altLang="zh-CN" dirty="0"/>
              <a:t>https://chips-compilers-mlsys-22.github.io/assets/slides/PyTorch%20Compilers%20(Compiler%20&amp;%20Chips%20Symposium%202022).pdf</a:t>
            </a:r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en-US" altLang="en-US" smtClean="0"/>
            </a:fld>
            <a:endParaRPr lang="en-US" altLang="en-US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olidFill>
                  <a:schemeClr val="tx1">
                    <a:lumMod val="85000"/>
                    <a:lumOff val="15000"/>
                  </a:schemeClr>
                </a:solidFill>
                <a:ea typeface="微软雅黑" charset="0"/>
              </a:rPr>
              <a:t>G</a:t>
            </a:r>
            <a:r>
              <a:rPr lang="en-US" altLang="zh-CN">
                <a:solidFill>
                  <a:schemeClr val="tx1">
                    <a:lumMod val="85000"/>
                    <a:lumOff val="15000"/>
                  </a:schemeClr>
                </a:solidFill>
                <a:ea typeface="微软雅黑" charset="0"/>
              </a:rPr>
              <a:t>eneral Flow</a:t>
            </a:r>
            <a:r>
              <a:t>：</a:t>
            </a:r>
            <a:r>
              <a:rPr lang="en-US" altLang="zh-CN"/>
              <a:t>TorchInductor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p>
            <a:r>
              <a:rPr lang="en-US" altLang="zh-CN"/>
              <a:t>Graph fusion: Combines multiple pointwise operators</a:t>
            </a:r>
            <a:endParaRPr lang="en-US" altLang="zh-CN"/>
          </a:p>
          <a:p>
            <a:pPr lvl="1"/>
            <a:r>
              <a:rPr lang="en-US" altLang="zh-CN"/>
              <a:t>May generate equivalent Triton kernels on the fly</a:t>
            </a:r>
            <a:endParaRPr lang="en-US" altLang="zh-CN"/>
          </a:p>
          <a:p>
            <a:r>
              <a:rPr lang="en-US" altLang="zh-CN"/>
              <a:t>Scheduling: Determines loop ordering, tile sizes, and parallel execution</a:t>
            </a:r>
            <a:endParaRPr lang="en-US" altLang="zh-CN"/>
          </a:p>
          <a:p>
            <a:r>
              <a:rPr lang="en-US" altLang="zh-CN"/>
              <a:t>Backend Selection</a:t>
            </a:r>
            <a:endParaRPr lang="en-US" altLang="zh-CN"/>
          </a:p>
          <a:p>
            <a:pPr lvl="1"/>
            <a:r>
              <a:rPr lang="en-US" altLang="zh-CN"/>
              <a:t>GPU→ Triton</a:t>
            </a:r>
            <a:endParaRPr lang="en-US" altLang="zh-CN"/>
          </a:p>
          <a:p>
            <a:pPr lvl="1"/>
            <a:r>
              <a:rPr lang="en-US" altLang="zh-CN"/>
              <a:t>CPU→ C++/OpenMP</a:t>
            </a:r>
            <a:endParaRPr lang="en-US" altLang="zh-CN"/>
          </a:p>
          <a:p>
            <a:pPr lvl="0"/>
            <a:r>
              <a:rPr lang="en-US" altLang="zh-CN"/>
              <a:t>Memory planning: reduces temporary tensor allocation</a:t>
            </a:r>
            <a:endParaRPr lang="en-US" altLang="zh-CN"/>
          </a:p>
          <a:p>
            <a:pPr lvl="0"/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p>
            <a:r>
              <a:rPr lang="en-US" altLang="zh-CN"/>
              <a:t>General Flow</a:t>
            </a:r>
            <a:endParaRPr lang="en-US" altLang="zh-CN"/>
          </a:p>
          <a:p>
            <a:r>
              <a:rPr lang="en-US" altLang="zh-CN" b="1"/>
              <a:t>AI</a:t>
            </a:r>
            <a:r>
              <a:rPr lang="zh-CN" altLang="en-US" b="1"/>
              <a:t>-</a:t>
            </a:r>
            <a:r>
              <a:rPr lang="en-US" altLang="zh-CN" b="1"/>
              <a:t>DSL</a:t>
            </a:r>
            <a:r>
              <a:rPr lang="en-US" altLang="zh-CN" b="1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 Design</a:t>
            </a:r>
            <a:endParaRPr lang="en-US" altLang="zh-CN" b="1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</a:endParaRPr>
          </a:p>
          <a:p>
            <a:r>
              <a:rPr lang="en-US" altLang="zh-CN"/>
              <a:t>Optimization Passes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AI-DSL</a:t>
            </a:r>
            <a:r>
              <a:rPr lang="en-US" altLang="zh-CN">
                <a:solidFill>
                  <a:schemeClr val="tx1">
                    <a:lumMod val="85000"/>
                    <a:lumOff val="15000"/>
                  </a:schemeClr>
                </a:solidFill>
                <a:ea typeface="微软雅黑" charset="0"/>
              </a:rPr>
              <a:t> </a:t>
            </a:r>
            <a:r>
              <a:rPr lang="en-US" altLang="zh-CN">
                <a:solidFill>
                  <a:schemeClr val="tx1">
                    <a:lumMod val="85000"/>
                    <a:lumOff val="15000"/>
                  </a:schemeClr>
                </a:solidFill>
                <a:ea typeface="微软雅黑" charset="0"/>
                <a:cs typeface="Arial" panose="02080604020202020204" pitchFamily="34" charset="0"/>
              </a:rPr>
              <a:t>Design: Why DSL?</a:t>
            </a:r>
            <a:endParaRPr lang="en-US" altLang="zh-CN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p>
            <a:r>
              <a:rPr lang="en-US" altLang="zh-CN"/>
              <a:t>Gap between AI computing abstract and GPU execution model</a:t>
            </a:r>
            <a:endParaRPr lang="en-US" altLang="zh-CN"/>
          </a:p>
          <a:p>
            <a:pPr lvl="1"/>
            <a:r>
              <a:rPr lang="en-US" altLang="zh-CN"/>
              <a:t>Deep learning models are naturally expressed as tensor algebra</a:t>
            </a:r>
            <a:endParaRPr lang="en-US" altLang="zh-CN"/>
          </a:p>
          <a:p>
            <a:pPr lvl="1"/>
            <a:r>
              <a:rPr lang="en-US" altLang="zh-CN"/>
              <a:t>GPUs execute massively parallel scalar instructions</a:t>
            </a:r>
            <a:endParaRPr lang="en-US" altLang="zh-CN"/>
          </a:p>
          <a:p>
            <a:pPr lvl="0"/>
            <a:r>
              <a:rPr lang="en-US" altLang="zh-CN"/>
              <a:t>Human/Agent workload</a:t>
            </a:r>
            <a:endParaRPr lang="en-US" altLang="zh-CN"/>
          </a:p>
          <a:p>
            <a:pPr lvl="1"/>
            <a:r>
              <a:rPr lang="en-US" altLang="zh-CN"/>
              <a:t>Explicit thread/block management, Memory hierarchy (global, shared, registers), Synchronization primitives, Instruction scheduling, Architecture-specific optimizations, ...</a:t>
            </a:r>
            <a:endParaRPr lang="en-US" altLang="zh-CN"/>
          </a:p>
          <a:p>
            <a:pPr lvl="0"/>
            <a:r>
              <a:rPr lang="en-US" altLang="zh-CN"/>
              <a:t>DSLs separate algorithm description from performance implementation</a:t>
            </a:r>
            <a:endParaRPr lang="en-US" altLang="zh-CN"/>
          </a:p>
          <a:p>
            <a:pPr lvl="0"/>
            <a:r>
              <a:rPr lang="en-US" altLang="zh-CN"/>
              <a:t>Modern AI compilers increasingly rely on domain-specific IRs</a:t>
            </a:r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AI-DSL</a:t>
            </a:r>
            <a:r>
              <a:rPr lang="en-US" altLang="zh-CN">
                <a:solidFill>
                  <a:schemeClr val="tx1">
                    <a:lumMod val="85000"/>
                    <a:lumOff val="15000"/>
                  </a:schemeClr>
                </a:solidFill>
                <a:ea typeface="微软雅黑" charset="0"/>
              </a:rPr>
              <a:t> </a:t>
            </a:r>
            <a:r>
              <a:rPr lang="en-US" altLang="zh-CN">
                <a:solidFill>
                  <a:schemeClr val="tx1">
                    <a:lumMod val="85000"/>
                    <a:lumOff val="15000"/>
                  </a:schemeClr>
                </a:solidFill>
                <a:ea typeface="微软雅黑" charset="0"/>
                <a:cs typeface="Arial" panose="02080604020202020204" pitchFamily="34" charset="0"/>
              </a:rPr>
              <a:t>Design: How to Design DSL</a:t>
            </a:r>
            <a:endParaRPr lang="en-US" altLang="zh-CN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p>
            <a:r>
              <a:rPr lang="en-US" altLang="zh-CN"/>
              <a:t>Tensor-Centric programming model</a:t>
            </a:r>
            <a:endParaRPr lang="en-US" altLang="zh-CN"/>
          </a:p>
          <a:p>
            <a:pPr lvl="1"/>
            <a:r>
              <a:rPr lang="en-US" altLang="zh-CN"/>
              <a:t>Matrix multiplication, Convolution, Reduction, Broadcast, Elementwise computation</a:t>
            </a:r>
            <a:endParaRPr lang="en-US" altLang="zh-CN"/>
          </a:p>
          <a:p>
            <a:pPr lvl="0"/>
            <a:r>
              <a:rPr lang="en-US" altLang="zh-CN"/>
              <a:t>Declarative semantics</a:t>
            </a:r>
            <a:endParaRPr lang="en-US" altLang="zh-CN"/>
          </a:p>
          <a:p>
            <a:pPr lvl="1"/>
            <a:r>
              <a:rPr lang="en-US" altLang="zh-CN"/>
              <a:t>describe mathematical operations rather than execution order</a:t>
            </a:r>
            <a:endParaRPr lang="en-US" altLang="zh-CN"/>
          </a:p>
          <a:p>
            <a:pPr lvl="2"/>
            <a:r>
              <a:rPr lang="en-US" altLang="zh-CN"/>
              <a:t>C = A @ B</a:t>
            </a:r>
            <a:endParaRPr lang="en-US" altLang="zh-CN"/>
          </a:p>
          <a:p>
            <a:pPr lvl="2"/>
            <a:r>
              <a:rPr lang="en-US" altLang="zh-CN"/>
              <a:t>y = softmax(x)</a:t>
            </a:r>
            <a:endParaRPr lang="en-US" altLang="zh-CN"/>
          </a:p>
          <a:p>
            <a:pPr lvl="0"/>
            <a:r>
              <a:rPr lang="en-US" altLang="zh-CN"/>
              <a:t>Hardware Independence</a:t>
            </a:r>
            <a:endParaRPr lang="en-US" altLang="zh-CN"/>
          </a:p>
          <a:p>
            <a:pPr lvl="1"/>
            <a:r>
              <a:rPr lang="en-US" altLang="zh-CN"/>
              <a:t>NVIDIA GPU, AMD GPU, CPU, TPU, Future accelerators</a:t>
            </a:r>
            <a:endParaRPr lang="en-US" altLang="zh-CN"/>
          </a:p>
          <a:p>
            <a:pPr lvl="0"/>
            <a:r>
              <a:rPr lang="en-US" altLang="zh-CN"/>
              <a:t>Compiler optimizations enabled by DSLs</a:t>
            </a:r>
            <a:endParaRPr lang="en-US" altLang="zh-CN"/>
          </a:p>
          <a:p>
            <a:pPr lvl="1"/>
            <a:r>
              <a:rPr lang="en-US" altLang="zh-CN"/>
              <a:t>Operator fusion, Layout transformation, Automatic tiling, Parallel scheduling</a:t>
            </a:r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AI-DSL</a:t>
            </a:r>
            <a:r>
              <a:rPr lang="en-US" altLang="zh-CN">
                <a:solidFill>
                  <a:schemeClr val="tx1">
                    <a:lumMod val="85000"/>
                    <a:lumOff val="15000"/>
                  </a:schemeClr>
                </a:solidFill>
                <a:ea typeface="微软雅黑" charset="0"/>
              </a:rPr>
              <a:t> Design</a:t>
            </a:r>
            <a:r>
              <a:rPr lang="zh-CN" altLang="en-US"/>
              <a:t>：</a:t>
            </a:r>
            <a:r>
              <a:rPr lang="en-US" altLang="zh-CN"/>
              <a:t>Triton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p>
            <a:r>
              <a:rPr lang="en-US" altLang="zh-CN"/>
              <a:t>More friendly GPU development DSL</a:t>
            </a:r>
            <a:endParaRPr lang="en-US" altLang="zh-CN"/>
          </a:p>
          <a:p>
            <a:r>
              <a:rPr lang="en-US" altLang="zh-CN"/>
              <a:t>Compiler</a:t>
            </a:r>
            <a:r>
              <a:rPr lang="zh-CN" altLang="en-US"/>
              <a:t> </a:t>
            </a:r>
            <a:r>
              <a:rPr lang="en-US" altLang="zh-CN"/>
              <a:t>Flow</a:t>
            </a:r>
            <a:endParaRPr lang="zh-CN" altLang="en-US"/>
          </a:p>
          <a:p>
            <a:pPr lvl="1"/>
            <a:r>
              <a:rPr lang="en-US" altLang="zh-CN"/>
              <a:t>Dialect-&gt;Triton IR-&gt;LLVM IR-&gt;PTX</a:t>
            </a:r>
            <a:endParaRPr lang="en-US" altLang="zh-CN"/>
          </a:p>
          <a:p>
            <a:pPr lvl="0"/>
            <a:r>
              <a:rPr lang="en-US" altLang="zh-CN"/>
              <a:t>Compare with CUDA</a:t>
            </a:r>
            <a:endParaRPr lang="zh-CN" altLang="en-US"/>
          </a:p>
          <a:p>
            <a:pPr lvl="0"/>
            <a:endParaRPr lang="en-US" altLang="zh-CN"/>
          </a:p>
          <a:p>
            <a:pPr lvl="0"/>
            <a:endParaRPr lang="en-US" altLang="zh-CN"/>
          </a:p>
          <a:p>
            <a:pPr lvl="0"/>
            <a:r>
              <a:rPr lang="en-US" altLang="zh-CN"/>
              <a:t>Optimizatio</a:t>
            </a:r>
            <a:r>
              <a:rPr lang="zh-CN" altLang="en-US"/>
              <a:t> </a:t>
            </a:r>
            <a:r>
              <a:rPr lang="en-US" altLang="zh-CN"/>
              <a:t>effect</a:t>
            </a:r>
            <a:r>
              <a:rPr lang="zh-CN" altLang="en-US"/>
              <a:t> </a:t>
            </a:r>
            <a:r>
              <a:rPr lang="en-US" altLang="zh-CN"/>
              <a:t>(softmax)</a:t>
            </a:r>
            <a:endParaRPr lang="en-US" altLang="zh-CN"/>
          </a:p>
          <a:p>
            <a:pPr lvl="0"/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altLang="zh-CN" dirty="0"/>
              <a:t>Image source: https://openai.com/index/triton/</a:t>
            </a:r>
            <a:endParaRPr lang="en-US" altLang="zh-C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 Box 8"/>
          <p:cNvSpPr txBox="1"/>
          <p:nvPr userDrawn="1"/>
        </p:nvSpPr>
        <p:spPr>
          <a:xfrm>
            <a:off x="6210329" y="1467443"/>
            <a:ext cx="2080527" cy="1114204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800"/>
              <a:t>@jit</a:t>
            </a:r>
            <a:endParaRPr lang="en-US" altLang="zh-CN" sz="800"/>
          </a:p>
          <a:p>
            <a:r>
              <a:rPr lang="en-US" altLang="zh-CN" sz="800"/>
              <a:t>def add(X, Y, Z, N):</a:t>
            </a:r>
            <a:endParaRPr lang="en-US" altLang="zh-CN" sz="800"/>
          </a:p>
          <a:p>
            <a:r>
              <a:rPr lang="en-US" altLang="zh-CN" sz="800"/>
              <a:t>   pid = program_id(0)</a:t>
            </a:r>
            <a:endParaRPr lang="en-US" altLang="zh-CN" sz="800"/>
          </a:p>
          <a:p>
            <a:r>
              <a:rPr lang="en-US" altLang="zh-CN" sz="800"/>
              <a:t>   idx= pid * 512 + arange(512)</a:t>
            </a:r>
            <a:endParaRPr lang="en-US" altLang="zh-CN" sz="800"/>
          </a:p>
          <a:p>
            <a:r>
              <a:rPr lang="en-US" altLang="zh-CN" sz="800"/>
              <a:t>   mask = idx &lt; N</a:t>
            </a:r>
            <a:endParaRPr lang="en-US" altLang="zh-CN" sz="800"/>
          </a:p>
          <a:p>
            <a:r>
              <a:rPr lang="en-US" altLang="zh-CN" sz="800"/>
              <a:t>   x = load(X + idx, mask=mask)</a:t>
            </a:r>
            <a:endParaRPr lang="en-US" altLang="zh-CN" sz="800"/>
          </a:p>
          <a:p>
            <a:r>
              <a:rPr lang="en-US" altLang="zh-CN" sz="800"/>
              <a:t>   y = load(Y + idx, mask=mask)</a:t>
            </a:r>
            <a:endParaRPr lang="en-US" altLang="zh-CN" sz="800"/>
          </a:p>
          <a:p>
            <a:r>
              <a:rPr lang="en-US" altLang="zh-CN" sz="800"/>
              <a:t>   store(Z + idx, x + y, mask=mask)</a:t>
            </a:r>
            <a:endParaRPr lang="en-US" altLang="zh-CN" sz="800"/>
          </a:p>
        </p:txBody>
      </p:sp>
      <p:sp>
        <p:nvSpPr>
          <p:cNvPr id="10" name="Text Box 9"/>
          <p:cNvSpPr txBox="1"/>
          <p:nvPr userDrawn="1"/>
        </p:nvSpPr>
        <p:spPr>
          <a:xfrm>
            <a:off x="6210329" y="2690667"/>
            <a:ext cx="2961798" cy="3394607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800"/>
              <a:t>def void add(i32* X .aligned(16) , i32* Y .aligned(16) , i32* Z .aligned(16) , i32 N .multipleof(2) ) {</a:t>
            </a:r>
            <a:endParaRPr lang="en-US" altLang="zh-CN" sz="800"/>
          </a:p>
          <a:p>
            <a:r>
              <a:rPr lang="en-US" altLang="zh-CN" sz="800"/>
              <a:t>entry:</a:t>
            </a:r>
            <a:endParaRPr lang="en-US" altLang="zh-CN" sz="800"/>
          </a:p>
          <a:p>
            <a:r>
              <a:rPr lang="en-US" altLang="zh-CN" sz="800"/>
              <a:t>  %0 = get_program_id[0] i32;</a:t>
            </a:r>
            <a:endParaRPr lang="en-US" altLang="zh-CN" sz="800"/>
          </a:p>
          <a:p>
            <a:r>
              <a:rPr lang="en-US" altLang="zh-CN" sz="800"/>
              <a:t>  %1 = mul i32 %0, 512;</a:t>
            </a:r>
            <a:endParaRPr lang="en-US" altLang="zh-CN" sz="800"/>
          </a:p>
          <a:p>
            <a:r>
              <a:rPr lang="en-US" altLang="zh-CN" sz="800"/>
              <a:t>  %3 = make_range[0 : 512] i32&lt;512&gt;;</a:t>
            </a:r>
            <a:endParaRPr lang="en-US" altLang="zh-CN" sz="800"/>
          </a:p>
          <a:p>
            <a:r>
              <a:rPr lang="en-US" altLang="zh-CN" sz="800"/>
              <a:t>  %4 = splat i32&lt;512&gt; %1;</a:t>
            </a:r>
            <a:endParaRPr lang="en-US" altLang="zh-CN" sz="800"/>
          </a:p>
          <a:p>
            <a:r>
              <a:rPr lang="en-US" altLang="zh-CN" sz="800"/>
              <a:t>  %6 = add i32&lt;512&gt; %4, %3;</a:t>
            </a:r>
            <a:endParaRPr lang="en-US" altLang="zh-CN" sz="800"/>
          </a:p>
          <a:p>
            <a:r>
              <a:rPr lang="en-US" altLang="zh-CN" sz="800"/>
              <a:t>  %9 = splat i32&lt;512&gt; N;</a:t>
            </a:r>
            <a:endParaRPr lang="en-US" altLang="zh-CN" sz="800"/>
          </a:p>
          <a:p>
            <a:r>
              <a:rPr lang="en-US" altLang="zh-CN" sz="800"/>
              <a:t>  %11 = icmp_slt i1&lt;512&gt; %6, %9;</a:t>
            </a:r>
            <a:endParaRPr lang="en-US" altLang="zh-CN" sz="800"/>
          </a:p>
          <a:p>
            <a:r>
              <a:rPr lang="en-US" altLang="zh-CN" sz="800"/>
              <a:t>  %14 = splat i32*&lt;512&gt; X;</a:t>
            </a:r>
            <a:endParaRPr lang="en-US" altLang="zh-CN" sz="800"/>
          </a:p>
          <a:p>
            <a:r>
              <a:rPr lang="en-US" altLang="zh-CN" sz="800"/>
              <a:t>  %16 = getelementptr i32*&lt;512&gt; %14, %6;</a:t>
            </a:r>
            <a:endParaRPr lang="en-US" altLang="zh-CN" sz="800"/>
          </a:p>
          <a:p>
            <a:r>
              <a:rPr lang="en-US" altLang="zh-CN" sz="800"/>
              <a:t>  %19 = broadcast i1&lt;512&gt; %11;</a:t>
            </a:r>
            <a:endParaRPr lang="en-US" altLang="zh-CN" sz="800"/>
          </a:p>
          <a:p>
            <a:r>
              <a:rPr lang="en-US" altLang="zh-CN" sz="800"/>
              <a:t>  %21 = splat i32&lt;512&gt; undef;</a:t>
            </a:r>
            <a:endParaRPr lang="en-US" altLang="zh-CN" sz="800"/>
          </a:p>
          <a:p>
            <a:r>
              <a:rPr lang="en-US" altLang="zh-CN" sz="800"/>
              <a:t>  %22 = masked_load i32&lt;512&gt; %16, %19, %21;</a:t>
            </a:r>
            <a:endParaRPr lang="en-US" altLang="zh-CN" sz="800"/>
          </a:p>
          <a:p>
            <a:r>
              <a:rPr lang="en-US" altLang="zh-CN" sz="800"/>
              <a:t>  %26 = splat i32*&lt;512&gt; Y;</a:t>
            </a:r>
            <a:endParaRPr lang="en-US" altLang="zh-CN" sz="800"/>
          </a:p>
          <a:p>
            <a:r>
              <a:rPr lang="en-US" altLang="zh-CN" sz="800"/>
              <a:t>  %28 = getelementptr i32*&lt;512&gt; %26, %6;</a:t>
            </a:r>
            <a:endParaRPr lang="en-US" altLang="zh-CN" sz="800"/>
          </a:p>
          <a:p>
            <a:r>
              <a:rPr lang="en-US" altLang="zh-CN" sz="800"/>
              <a:t>  %31 = broadcast i1&lt;512&gt; %11;</a:t>
            </a:r>
            <a:endParaRPr lang="en-US" altLang="zh-CN" sz="800"/>
          </a:p>
          <a:p>
            <a:r>
              <a:rPr lang="en-US" altLang="zh-CN" sz="800"/>
              <a:t>  %33 = splat i32&lt;512&gt; undef;</a:t>
            </a:r>
            <a:endParaRPr lang="en-US" altLang="zh-CN" sz="800"/>
          </a:p>
          <a:p>
            <a:r>
              <a:rPr lang="en-US" altLang="zh-CN" sz="800"/>
              <a:t>  %34 = masked_load i32&lt;512&gt; %28, %31, %33;</a:t>
            </a:r>
            <a:endParaRPr lang="en-US" altLang="zh-CN" sz="800"/>
          </a:p>
          <a:p>
            <a:r>
              <a:rPr lang="en-US" altLang="zh-CN" sz="800"/>
              <a:t>  %38 = splat i32*&lt;512&gt; Z;</a:t>
            </a:r>
            <a:endParaRPr lang="en-US" altLang="zh-CN" sz="800"/>
          </a:p>
          <a:p>
            <a:r>
              <a:rPr lang="en-US" altLang="zh-CN" sz="800"/>
              <a:t>  %40 = getelementptr i32*&lt;512&gt; %38, %6;</a:t>
            </a:r>
            <a:endParaRPr lang="en-US" altLang="zh-CN" sz="800"/>
          </a:p>
          <a:p>
            <a:r>
              <a:rPr lang="en-US" altLang="zh-CN" sz="800"/>
              <a:t>  %43 = add i32&lt;512&gt; %22, %34;</a:t>
            </a:r>
            <a:endParaRPr lang="en-US" altLang="zh-CN" sz="800"/>
          </a:p>
          <a:p>
            <a:r>
              <a:rPr lang="en-US" altLang="zh-CN" sz="800"/>
              <a:t>  %46 = broadcast i32&lt;512&gt; %43;</a:t>
            </a:r>
            <a:endParaRPr lang="en-US" altLang="zh-CN" sz="800"/>
          </a:p>
          <a:p>
            <a:r>
              <a:rPr lang="en-US" altLang="zh-CN" sz="800"/>
              <a:t>  %48 = broadcast i1&lt;512&gt; %11;</a:t>
            </a:r>
            <a:endParaRPr lang="en-US" altLang="zh-CN" sz="800"/>
          </a:p>
          <a:p>
            <a:r>
              <a:rPr lang="en-US" altLang="zh-CN" sz="800"/>
              <a:t>  masked_store void %40, %46, %48;</a:t>
            </a:r>
            <a:endParaRPr lang="en-US" altLang="zh-CN" sz="800"/>
          </a:p>
          <a:p>
            <a:r>
              <a:rPr lang="en-US" altLang="zh-CN" sz="800"/>
              <a:t>  ret void;}</a:t>
            </a:r>
            <a:endParaRPr lang="en-US" altLang="zh-CN" sz="800"/>
          </a:p>
        </p:txBody>
      </p:sp>
      <p:sp>
        <p:nvSpPr>
          <p:cNvPr id="11" name="Text Box 10"/>
          <p:cNvSpPr txBox="1"/>
          <p:nvPr userDrawn="1"/>
        </p:nvSpPr>
        <p:spPr>
          <a:xfrm>
            <a:off x="9035655" y="1467426"/>
            <a:ext cx="3207101" cy="4423619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800"/>
              <a:t>visible .entry add(</a:t>
            </a:r>
            <a:endParaRPr lang="en-US" altLang="zh-CN" sz="800"/>
          </a:p>
          <a:p>
            <a:r>
              <a:rPr lang="en-US" altLang="zh-CN" sz="800"/>
              <a:t>    .param .u64 add_param_0, .param .u64 add_param_1,</a:t>
            </a:r>
            <a:endParaRPr lang="en-US" altLang="zh-CN" sz="800"/>
          </a:p>
          <a:p>
            <a:r>
              <a:rPr lang="en-US" altLang="zh-CN" sz="800"/>
              <a:t>    .param .u64 add_param_2, .param .u32 add_param_3</a:t>
            </a:r>
            <a:endParaRPr lang="en-US" altLang="zh-CN" sz="800"/>
          </a:p>
          <a:p>
            <a:r>
              <a:rPr lang="en-US" altLang="zh-CN" sz="800"/>
              <a:t>)</a:t>
            </a:r>
            <a:endParaRPr lang="en-US" altLang="zh-CN" sz="800"/>
          </a:p>
          <a:p>
            <a:r>
              <a:rPr lang="en-US" altLang="zh-CN" sz="800"/>
              <a:t>.maxntid 128, 1, 1</a:t>
            </a:r>
            <a:endParaRPr lang="en-US" altLang="zh-CN" sz="800"/>
          </a:p>
          <a:p>
            <a:r>
              <a:rPr lang="en-US" altLang="zh-CN" sz="800"/>
              <a:t>{</a:t>
            </a:r>
            <a:endParaRPr lang="en-US" altLang="zh-CN" sz="800"/>
          </a:p>
          <a:p>
            <a:r>
              <a:rPr lang="en-US" altLang="zh-CN" sz="800"/>
              <a:t>    .reg .pred     %p&lt;4&gt;;</a:t>
            </a:r>
            <a:endParaRPr lang="en-US" altLang="zh-CN" sz="800"/>
          </a:p>
          <a:p>
            <a:r>
              <a:rPr lang="en-US" altLang="zh-CN" sz="800"/>
              <a:t>    .reg .b32     %r&lt;18&gt;;</a:t>
            </a:r>
            <a:endParaRPr lang="en-US" altLang="zh-CN" sz="800"/>
          </a:p>
          <a:p>
            <a:r>
              <a:rPr lang="en-US" altLang="zh-CN" sz="800"/>
              <a:t>    .reg .b64     %rd&lt;8&gt;;</a:t>
            </a:r>
            <a:endParaRPr lang="en-US" altLang="zh-CN" sz="800"/>
          </a:p>
          <a:p>
            <a:r>
              <a:rPr lang="en-US" altLang="zh-CN" sz="800"/>
              <a:t>    ld.param.u64     %rd4, [add_param_0];</a:t>
            </a:r>
            <a:endParaRPr lang="en-US" altLang="zh-CN" sz="800"/>
          </a:p>
          <a:p>
            <a:r>
              <a:rPr lang="en-US" altLang="zh-CN" sz="800"/>
              <a:t>    ld.param.u64     %rd5, [add_param_1];</a:t>
            </a:r>
            <a:endParaRPr lang="en-US" altLang="zh-CN" sz="800"/>
          </a:p>
          <a:p>
            <a:r>
              <a:rPr lang="en-US" altLang="zh-CN" sz="800"/>
              <a:t>    mov.u32     %r13, %tid.x;</a:t>
            </a:r>
            <a:endParaRPr lang="en-US" altLang="zh-CN" sz="800"/>
          </a:p>
          <a:p>
            <a:r>
              <a:rPr lang="en-US" altLang="zh-CN" sz="800"/>
              <a:t>    ld.param.u32     %r14, [add_param_3];</a:t>
            </a:r>
            <a:endParaRPr lang="en-US" altLang="zh-CN" sz="800"/>
          </a:p>
          <a:p>
            <a:r>
              <a:rPr lang="en-US" altLang="zh-CN" sz="800"/>
              <a:t>    shl.b32     %r15, %r13, 2;</a:t>
            </a:r>
            <a:endParaRPr lang="en-US" altLang="zh-CN" sz="800"/>
          </a:p>
          <a:p>
            <a:r>
              <a:rPr lang="en-US" altLang="zh-CN" sz="800"/>
              <a:t>    mov.u32     %r16, %ctaid.x;</a:t>
            </a:r>
            <a:endParaRPr lang="en-US" altLang="zh-CN" sz="800"/>
          </a:p>
          <a:p>
            <a:r>
              <a:rPr lang="en-US" altLang="zh-CN" sz="800"/>
              <a:t>    mad.lo.s32     %r17, %r16, 512, %r15;</a:t>
            </a:r>
            <a:endParaRPr lang="en-US" altLang="zh-CN" sz="800"/>
          </a:p>
          <a:p>
            <a:r>
              <a:rPr lang="en-US" altLang="zh-CN" sz="800"/>
              <a:t>    setp.ge.s32     %p3, %r17, %r14;</a:t>
            </a:r>
            <a:endParaRPr lang="en-US" altLang="zh-CN" sz="800"/>
          </a:p>
          <a:p>
            <a:r>
              <a:rPr lang="en-US" altLang="zh-CN" sz="800"/>
              <a:t>    setp.lt.s32     %p1, %r17, %r14;</a:t>
            </a:r>
            <a:endParaRPr lang="en-US" altLang="zh-CN" sz="800"/>
          </a:p>
          <a:p>
            <a:r>
              <a:rPr lang="en-US" altLang="zh-CN" sz="800"/>
              <a:t>    mul.wide.s32     %rd7, %r17, 4;</a:t>
            </a:r>
            <a:endParaRPr lang="en-US" altLang="zh-CN" sz="800"/>
          </a:p>
          <a:p>
            <a:r>
              <a:rPr lang="en-US" altLang="zh-CN" sz="800"/>
              <a:t>    add.s64     %rd2, %rd4, %rd7;</a:t>
            </a:r>
            <a:endParaRPr lang="en-US" altLang="zh-CN" sz="800"/>
          </a:p>
          <a:p>
            <a:r>
              <a:rPr lang="en-US" altLang="zh-CN" sz="800"/>
              <a:t>    @%p1 ld.global.cg.v4.b32 {%r5,%r6,%r7,%r8}, [ %rd2 + 0];</a:t>
            </a:r>
            <a:endParaRPr lang="en-US" altLang="zh-CN" sz="800"/>
          </a:p>
          <a:p>
            <a:r>
              <a:rPr lang="en-US" altLang="zh-CN" sz="800"/>
              <a:t>    add.s64     %rd3, %rd5, %rd7;</a:t>
            </a:r>
            <a:endParaRPr lang="en-US" altLang="zh-CN" sz="800"/>
          </a:p>
          <a:p>
            <a:r>
              <a:rPr lang="en-US" altLang="zh-CN" sz="800"/>
              <a:t>    @%p1 ld.global.cg.v4.b32 {%r9,%r10,%r11,%r12}, [ %rd3 + 0];</a:t>
            </a:r>
            <a:endParaRPr lang="en-US" altLang="zh-CN" sz="800"/>
          </a:p>
          <a:p>
            <a:r>
              <a:rPr lang="en-US" altLang="zh-CN" sz="800"/>
              <a:t>    @%p3 bra     LBB0_2;</a:t>
            </a:r>
            <a:endParaRPr lang="en-US" altLang="zh-CN" sz="800"/>
          </a:p>
          <a:p>
            <a:r>
              <a:rPr lang="en-US" altLang="zh-CN" sz="800"/>
              <a:t>    ld.param.u64     %rd6, [add_param_2];</a:t>
            </a:r>
            <a:endParaRPr lang="en-US" altLang="zh-CN" sz="800"/>
          </a:p>
          <a:p>
            <a:r>
              <a:rPr lang="en-US" altLang="zh-CN" sz="800"/>
              <a:t>    add.s64     %rd1, %rd6, %rd7;</a:t>
            </a:r>
            <a:endParaRPr lang="en-US" altLang="zh-CN" sz="800"/>
          </a:p>
          <a:p>
            <a:r>
              <a:rPr lang="en-US" altLang="zh-CN" sz="800"/>
              <a:t>    add.s32     %r1, %r5, %r9;</a:t>
            </a:r>
            <a:endParaRPr lang="en-US" altLang="zh-CN" sz="800"/>
          </a:p>
          <a:p>
            <a:r>
              <a:rPr lang="en-US" altLang="zh-CN" sz="800"/>
              <a:t>    add.s32     %r2, %r6, %r10;</a:t>
            </a:r>
            <a:endParaRPr lang="en-US" altLang="zh-CN" sz="800"/>
          </a:p>
          <a:p>
            <a:r>
              <a:rPr lang="en-US" altLang="zh-CN" sz="800"/>
              <a:t>    add.s32     %r3, %r7, %r11;</a:t>
            </a:r>
            <a:endParaRPr lang="en-US" altLang="zh-CN" sz="800"/>
          </a:p>
          <a:p>
            <a:r>
              <a:rPr lang="en-US" altLang="zh-CN" sz="800"/>
              <a:t>    add.s32     %r4, %r8, %r12;</a:t>
            </a:r>
            <a:endParaRPr lang="en-US" altLang="zh-CN" sz="800"/>
          </a:p>
          <a:p>
            <a:r>
              <a:rPr lang="en-US" altLang="zh-CN" sz="800"/>
              <a:t>    st.global.v4.u32     [%rd1], {%r1, %r2, %r3, %r4};</a:t>
            </a:r>
            <a:endParaRPr lang="en-US" altLang="zh-CN" sz="800"/>
          </a:p>
          <a:p>
            <a:r>
              <a:rPr lang="en-US" altLang="zh-CN" sz="800"/>
              <a:t>LBB0_2:</a:t>
            </a:r>
            <a:endParaRPr lang="en-US" altLang="zh-CN" sz="800"/>
          </a:p>
          <a:p>
            <a:r>
              <a:rPr lang="en-US" altLang="zh-CN" sz="800"/>
              <a:t>    ret;</a:t>
            </a:r>
            <a:endParaRPr lang="en-US" altLang="zh-CN" sz="800"/>
          </a:p>
          <a:p>
            <a:r>
              <a:rPr lang="en-US" altLang="zh-CN" sz="800"/>
              <a:t>}</a:t>
            </a:r>
            <a:endParaRPr lang="en-US" altLang="zh-CN" sz="800"/>
          </a:p>
        </p:txBody>
      </p:sp>
      <p:sp>
        <p:nvSpPr>
          <p:cNvPr id="12" name="Down Arrow 11"/>
          <p:cNvSpPr/>
          <p:nvPr userDrawn="1"/>
        </p:nvSpPr>
        <p:spPr>
          <a:xfrm>
            <a:off x="7522322" y="2521335"/>
            <a:ext cx="105116" cy="169332"/>
          </a:xfrm>
          <a:prstGeom prst="downArrow">
            <a:avLst/>
          </a:prstGeom>
          <a:ln w="19050" cap="flat" cmpd="sng" algn="ctr">
            <a:solidFill>
              <a:schemeClr val="phClr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3" name="Down Arrow 12"/>
          <p:cNvSpPr/>
          <p:nvPr userDrawn="1"/>
        </p:nvSpPr>
        <p:spPr>
          <a:xfrm rot="16200000">
            <a:off x="8953310" y="4174661"/>
            <a:ext cx="105116" cy="169332"/>
          </a:xfrm>
          <a:prstGeom prst="downArrow">
            <a:avLst/>
          </a:prstGeom>
          <a:ln w="19050" cap="flat" cmpd="sng" algn="ctr">
            <a:solidFill>
              <a:schemeClr val="phClr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pic>
        <p:nvPicPr>
          <p:cNvPr id="7" name="Picture 6" descr="post_object_image_409881717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393" y="3220727"/>
            <a:ext cx="3782895" cy="1300371"/>
          </a:xfrm>
          <a:prstGeom prst="rect">
            <a:avLst/>
          </a:prstGeom>
        </p:spPr>
      </p:pic>
      <p:pic>
        <p:nvPicPr>
          <p:cNvPr id="8" name="Picture 7" descr="post_object_image_1577414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341" y="4917562"/>
            <a:ext cx="3437747" cy="143878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AI-DSL Design</a:t>
            </a:r>
            <a:r>
              <a:rPr lang="zh-CN" altLang="en-US"/>
              <a:t>：</a:t>
            </a:r>
            <a:r>
              <a:rPr lang="en-US" altLang="zh-CN"/>
              <a:t>Triton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p>
            <a:pPr lvl="0"/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Expose block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-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parallelism</a:t>
            </a:r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</a:endParaRPr>
          </a:p>
          <a:p>
            <a:pPr lvl="1"/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Each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 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kernel instance carry on block operation in parallel</a:t>
            </a:r>
            <a:endParaRPr lang="en-US" altLang="zh-CN">
              <a:ea typeface="微软雅黑" charset="0"/>
            </a:endParaRPr>
          </a:p>
          <a:p>
            <a:pPr lvl="1"/>
            <a:endParaRPr lang="en-US" altLang="zh-CN">
              <a:ea typeface="微软雅黑" charset="0"/>
            </a:endParaRPr>
          </a:p>
          <a:p>
            <a:pPr lvl="1"/>
            <a:endParaRPr lang="en-US" altLang="zh-CN">
              <a:ea typeface="微软雅黑" charset="0"/>
            </a:endParaRPr>
          </a:p>
          <a:p>
            <a:pPr lvl="1"/>
            <a:endParaRPr lang="en-US" altLang="zh-CN">
              <a:ea typeface="微软雅黑" charset="0"/>
            </a:endParaRPr>
          </a:p>
          <a:p>
            <a:pPr lvl="1"/>
            <a:endParaRPr lang="en-US" altLang="zh-CN">
              <a:ea typeface="微软雅黑" charset="0"/>
            </a:endParaRPr>
          </a:p>
          <a:p>
            <a:pPr lvl="0"/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Allocate shared memory based on varaible living analysis</a:t>
            </a:r>
            <a:endParaRPr lang="en-US" altLang="zh-CN">
              <a:ea typeface="微软雅黑" charset="0"/>
            </a:endParaRP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4"/>
          </p:nvPr>
        </p:nvSpPr>
        <p:spPr/>
        <p:txBody>
          <a:bodyPr/>
          <a:p>
            <a:r>
              <a:rPr lang="en-US" altLang="zh-CN"/>
              <a:t>automatically parallelize opeartions both by instance and by SMs</a:t>
            </a:r>
            <a:endParaRPr lang="en-US" altLang="zh-CN"/>
          </a:p>
          <a:p>
            <a:pPr lvl="1"/>
            <a:r>
              <a:rPr lang="en-US" altLang="zh-CN"/>
              <a:t>Analyze the iteration space of each operation then partition</a:t>
            </a:r>
            <a:endParaRPr lang="en-US" altLang="zh-CN"/>
          </a:p>
          <a:p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altLang="zh-CN" dirty="0"/>
              <a:t>Image source: https://openai.com/index/triton/</a:t>
            </a:r>
            <a:endParaRPr lang="en-US" altLang="zh-C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Text Box 5"/>
          <p:cNvSpPr txBox="1"/>
          <p:nvPr userDrawn="1"/>
        </p:nvSpPr>
        <p:spPr>
          <a:xfrm>
            <a:off x="1171540" y="2520524"/>
            <a:ext cx="2080527" cy="249297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800"/>
              <a:t>BLOCK = 512</a:t>
            </a:r>
            <a:endParaRPr lang="en-US" altLang="zh-CN" sz="800"/>
          </a:p>
          <a:p>
            <a:endParaRPr lang="en-US" altLang="zh-CN" sz="800"/>
          </a:p>
          <a:p>
            <a:r>
              <a:rPr lang="en-US" altLang="zh-CN" sz="800"/>
              <a:t># This is a GPU kernel in Triton.</a:t>
            </a:r>
            <a:endParaRPr lang="en-US" altLang="zh-CN" sz="800"/>
          </a:p>
          <a:p>
            <a:r>
              <a:rPr lang="en-US" altLang="zh-CN" sz="800"/>
              <a:t># Different instances of this</a:t>
            </a:r>
            <a:endParaRPr lang="en-US" altLang="zh-CN" sz="800"/>
          </a:p>
          <a:p>
            <a:r>
              <a:rPr lang="en-US" altLang="zh-CN" sz="800"/>
              <a:t># function may run in parallel.</a:t>
            </a:r>
            <a:endParaRPr lang="en-US" altLang="zh-CN" sz="800"/>
          </a:p>
          <a:p>
            <a:r>
              <a:rPr lang="en-US" altLang="zh-CN" sz="800"/>
              <a:t>@jit</a:t>
            </a:r>
            <a:endParaRPr lang="en-US" altLang="zh-CN" sz="800"/>
          </a:p>
          <a:p>
            <a:r>
              <a:rPr lang="en-US" altLang="zh-CN" sz="800"/>
              <a:t>def add(X, Y, Z, N):</a:t>
            </a:r>
            <a:endParaRPr lang="en-US" altLang="zh-CN" sz="800"/>
          </a:p>
          <a:p>
            <a:r>
              <a:rPr lang="en-US" altLang="zh-CN" sz="800"/>
              <a:t>   pid = program_id(0)</a:t>
            </a:r>
            <a:endParaRPr lang="en-US" altLang="zh-CN" sz="800"/>
          </a:p>
          <a:p>
            <a:r>
              <a:rPr lang="en-US" altLang="zh-CN" sz="800"/>
              <a:t>   # block of indices</a:t>
            </a:r>
            <a:endParaRPr lang="en-US" altLang="zh-CN" sz="800"/>
          </a:p>
          <a:p>
            <a:r>
              <a:rPr lang="en-US" altLang="zh-CN" sz="800"/>
              <a:t>   idx = pid * BLOCK + arange(BLOCK)</a:t>
            </a:r>
            <a:endParaRPr lang="en-US" altLang="zh-CN" sz="800"/>
          </a:p>
          <a:p>
            <a:r>
              <a:rPr lang="en-US" altLang="zh-CN" sz="800"/>
              <a:t>   mask = idx &lt; N</a:t>
            </a:r>
            <a:endParaRPr lang="en-US" altLang="zh-CN" sz="800"/>
          </a:p>
          <a:p>
            <a:r>
              <a:rPr lang="en-US" altLang="zh-CN" sz="800"/>
              <a:t>  ...</a:t>
            </a:r>
            <a:endParaRPr lang="en-US" altLang="zh-CN" sz="800"/>
          </a:p>
        </p:txBody>
      </p:sp>
      <p:sp>
        <p:nvSpPr>
          <p:cNvPr id="14" name="Text Box 13"/>
          <p:cNvSpPr txBox="1"/>
          <p:nvPr userDrawn="1"/>
        </p:nvSpPr>
        <p:spPr>
          <a:xfrm>
            <a:off x="3102607" y="2520581"/>
            <a:ext cx="2080527" cy="803487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800">
                <a:solidFill>
                  <a:schemeClr val="tx1"/>
                </a:solidFill>
              </a:rPr>
              <a:t># Triton uses pointer arithmetics     # rather than indexing operators   x = load(X + idx, mask=mask)   y = load(Y + idx, mask=mask)   store(Z + idx, x + y, mask=mask)</a:t>
            </a:r>
            <a:endParaRPr lang="en-US" altLang="zh-CN" sz="800">
              <a:solidFill>
                <a:schemeClr val="tx1"/>
              </a:solidFill>
            </a:endParaRPr>
          </a:p>
          <a:p>
            <a:endParaRPr lang="en-US" altLang="zh-CN"/>
          </a:p>
        </p:txBody>
      </p:sp>
      <p:sp>
        <p:nvSpPr>
          <p:cNvPr id="15" name="Text Box 14"/>
          <p:cNvSpPr txBox="1"/>
          <p:nvPr userDrawn="1"/>
        </p:nvSpPr>
        <p:spPr>
          <a:xfrm>
            <a:off x="4860017" y="2520581"/>
            <a:ext cx="2080527" cy="803487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800">
                <a:solidFill>
                  <a:schemeClr val="tx1"/>
                </a:solidFill>
              </a:rPr>
              <a:t>...</a:t>
            </a:r>
            <a:endParaRPr lang="en-US" altLang="zh-CN" sz="800">
              <a:solidFill>
                <a:schemeClr val="tx1"/>
              </a:solidFill>
            </a:endParaRPr>
          </a:p>
          <a:p>
            <a:r>
              <a:rPr lang="en-US" altLang="zh-CN" sz="800">
                <a:solidFill>
                  <a:schemeClr val="tx1"/>
                </a:solidFill>
              </a:rPr>
              <a:t>grid = (ceil_div(N, BLOCK),)</a:t>
            </a:r>
            <a:endParaRPr lang="en-US" altLang="zh-CN" sz="800">
              <a:solidFill>
                <a:schemeClr val="tx1"/>
              </a:solidFill>
            </a:endParaRPr>
          </a:p>
          <a:p>
            <a:r>
              <a:rPr lang="en-US" altLang="zh-CN" sz="800">
                <a:solidFill>
                  <a:schemeClr val="tx1"/>
                </a:solidFill>
              </a:rPr>
              <a:t># no thread-block</a:t>
            </a:r>
            <a:endParaRPr lang="en-US" altLang="zh-CN" sz="800">
              <a:solidFill>
                <a:schemeClr val="tx1"/>
              </a:solidFill>
            </a:endParaRPr>
          </a:p>
          <a:p>
            <a:r>
              <a:rPr lang="en-US" altLang="zh-CN" sz="800">
                <a:solidFill>
                  <a:schemeClr val="tx1"/>
                </a:solidFill>
              </a:rPr>
              <a:t>add[grid](x, y, z, x.shape[0])</a:t>
            </a:r>
            <a:endParaRPr lang="en-US" altLang="zh-CN"/>
          </a:p>
        </p:txBody>
      </p:sp>
      <p:pic>
        <p:nvPicPr>
          <p:cNvPr id="16" name="Picture 15" descr="post_object_image_20888495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9054" y="5018001"/>
            <a:ext cx="4320000" cy="1268036"/>
          </a:xfrm>
          <a:prstGeom prst="rect">
            <a:avLst/>
          </a:prstGeom>
        </p:spPr>
      </p:pic>
      <p:grpSp>
        <p:nvGrpSpPr>
          <p:cNvPr id="7" name="Group 6"/>
          <p:cNvGrpSpPr>
            <a:grpSpLocks noChangeAspect="1"/>
          </p:cNvGrpSpPr>
          <p:nvPr userDrawn="1"/>
        </p:nvGrpSpPr>
        <p:grpSpPr>
          <a:xfrm>
            <a:off x="6614795" y="2962815"/>
            <a:ext cx="5400000" cy="3323953"/>
            <a:chOff x="10417" y="3111"/>
            <a:chExt cx="6638" cy="4086"/>
          </a:xfrm>
        </p:grpSpPr>
        <p:pic>
          <p:nvPicPr>
            <p:cNvPr id="18" name="Picture 17" descr="post_object_image_385633052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417" y="3111"/>
              <a:ext cx="6639" cy="4085"/>
            </a:xfrm>
            <a:prstGeom prst="rect">
              <a:avLst/>
            </a:prstGeom>
          </p:spPr>
        </p:pic>
        <p:sp>
          <p:nvSpPr>
            <p:cNvPr id="19" name="Text Box 18"/>
            <p:cNvSpPr txBox="1"/>
            <p:nvPr userDrawn="1"/>
          </p:nvSpPr>
          <p:spPr>
            <a:xfrm>
              <a:off x="10417" y="3318"/>
              <a:ext cx="1499" cy="1072"/>
            </a:xfrm>
            <a:prstGeom prst="rect">
              <a:avLst/>
            </a:prstGeom>
            <a:solidFill>
              <a:schemeClr val="bg1">
                <a:alpha val="100000"/>
              </a:schemeClr>
            </a:solidFill>
          </p:spPr>
          <p:txBody>
            <a:bodyPr wrap="square" rtlCol="0">
              <a:noAutofit/>
            </a:bodyPr>
            <a:p>
              <a:r>
                <a:rPr lang="en-US" altLang="zh-CN" sz="700"/>
                <a:t>S1 float A[4,4] = ...</a:t>
              </a:r>
              <a:endParaRPr lang="en-US" altLang="zh-CN" sz="700"/>
            </a:p>
            <a:p>
              <a:r>
                <a:rPr lang="en-US" altLang="zh-CN" sz="700"/>
                <a:t>S2 float B[4,4] = ...</a:t>
              </a:r>
              <a:endParaRPr lang="en-US" altLang="zh-CN" sz="700"/>
            </a:p>
            <a:p>
              <a:r>
                <a:rPr lang="en-US" altLang="zh-CN" sz="700"/>
                <a:t>S3 float C[4,4] = A + B</a:t>
              </a:r>
              <a:endParaRPr lang="en-US" altLang="zh-CN" sz="700"/>
            </a:p>
          </p:txBody>
        </p:sp>
        <p:sp>
          <p:nvSpPr>
            <p:cNvPr id="20" name="Text Box 19"/>
            <p:cNvSpPr txBox="1"/>
            <p:nvPr userDrawn="1"/>
          </p:nvSpPr>
          <p:spPr>
            <a:xfrm>
              <a:off x="10417" y="4985"/>
              <a:ext cx="1499" cy="1072"/>
            </a:xfrm>
            <a:prstGeom prst="rect">
              <a:avLst/>
            </a:prstGeom>
            <a:solidFill>
              <a:schemeClr val="bg1">
                <a:alpha val="100000"/>
              </a:schemeClr>
            </a:solidFill>
          </p:spPr>
          <p:txBody>
            <a:bodyPr wrap="square" rtlCol="0">
              <a:noAutofit/>
            </a:bodyPr>
            <a:p>
              <a:r>
                <a:rPr lang="en-US" altLang="zh-CN" sz="700"/>
                <a:t>S1 half A[4,2] = ...</a:t>
              </a:r>
              <a:endParaRPr lang="en-US" altLang="zh-CN" sz="700"/>
            </a:p>
            <a:p>
              <a:r>
                <a:rPr lang="en-US" altLang="zh-CN" sz="700"/>
                <a:t>S2 half B[2,2] = ...</a:t>
              </a:r>
              <a:endParaRPr lang="en-US" altLang="zh-CN" sz="700"/>
            </a:p>
            <a:p>
              <a:r>
                <a:rPr lang="en-US" altLang="zh-CN" sz="700"/>
                <a:t>S3 float C[4,2] = dot(A,B)</a:t>
              </a:r>
              <a:endParaRPr lang="en-US" altLang="zh-CN" sz="700"/>
            </a:p>
          </p:txBody>
        </p:sp>
      </p:grp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AI-DSL Design</a:t>
            </a:r>
            <a:r>
              <a:rPr lang="zh-CN" altLang="en-US"/>
              <a:t>：</a:t>
            </a:r>
            <a:r>
              <a:rPr lang="en-US" altLang="zh-CN"/>
              <a:t>Triton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p>
            <a:pPr lvl="0"/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  <a:cs typeface="Arial" panose="02080604020202020204" pitchFamily="34" charset="0"/>
              </a:rPr>
              <a:t>Autotuning</a:t>
            </a:r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  <a:cs typeface="Arial" panose="02080604020202020204" pitchFamily="34" charset="0"/>
            </a:endParaRPr>
          </a:p>
          <a:p>
            <a:pPr lvl="1"/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  <a:cs typeface="Arial" panose="02080604020202020204" pitchFamily="34" charset="0"/>
              </a:rPr>
              <a:t>Consider tile sizes</a:t>
            </a:r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  <a:cs typeface="Arial" panose="02080604020202020204" pitchFamily="34" charset="0"/>
            </a:endParaRPr>
          </a:p>
          <a:p>
            <a:pPr lvl="1"/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  <a:cs typeface="Arial" panose="02080604020202020204" pitchFamily="34" charset="0"/>
              </a:rPr>
              <a:t>Explore at compilation</a:t>
            </a:r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  <a:cs typeface="Arial" panose="02080604020202020204" pitchFamily="34" charset="0"/>
            </a:endParaRPr>
          </a:p>
          <a:p>
            <a:pPr lvl="1"/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  <a:cs typeface="Arial" panose="02080604020202020204" pitchFamily="34" charset="0"/>
            </a:endParaRPr>
          </a:p>
          <a:p>
            <a:pPr lvl="1"/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  <a:cs typeface="Arial" panose="02080604020202020204" pitchFamily="34" charset="0"/>
            </a:endParaRPr>
          </a:p>
          <a:p>
            <a:pPr lvl="1"/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  <a:cs typeface="Arial" panose="02080604020202020204" pitchFamily="34" charset="0"/>
            </a:endParaRPr>
          </a:p>
          <a:p>
            <a:pPr lvl="1"/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  <a:cs typeface="Arial" panose="02080604020202020204" pitchFamily="34" charset="0"/>
            </a:endParaRPr>
          </a:p>
          <a:p>
            <a:pPr lvl="1"/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  <a:cs typeface="Arial" panose="02080604020202020204" pitchFamily="34" charset="0"/>
            </a:endParaRPr>
          </a:p>
          <a:p>
            <a:pPr lvl="0"/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  <a:cs typeface="Arial" panose="02080604020202020204" pitchFamily="34" charset="0"/>
              </a:rPr>
              <a:t>Optimization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  <a:cs typeface="Arial" panose="02080604020202020204" pitchFamily="34" charset="0"/>
              </a:rPr>
              <a:t> 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  <a:cs typeface="Arial" panose="02080604020202020204" pitchFamily="34" charset="0"/>
              </a:rPr>
              <a:t>passes</a:t>
            </a:r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  <a:cs typeface="Arial" panose="02080604020202020204" pitchFamily="34" charset="0"/>
            </a:endParaRPr>
          </a:p>
          <a:p>
            <a:pPr lvl="1"/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  <a:cs typeface="Arial" panose="02080604020202020204" pitchFamily="34" charset="0"/>
              </a:rPr>
              <a:t>Computation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  <a:cs typeface="Arial" panose="02080604020202020204" pitchFamily="34" charset="0"/>
              </a:rPr>
              <a:t> 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  <a:cs typeface="Arial" panose="02080604020202020204" pitchFamily="34" charset="0"/>
              </a:rPr>
              <a:t>graph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  <a:cs typeface="Arial" panose="02080604020202020204" pitchFamily="34" charset="0"/>
              </a:rPr>
              <a:t> 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  <a:cs typeface="Arial" panose="02080604020202020204" pitchFamily="34" charset="0"/>
              </a:rPr>
              <a:t>patttern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  <a:cs typeface="Arial" panose="02080604020202020204" pitchFamily="34" charset="0"/>
              </a:rPr>
              <a:t> 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  <a:cs typeface="Arial" panose="02080604020202020204" pitchFamily="34" charset="0"/>
              </a:rPr>
              <a:t>substitution</a:t>
            </a:r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  <a:cs typeface="Arial" panose="02080604020202020204" pitchFamily="34" charset="0"/>
            </a:endParaRPr>
          </a:p>
          <a:p>
            <a:pPr lvl="1"/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  <a:cs typeface="Arial" panose="02080604020202020204" pitchFamily="34" charset="0"/>
              </a:rPr>
              <a:t>Dead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  <a:cs typeface="Arial" panose="02080604020202020204" pitchFamily="34" charset="0"/>
              </a:rPr>
              <a:t> 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  <a:cs typeface="Arial" panose="02080604020202020204" pitchFamily="34" charset="0"/>
              </a:rPr>
              <a:t>code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  <a:cs typeface="Arial" panose="02080604020202020204" pitchFamily="34" charset="0"/>
              </a:rPr>
              <a:t> 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  <a:cs typeface="Arial" panose="02080604020202020204" pitchFamily="34" charset="0"/>
              </a:rPr>
              <a:t>elimination</a:t>
            </a:r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  <a:cs typeface="Arial" panose="02080604020202020204" pitchFamily="34" charset="0"/>
            </a:endParaRPr>
          </a:p>
          <a:p>
            <a:pPr lvl="1"/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  <a:cs typeface="Arial" panose="02080604020202020204" pitchFamily="34" charset="0"/>
              </a:rPr>
              <a:t>...</a:t>
            </a:r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  <a:cs typeface="Arial" panose="02080604020202020204" pitchFamily="34" charset="0"/>
            </a:endParaRPr>
          </a:p>
          <a:p>
            <a:pPr lvl="0"/>
            <a:endParaRPr lang="en-US" altLang="zh-CN">
              <a:ea typeface="微软雅黑" charset="0"/>
              <a:cs typeface="Arial" panose="02080604020202020204" pitchFamily="34" charset="0"/>
            </a:endParaRP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4"/>
          </p:nvPr>
        </p:nvSpPr>
        <p:spPr/>
        <p:txBody>
          <a:bodyPr/>
          <a:p>
            <a:r>
              <a:rPr lang="en-US" altLang="zh-CN"/>
              <a:t>Use MLIR to lower layer by layer</a:t>
            </a:r>
            <a:endParaRPr lang="zh-CN" altLang="en-US"/>
          </a:p>
          <a:p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Most passes reuse </a:t>
            </a:r>
            <a:r>
              <a:rPr lang="en-US" altLang="zh-CN"/>
              <a:t>MLIR</a:t>
            </a:r>
            <a:endParaRPr lang="zh-CN" altLang="en-US"/>
          </a:p>
          <a:p>
            <a:pPr lvl="1"/>
            <a:r>
              <a:rPr lang="en-US" altLang="zh-CN"/>
              <a:t>Arith: addf, addi, constant, cmpf, cmpi, ...</a:t>
            </a:r>
            <a:endParaRPr lang="en-US" altLang="zh-CN"/>
          </a:p>
          <a:p>
            <a:pPr lvl="1"/>
            <a:r>
              <a:rPr lang="en-US" altLang="zh-CN"/>
              <a:t>Math: exp, sin, cos, log, absi, absf, sqrt</a:t>
            </a:r>
            <a:endParaRPr lang="en-US" altLang="zh-CN"/>
          </a:p>
          <a:p>
            <a:pPr lvl="1"/>
            <a:r>
              <a:rPr lang="en-US" altLang="zh-CN"/>
              <a:t>StructuredControlFlow: for, if, while, yield, condition</a:t>
            </a:r>
            <a:endParaRPr lang="en-US" altLang="zh-CN"/>
          </a:p>
          <a:p>
            <a:pPr lvl="1"/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</a:rPr>
              <a:t>Reduce cost lowering to </a:t>
            </a:r>
            <a:r>
              <a:rPr lang="en-US" altLang="zh-CN"/>
              <a:t>LLVM</a:t>
            </a:r>
            <a:endParaRPr lang="zh-CN" altLang="en-US"/>
          </a:p>
          <a:p>
            <a:pPr lvl="0"/>
            <a:r>
              <a:rPr lang="en-US" altLang="zh-CN"/>
              <a:t>LLVM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 emits final </a:t>
            </a:r>
            <a:r>
              <a:rPr lang="en-US" altLang="zh-CN"/>
              <a:t>GPU code</a:t>
            </a:r>
            <a:endParaRPr lang="en-US" altLang="zh-CN"/>
          </a:p>
          <a:p>
            <a:pPr lvl="1"/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altLang="zh-CN" dirty="0"/>
              <a:t>Image source: https://openai.com/index/triton/</a:t>
            </a:r>
            <a:endParaRPr lang="en-US" altLang="zh-C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Picture 6" descr="post_object_image_381876068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714" y="2594988"/>
            <a:ext cx="4162993" cy="166798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A</a:t>
            </a:r>
            <a:r>
              <a:rPr lang="en-US" altLang="zh-CN">
                <a:cs typeface="Arial" panose="02080604020202020204" pitchFamily="34" charset="0"/>
              </a:rPr>
              <a:t>I</a:t>
            </a:r>
            <a:r>
              <a:rPr>
                <a:cs typeface="Arial" panose="02080604020202020204" pitchFamily="34" charset="0"/>
              </a:rPr>
              <a:t>-</a:t>
            </a:r>
            <a:r>
              <a:rPr lang="en-US" altLang="zh-CN">
                <a:cs typeface="Arial" panose="02080604020202020204" pitchFamily="34" charset="0"/>
              </a:rPr>
              <a:t>DSL Design: </a:t>
            </a:r>
            <a:r>
              <a:rPr lang="en-US" altLang="zh-CN"/>
              <a:t>TileLang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p>
            <a:r>
              <a:rPr lang="en-US" altLang="zh-CN"/>
              <a:t>Provide three different programming interfaces</a:t>
            </a:r>
            <a:endParaRPr lang="en-US" altLang="zh-CN"/>
          </a:p>
          <a:p>
            <a:pPr lvl="1"/>
            <a:r>
              <a:rPr lang="en-US" altLang="zh-CN"/>
              <a:t>Beginner Level: Hardware-Unaware</a:t>
            </a:r>
            <a:endParaRPr lang="en-US" altLang="zh-CN"/>
          </a:p>
          <a:p>
            <a:pPr lvl="1"/>
            <a:r>
              <a:rPr lang="en-US" altLang="zh-CN"/>
              <a:t>Developer Level: Hardware-Aware with Tile Library</a:t>
            </a:r>
            <a:endParaRPr lang="en-US" altLang="zh-CN"/>
          </a:p>
          <a:p>
            <a:pPr lvl="1"/>
            <a:r>
              <a:rPr lang="en-US" altLang="zh-CN"/>
              <a:t>Expert Level: Hardware-Aware with Thread Primitives</a:t>
            </a:r>
            <a:endParaRPr lang="en-US" altLang="zh-CN"/>
          </a:p>
          <a:p>
            <a:pPr lvl="0"/>
            <a:r>
              <a:rPr lang="en-US" altLang="zh-CN"/>
              <a:t>Compilation Flow</a:t>
            </a:r>
            <a:endParaRPr lang="en-US" altLang="zh-CN"/>
          </a:p>
          <a:p>
            <a:pPr lvl="1"/>
            <a:r>
              <a:rPr lang="en-US" altLang="zh-CN"/>
              <a:t>Tile Program: A high-level specification of the computation</a:t>
            </a:r>
            <a:endParaRPr lang="en-US" altLang="zh-CN"/>
          </a:p>
          <a:p>
            <a:pPr lvl="1"/>
            <a:r>
              <a:rPr lang="en-US" altLang="zh-CN"/>
              <a:t>Tile Program with Tile Library</a:t>
            </a:r>
            <a:endParaRPr lang="en-US" altLang="zh-CN"/>
          </a:p>
          <a:p>
            <a:pPr lvl="1"/>
            <a:r>
              <a:rPr lang="en-US" altLang="zh-CN"/>
              <a:t>Tile Program with Thread Primitives</a:t>
            </a:r>
            <a:endParaRPr lang="en-US" altLang="zh-CN"/>
          </a:p>
          <a:p>
            <a:pPr lvl="1"/>
            <a:r>
              <a:rPr lang="en-US" altLang="zh-CN"/>
              <a:t>IRModule</a:t>
            </a:r>
            <a:endParaRPr lang="en-US" altLang="zh-CN"/>
          </a:p>
          <a:p>
            <a:pPr lvl="1"/>
            <a:r>
              <a:rPr lang="en-US" altLang="zh-CN"/>
              <a:t>Source Code Generation (C/CUDA/HIP/LLVM/…)</a:t>
            </a: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altLang="zh-CN" dirty="0"/>
              <a:t>Image Source: </a:t>
            </a:r>
            <a:r>
              <a:rPr lang="en-US" altLang="zh-CN" dirty="0">
                <a:hlinkClick r:id="rId1"/>
              </a:rPr>
              <a:t>https://arxiv.org/pdf/2504.17577v2</a:t>
            </a:r>
            <a:r>
              <a:rPr lang="en-US" altLang="zh-CN" dirty="0"/>
              <a:t>; </a:t>
            </a:r>
            <a:r>
              <a:rPr lang="en-US" altLang="zh-CN" dirty="0">
                <a:cs typeface="Arial" panose="02080604020202020204" pitchFamily="34" charset="0"/>
                <a:hlinkClick r:id="rId2"/>
              </a:rPr>
              <a:t>https://www.tilelang.com/get_started/overview.html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图片 6" descr="post_object_image_357315127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2802" y="1323991"/>
            <a:ext cx="3771460" cy="4252384"/>
          </a:xfrm>
          <a:prstGeom prst="rect">
            <a:avLst/>
          </a:prstGeom>
        </p:spPr>
      </p:pic>
      <p:pic>
        <p:nvPicPr>
          <p:cNvPr id="8" name="图片 7" descr="post_object_image_157727448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7310" y="5589043"/>
            <a:ext cx="6979461" cy="74779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AI</a:t>
            </a:r>
            <a:r>
              <a:t>-</a:t>
            </a:r>
            <a:r>
              <a:rPr lang="en-US" altLang="zh-CN"/>
              <a:t>DSL </a:t>
            </a:r>
            <a:r>
              <a:rPr lang="en-US" altLang="zh-CN">
                <a:cs typeface="Arial" panose="02080604020202020204" pitchFamily="34" charset="0"/>
              </a:rPr>
              <a:t>Design: </a:t>
            </a:r>
            <a:r>
              <a:rPr lang="en-US" altLang="zh-CN"/>
              <a:t>TileLang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p>
            <a:r>
              <a:rPr lang="en-US" altLang="zh-CN"/>
              <a:t>Tile declarations: Tiles as First-Class Objects</a:t>
            </a:r>
            <a:endParaRPr lang="en-US" altLang="zh-CN"/>
          </a:p>
          <a:p>
            <a:pPr lvl="1"/>
            <a:r>
              <a:rPr lang="en-US" altLang="zh-CN"/>
              <a:t>A tile represents a shaped portion of data</a:t>
            </a:r>
            <a:endParaRPr lang="en-US" altLang="zh-CN"/>
          </a:p>
          <a:p>
            <a:pPr lvl="2"/>
            <a:r>
              <a:rPr lang="en-US" altLang="zh-CN"/>
              <a:t>Can be owned and manipulated by a warp, thread block, or equivalent parallel unit</a:t>
            </a:r>
            <a:endParaRPr lang="en-US" altLang="zh-CN"/>
          </a:p>
          <a:p>
            <a:pPr lvl="2"/>
            <a:r>
              <a:rPr lang="en-US" altLang="zh-CN"/>
              <a:t>A and B buffers are read in tiled chunks (in example below)</a:t>
            </a:r>
            <a:endParaRPr lang="en-US" altLang="zh-CN"/>
          </a:p>
          <a:p>
            <a:pPr lvl="1"/>
            <a:r>
              <a:rPr lang="en-US" altLang="zh-CN"/>
              <a:t>Execution context: thread block index (bx and by) and the number of threads</a:t>
            </a:r>
            <a:endParaRPr lang="en-US" altLang="zh-CN"/>
          </a:p>
          <a:p>
            <a:pPr lvl="2"/>
            <a:r>
              <a:rPr lang="en-US" altLang="zh-CN"/>
              <a:t>Make it easier for the TileLang to automatically optimize</a:t>
            </a: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altLang="zh-CN" dirty="0"/>
              <a:t>Image Source: https://arxiv.org/pdf/2504.17577v2</a:t>
            </a:r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6" name="图片 5" descr="post_object_image_177843434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505" y="3548905"/>
            <a:ext cx="7557579" cy="2893136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AI</a:t>
            </a:r>
            <a:r>
              <a:t>-</a:t>
            </a:r>
            <a:r>
              <a:rPr lang="en-US" altLang="zh-CN"/>
              <a:t>DSL: </a:t>
            </a:r>
            <a:r>
              <a:rPr lang="en-US" altLang="zh-CN">
                <a:cs typeface="Arial" panose="02080604020202020204" pitchFamily="34" charset="0"/>
              </a:rPr>
              <a:t>TileLang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20000"/>
          </a:bodyPr>
          <a:p>
            <a:r>
              <a:rPr lang="en-US" altLang="zh-CN"/>
              <a:t>Explicit Hardware Memory Allocation: </a:t>
            </a:r>
            <a:endParaRPr lang="en-US" altLang="zh-CN"/>
          </a:p>
          <a:p>
            <a:pPr lvl="1"/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E</a:t>
            </a:r>
            <a:r>
              <a:rPr lang="en-US" altLang="zh-CN"/>
              <a:t>xposes user-facing intrinsics for tile buffers placement in the hardware memory hierarchy</a:t>
            </a:r>
            <a:endParaRPr lang="en-US" altLang="zh-CN"/>
          </a:p>
          <a:p>
            <a:pPr lvl="1"/>
            <a:r>
              <a:rPr lang="en-US" altLang="zh-CN"/>
              <a:t>Allocates memory in on-chip storage space</a:t>
            </a:r>
            <a:endParaRPr lang="en-US" altLang="zh-CN"/>
          </a:p>
          <a:p>
            <a:pPr lvl="2"/>
            <a:r>
              <a:rPr lang="en-US" altLang="zh-CN"/>
              <a:t>T.alloc_shared</a:t>
            </a:r>
            <a:endParaRPr lang="en-US" altLang="zh-CN"/>
          </a:p>
          <a:p>
            <a:pPr lvl="2"/>
            <a:r>
              <a:rPr lang="en-US" altLang="zh-CN"/>
              <a:t>Corresponds to shared memory on NVIDIA GPUs</a:t>
            </a:r>
            <a:endParaRPr lang="en-US" altLang="zh-CN"/>
          </a:p>
          <a:p>
            <a:pPr lvl="1"/>
            <a:r>
              <a:rPr lang="en-US" altLang="zh-CN"/>
              <a:t>Allocates accumulators in fragment memory</a:t>
            </a:r>
            <a:endParaRPr lang="en-US" altLang="zh-CN"/>
          </a:p>
          <a:p>
            <a:pPr lvl="2"/>
            <a:r>
              <a:rPr lang="en-US" altLang="zh-CN"/>
              <a:t>T.alloc_fragment</a:t>
            </a:r>
            <a:endParaRPr lang="en-US" altLang="zh-CN"/>
          </a:p>
          <a:p>
            <a:pPr lvl="2"/>
            <a:r>
              <a:rPr lang="en-US" altLang="zh-CN"/>
              <a:t>corresponds to register files on NVIDIA GPUs</a:t>
            </a:r>
            <a:endParaRPr lang="en-US" altLang="zh-CN"/>
          </a:p>
          <a:p>
            <a:pPr lvl="1"/>
            <a:endParaRPr lang="en-US" altLang="zh-CN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/>
        <p:txBody>
          <a:bodyPr/>
          <a:p>
            <a:r>
              <a:rPr lang="en-US" altLang="zh-CN"/>
              <a:t>Explicit Hardware Memory Allocation: </a:t>
            </a:r>
            <a:endParaRPr lang="en-US" altLang="zh-CN"/>
          </a:p>
          <a:p>
            <a:pPr lvl="1"/>
            <a:r>
              <a:rPr lang="en-US" altLang="zh-CN"/>
              <a:t>T.clear: Initialize hardware-specific buffers</a:t>
            </a:r>
            <a:endParaRPr lang="en-US" altLang="zh-CN"/>
          </a:p>
          <a:p>
            <a:pPr lvl="1"/>
            <a:r>
              <a:rPr lang="en-US" altLang="zh-CN"/>
              <a:t>T.fill: Almost same as T.clear</a:t>
            </a:r>
            <a:endParaRPr lang="en-US" altLang="zh-CN"/>
          </a:p>
          <a:p>
            <a:pPr lvl="1"/>
            <a:r>
              <a:rPr lang="en-US" altLang="zh-CN"/>
              <a:t>T.copy: Data transfer between global memory and hardware-specific memory</a:t>
            </a:r>
            <a:endParaRPr lang="en-US" altLang="zh-CN"/>
          </a:p>
          <a:p>
            <a:pPr lvl="1"/>
            <a:r>
              <a:rPr lang="en-US" altLang="zh-CN"/>
              <a:t>T.Parallel: operations can also be performed in parallel for data assignments</a:t>
            </a:r>
            <a:endParaRPr lang="en-US" alt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AI</a:t>
            </a:r>
            <a:r>
              <a:t>-</a:t>
            </a:r>
            <a:r>
              <a:rPr lang="en-US" altLang="zh-CN"/>
              <a:t>DSL: TileLang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523874" y="1323975"/>
            <a:ext cx="11277601" cy="5032338"/>
          </a:xfrm>
        </p:spPr>
        <p:txBody>
          <a:bodyPr/>
          <a:p>
            <a:r>
              <a:rPr lang="en-US" altLang="zh-CN"/>
              <a:t>Abstracts a Set of Tile Operators for Users to Use or Define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en-US" altLang="zh-CN"/>
              <a:t>Each Tile Operator is required to implement two key interfaces</a:t>
            </a:r>
            <a:endParaRPr lang="en-US" altLang="zh-CN"/>
          </a:p>
          <a:p>
            <a:pPr lvl="1"/>
            <a:r>
              <a:rPr lang="en-US" altLang="zh-CN"/>
              <a:t>Lower: Defines how the high-level Tile Operator is lowered into a lower-level IR</a:t>
            </a:r>
            <a:endParaRPr lang="en-US" altLang="zh-CN"/>
          </a:p>
          <a:p>
            <a:pPr lvl="1"/>
            <a:r>
              <a:rPr lang="en-US" altLang="zh-CN"/>
              <a:t>InferLayout: Determine the memory and loop layouts associated with the Tile Operator</a:t>
            </a:r>
            <a:endParaRPr lang="en-US" altLang="zh-CN"/>
          </a:p>
          <a:p>
            <a:pPr lvl="0"/>
            <a:r>
              <a:rPr lang="en-US" altLang="zh-CN"/>
              <a:t>Several Pre</a:t>
            </a:r>
            <a:r>
              <a:rPr lang="zh-CN" altLang="en-US"/>
              <a:t>-</a:t>
            </a:r>
            <a:r>
              <a:rPr lang="en-US" altLang="zh-CN"/>
              <a:t>defined Operators</a:t>
            </a:r>
            <a:endParaRPr lang="en-US" altLang="zh-CN"/>
          </a:p>
          <a:p>
            <a:pPr lvl="1"/>
            <a:r>
              <a:rPr lang="en-US" altLang="zh-CN"/>
              <a:t>gemm: highly optimized implementation for general matrix multiplication</a:t>
            </a:r>
            <a:endParaRPr lang="en-US" altLang="zh-CN"/>
          </a:p>
          <a:p>
            <a:pPr lvl="1"/>
            <a:r>
              <a:rPr lang="en-US" altLang="zh-CN"/>
              <a:t>reduce: flexible and efficient reduction mechanism for aggregating data across dimensions</a:t>
            </a:r>
            <a:endParaRPr lang="en-US" altLang="zh-CN"/>
          </a:p>
          <a:p>
            <a:pPr lvl="1"/>
            <a:r>
              <a:rPr lang="en-US" altLang="zh-CN"/>
              <a:t>atomic: atomic operations for safe updates to shared or global memory in a parallel context</a:t>
            </a: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altLang="zh-CN" dirty="0"/>
              <a:t>Image Source: https://arxiv.org/pdf/2504.17577v2</a:t>
            </a:r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6" name="图片 5" descr="post_object_image_3648617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608" y="1753314"/>
            <a:ext cx="8534400" cy="123825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TileLang: Schedule Annotations and Primitives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p>
            <a:r>
              <a:rPr lang="en-US" altLang="zh-CN"/>
              <a:t>TileLang provides a comprehensive suite of scheduling primitives</a:t>
            </a:r>
            <a:endParaRPr lang="en-US" altLang="zh-CN"/>
          </a:p>
          <a:p>
            <a:r>
              <a:rPr lang="en-US" altLang="zh-CN"/>
              <a:t>T.Pipelined: allows efficient pipelined execution of loops to improve performance</a:t>
            </a:r>
            <a:endParaRPr lang="en-US" altLang="zh-CN"/>
          </a:p>
          <a:p>
            <a:pPr lvl="1"/>
            <a:r>
              <a:rPr lang="en-US" altLang="zh-CN"/>
              <a:t>Overlapping computation and memory operations</a:t>
            </a:r>
            <a:endParaRPr lang="en-US" altLang="zh-CN"/>
          </a:p>
          <a:p>
            <a:pPr lvl="1"/>
            <a:endParaRPr lang="en-US" altLang="zh-CN"/>
          </a:p>
          <a:p>
            <a:pPr lvl="1"/>
            <a:endParaRPr lang="en-US" altLang="zh-CN"/>
          </a:p>
          <a:p>
            <a:pPr lvl="0"/>
            <a:endParaRPr lang="en-US" altLang="zh-CN"/>
          </a:p>
          <a:p>
            <a:pPr lvl="0"/>
            <a:r>
              <a:rPr lang="en-US" altLang="zh-CN"/>
              <a:t>T.Parallel: automatic parallelization of loops by mapping iterations to threads</a:t>
            </a:r>
            <a:endParaRPr lang="en-US" altLang="zh-CN"/>
          </a:p>
          <a:p>
            <a:pPr lvl="0"/>
            <a:r>
              <a:rPr lang="en-US" altLang="zh-CN"/>
              <a:t>T.annotate_layout: specify memory layout optimizations for shared or global memory</a:t>
            </a:r>
            <a:endParaRPr lang="en-US" altLang="zh-CN"/>
          </a:p>
          <a:p>
            <a:pPr lvl="0"/>
            <a:r>
              <a:rPr lang="en-US" altLang="zh-CN"/>
              <a:t>T.use_swizzle: Improves L2 cache locality by enabling swizzled memory accesses</a:t>
            </a: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altLang="zh-CN"/>
              <a:t>Image Source: https://arxiv.org/pdf/2504.17577v2</a:t>
            </a:r>
            <a:endParaRPr lang="en-US" altLang="zh-CN"/>
          </a:p>
        </p:txBody>
      </p:sp>
      <p:pic>
        <p:nvPicPr>
          <p:cNvPr id="6" name="图片 5" descr="post_object_image_20560293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078" y="2826633"/>
            <a:ext cx="7009363" cy="1204734"/>
          </a:xfrm>
          <a:prstGeom prst="rect">
            <a:avLst/>
          </a:prstGeom>
        </p:spPr>
      </p:pic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p>
            <a:r>
              <a:rPr lang="en-US" altLang="zh-CN"/>
              <a:t>General Flow</a:t>
            </a:r>
            <a:endParaRPr lang="en-US" altLang="zh-CN"/>
          </a:p>
          <a:p>
            <a:r>
              <a:rPr lang="en-US" altLang="zh-CN"/>
              <a:t>AI</a:t>
            </a:r>
            <a:r>
              <a:rPr lang="zh-CN" altLang="en-US"/>
              <a:t>-</a:t>
            </a:r>
            <a:r>
              <a:rPr lang="en-US" altLang="zh-CN"/>
              <a:t>DSL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charset="0"/>
              </a:rPr>
              <a:t> Design</a:t>
            </a:r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  <a:ea typeface="微软雅黑" charset="0"/>
            </a:endParaRPr>
          </a:p>
          <a:p>
            <a:r>
              <a:rPr lang="en-US" altLang="zh-CN" b="1"/>
              <a:t>Optimization Passes</a:t>
            </a:r>
            <a:endParaRPr lang="zh-CN" altLang="en-US" b="1"/>
          </a:p>
        </p:txBody>
      </p:sp>
      <p:sp>
        <p:nvSpPr>
          <p:cNvPr id="3" name="内容占位符 2"/>
          <p:cNvSpPr>
            <a:spLocks noGrp="1"/>
          </p:cNvSpPr>
          <p:nvPr>
            <p:ph sz="quarter" idx="1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Optimization Passes: MLIR </a:t>
            </a:r>
            <a:r>
              <a:rPr lang="en-US" altLang="en-US"/>
              <a:t> Architecture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p>
            <a:pPr>
              <a:lnSpc>
                <a:spcPct val="130000"/>
              </a:lnSpc>
            </a:pPr>
            <a:r>
              <a:rPr lang="en-US" altLang="zh-CN" sz="2000"/>
              <a:t>MLIR </a:t>
            </a:r>
            <a:r>
              <a:rPr lang="en-US" altLang="en-US" sz="2000"/>
              <a:t>A reusable, extensible open-source compilation infrastructure framework</a:t>
            </a:r>
            <a:endParaRPr lang="en-US" altLang="en-US" sz="2000"/>
          </a:p>
          <a:p>
            <a:pPr lvl="1">
              <a:lnSpc>
                <a:spcPct val="130000"/>
              </a:lnSpc>
            </a:pPr>
            <a:r>
              <a:rPr lang="en-US" altLang="en-US" sz="1800"/>
              <a:t>Addressing software fragmentation</a:t>
            </a:r>
            <a:endParaRPr lang="en-US" altLang="en-US" sz="1800"/>
          </a:p>
          <a:p>
            <a:pPr lvl="1">
              <a:lnSpc>
                <a:spcPct val="130000"/>
              </a:lnSpc>
            </a:pPr>
            <a:r>
              <a:rPr lang="en-US" altLang="en-US" sz="1800"/>
              <a:t>Support for compilation targeting heterogeneous hardware</a:t>
            </a:r>
            <a:endParaRPr lang="en-US" altLang="en-US" sz="1800"/>
          </a:p>
          <a:p>
            <a:pPr lvl="1">
              <a:lnSpc>
                <a:spcPct val="130000"/>
              </a:lnSpc>
            </a:pPr>
            <a:r>
              <a:rPr lang="en-US" altLang="en-US" sz="1800"/>
              <a:t>Reducing overhead for domain-specific compiler development</a:t>
            </a:r>
            <a:endParaRPr lang="en-US" altLang="en-US" sz="1800"/>
          </a:p>
          <a:p>
            <a:pPr lvl="1">
              <a:lnSpc>
                <a:spcPct val="130000"/>
              </a:lnSpc>
            </a:pPr>
            <a:r>
              <a:rPr lang="en-US" altLang="en-US" sz="1800"/>
              <a:t>Connecting existing various compilers</a:t>
            </a:r>
            <a:endParaRPr lang="en-US" altLang="en-US" sz="1800"/>
          </a:p>
          <a:p>
            <a:pPr lvl="0">
              <a:lnSpc>
                <a:spcPct val="130000"/>
              </a:lnSpc>
            </a:pPr>
            <a:r>
              <a:rPr lang="en-US" altLang="zh-CN" sz="2000"/>
              <a:t>MLIR</a:t>
            </a:r>
            <a:r>
              <a:rPr lang="en-US" altLang="en-US" sz="2000"/>
              <a:t>Why Can Solve the Problem</a:t>
            </a:r>
            <a:endParaRPr lang="en-US" altLang="en-US" sz="2000"/>
          </a:p>
          <a:p>
            <a:pPr lvl="1">
              <a:lnSpc>
                <a:spcPct val="130000"/>
              </a:lnSpc>
            </a:pPr>
            <a:r>
              <a:rPr lang="en-US" altLang="en-US" sz="1800"/>
              <a:t>Unified syntax, reusable components</a:t>
            </a:r>
            <a:endParaRPr lang="en-US" altLang="en-US" sz="1800"/>
          </a:p>
          <a:p>
            <a:pPr lvl="1">
              <a:lnSpc>
                <a:spcPct val="130000"/>
              </a:lnSpc>
            </a:pPr>
            <a:r>
              <a:rPr lang="en-US" altLang="en-US" sz="1800"/>
              <a:t>Shared ecosystem, coordinated optimization across levels</a:t>
            </a:r>
            <a:endParaRPr lang="en-US" altLang="en-US" sz="1800"/>
          </a:p>
          <a:p>
            <a:pPr lvl="1">
              <a:lnSpc>
                <a:spcPct val="130000"/>
              </a:lnSpc>
            </a:pPr>
            <a:r>
              <a:rPr lang="en-US" altLang="en-US" sz="1800"/>
              <a:t>Small gaps between levels, easy to implement</a:t>
            </a:r>
            <a:endParaRPr lang="en-US" altLang="en-US" sz="180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en-US" altLang="en-US" smtClean="0"/>
            </a:fld>
            <a:endParaRPr lang="en-US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0260" y="3429000"/>
            <a:ext cx="4686935" cy="204787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Optimization Passes: MLIR</a:t>
            </a:r>
            <a:r>
              <a:rPr lang="en-US" altLang="en-US"/>
              <a:t> Components</a:t>
            </a:r>
            <a:endParaRPr lang="en-US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523875" y="1323975"/>
            <a:ext cx="6319520" cy="4853305"/>
          </a:xfrm>
        </p:spPr>
        <p:txBody>
          <a:bodyPr>
            <a:normAutofit fontScale="90000"/>
          </a:bodyPr>
          <a:p>
            <a:r>
              <a:rPr lang="en-US" altLang="zh-CN"/>
              <a:t>Module</a:t>
            </a:r>
            <a:r>
              <a:rPr lang="en-US" altLang="en-US"/>
              <a:t>: </a:t>
            </a:r>
            <a:endParaRPr lang="en-US" altLang="en-US"/>
          </a:p>
          <a:p>
            <a:pPr lvl="1"/>
            <a:r>
              <a:rPr lang="en-US" altLang="en-US"/>
              <a:t>Top-level container encapsulating the entire compilation unit, isolating external variable scopes</a:t>
            </a:r>
            <a:r>
              <a:rPr lang="en-US" altLang="zh-CN"/>
              <a:t> </a:t>
            </a:r>
            <a:r>
              <a:rPr lang="en-US" altLang="en-US"/>
              <a:t>.</a:t>
            </a:r>
            <a:endParaRPr lang="en-US" altLang="en-US"/>
          </a:p>
          <a:p>
            <a:r>
              <a:rPr lang="en-US" altLang="zh-CN"/>
              <a:t>Region</a:t>
            </a:r>
            <a:r>
              <a:rPr lang="en-US" altLang="en-US"/>
              <a:t>: </a:t>
            </a:r>
            <a:endParaRPr lang="en-US" altLang="en-US"/>
          </a:p>
          <a:p>
            <a:pPr lvl="1"/>
            <a:r>
              <a:rPr lang="en-US" altLang="en-US"/>
              <a:t>Breaking through flat</a:t>
            </a:r>
            <a:r>
              <a:rPr lang="en-US" altLang="zh-CN"/>
              <a:t> CFG </a:t>
            </a:r>
            <a:r>
              <a:rPr lang="en-US" altLang="en-US"/>
              <a:t> limitations, preserving loops as</a:t>
            </a:r>
            <a:r>
              <a:rPr lang="en-US" altLang="zh-CN"/>
              <a:t>“</a:t>
            </a:r>
            <a:r>
              <a:rPr lang="en-US" altLang="en-US"/>
              <a:t>first-class citizens</a:t>
            </a:r>
            <a:r>
              <a:rPr lang="en-US" altLang="zh-CN"/>
              <a:t>”</a:t>
            </a:r>
            <a:r>
              <a:rPr lang="en-US" altLang="en-US"/>
              <a:t> in nested structures.</a:t>
            </a:r>
            <a:endParaRPr lang="en-US" altLang="zh-CN"/>
          </a:p>
          <a:p>
            <a:r>
              <a:rPr lang="en-US" altLang="zh-CN"/>
              <a:t>Block</a:t>
            </a:r>
            <a:r>
              <a:rPr lang="en-US" altLang="en-US"/>
              <a:t>: </a:t>
            </a:r>
            <a:endParaRPr lang="en-US" altLang="en-US"/>
          </a:p>
          <a:p>
            <a:pPr lvl="1"/>
            <a:r>
              <a:rPr lang="en-US" altLang="en-US"/>
              <a:t>Introducing</a:t>
            </a:r>
            <a:r>
              <a:rPr lang="en-US" altLang="zh-CN"/>
              <a:t>Block Arguments </a:t>
            </a:r>
            <a:r>
              <a:rPr lang="en-US" altLang="en-US"/>
              <a:t> avoiding traditional</a:t>
            </a:r>
            <a:r>
              <a:rPr lang="en-US" altLang="zh-CN"/>
              <a:t> LLVM </a:t>
            </a:r>
            <a:r>
              <a:rPr lang="en-US" altLang="en-US"/>
              <a:t> high-maintenance</a:t>
            </a:r>
            <a:r>
              <a:rPr lang="en-US" altLang="zh-CN"/>
              <a:t> PHI </a:t>
            </a:r>
            <a:r>
              <a:rPr lang="en-US" altLang="en-US"/>
              <a:t> nodes</a:t>
            </a:r>
            <a:endParaRPr lang="en-US" altLang="zh-CN"/>
          </a:p>
          <a:p>
            <a:r>
              <a:rPr lang="en-US" altLang="zh-CN"/>
              <a:t>Operation </a:t>
            </a:r>
            <a:r>
              <a:rPr lang="en-US" altLang="en-US"/>
              <a:t>and</a:t>
            </a:r>
            <a:r>
              <a:rPr lang="en-US" altLang="zh-CN"/>
              <a:t> Attribute</a:t>
            </a:r>
            <a:r>
              <a:rPr lang="en-US" altLang="en-US"/>
              <a:t>:</a:t>
            </a:r>
            <a:endParaRPr lang="en-US" altLang="en-US"/>
          </a:p>
          <a:p>
            <a:pPr lvl="1"/>
            <a:r>
              <a:rPr lang="en-US" altLang="en-US"/>
              <a:t>Highly unified opaque</a:t>
            </a:r>
            <a:r>
              <a:rPr lang="en-US" altLang="zh-CN"/>
              <a:t> API</a:t>
            </a:r>
            <a:r>
              <a:rPr lang="en-US" altLang="en-US"/>
              <a:t>, along with globally uniqued attribute dictionaries for representing constants.</a:t>
            </a:r>
            <a:endParaRPr lang="en-US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en-US" altLang="en-US" smtClean="0"/>
            </a:fld>
            <a:endParaRPr lang="en-US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8465" y="2320925"/>
            <a:ext cx="5307965" cy="263588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MLIR </a:t>
            </a:r>
            <a:r>
              <a:rPr lang="en-US" altLang="zh-CN"/>
              <a:t>Introduction</a:t>
            </a:r>
            <a:endParaRPr lang="en-US" altLang="zh-CN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/>
          <a:p>
            <a:r>
              <a:rPr lang="en-US"/>
              <a:t>MLIR</a:t>
            </a: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: 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A 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  <a:cs typeface="Arial" panose="02080604020202020204" pitchFamily="34" charset="0"/>
              </a:rPr>
              <a:t>Reusable Compilation Pipeline</a:t>
            </a:r>
            <a:endParaRPr lang="en-US"/>
          </a:p>
          <a:p>
            <a:pPr lvl="1"/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R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eusable</a:t>
            </a:r>
            <a:r>
              <a:rPr lang="en-US"/>
              <a:t> IR、Pass</a:t>
            </a:r>
            <a:endParaRPr lang="en-US"/>
          </a:p>
          <a:p>
            <a:pPr lvl="1"/>
            <a:r>
              <a:rPr lang="en-US" altLang="zh-CN"/>
              <a:t>Serialize/De</a:t>
            </a:r>
            <a:r>
              <a:rPr lang="zh-CN" altLang="en-US"/>
              <a:t>-</a:t>
            </a:r>
            <a:r>
              <a:rPr lang="en-US" altLang="zh-CN"/>
              <a:t>serialize System</a:t>
            </a:r>
            <a:endParaRPr lang="zh-CN" altLang="en-US"/>
          </a:p>
          <a:p>
            <a:pPr lvl="1"/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M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ultiple dailect can co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-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exist</a:t>
            </a:r>
            <a:endParaRPr lang="en-US"/>
          </a:p>
          <a:p>
            <a:r>
              <a:rPr lang="en-US"/>
              <a:t>MLIR  Dialect Translation Graph</a:t>
            </a:r>
            <a:endParaRPr lang="en-US"/>
          </a:p>
          <a:p>
            <a:pPr lvl="1"/>
            <a:r>
              <a:rPr lang="en-US" sz="2000"/>
              <a:t>Payload</a:t>
            </a:r>
            <a:r>
              <a:rPr lang="zh-CN" altLang="en-US" sz="2000"/>
              <a:t>：</a:t>
            </a:r>
            <a:r>
              <a:rPr lang="en-US" altLang="zh-CN" sz="2000"/>
              <a:t>Actual Operations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 (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+-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*/)</a:t>
            </a:r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  <a:ea typeface="微软雅黑" panose="020B0503020204020204" pitchFamily="34" charset="-122"/>
            </a:endParaRPr>
          </a:p>
          <a:p>
            <a:pPr lvl="1"/>
            <a:r>
              <a:rPr lang="en-US" sz="2000"/>
              <a:t>Structure</a:t>
            </a:r>
            <a:r>
              <a:rPr lang="zh-CN" altLang="en-US" sz="2000"/>
              <a:t>：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C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ontrol Flow; Function</a:t>
            </a:r>
            <a:endParaRPr lang="zh-CN" altLang="en-US" sz="2000"/>
          </a:p>
          <a:p>
            <a:pPr lvl="1"/>
            <a:r>
              <a:rPr lang="en-US" altLang="zh-CN" sz="2000"/>
              <a:t>Tensor</a:t>
            </a:r>
            <a:r>
              <a:rPr lang="zh-CN" altLang="en-US" sz="2000"/>
              <a:t>：</a:t>
            </a:r>
            <a:r>
              <a:rPr lang="en-US" altLang="zh-CN" sz="2000"/>
              <a:t>high level tensors</a:t>
            </a:r>
            <a:endParaRPr lang="zh-CN" altLang="en-US" sz="2000"/>
          </a:p>
          <a:p>
            <a:pPr lvl="1"/>
            <a:r>
              <a:rPr lang="en-US" altLang="zh-CN" sz="2000"/>
              <a:t>Buffer</a:t>
            </a:r>
            <a:r>
              <a:rPr lang="zh-CN" altLang="en-US" sz="2000"/>
              <a:t>：</a:t>
            </a:r>
            <a:r>
              <a:rPr lang="en-US" altLang="zh-CN" sz="2000"/>
              <a:t>low level pointers</a:t>
            </a:r>
            <a:endParaRPr lang="en-US"/>
          </a:p>
          <a:p>
            <a:pPr lvl="1"/>
            <a:endParaRPr lang="en-US"/>
          </a:p>
        </p:txBody>
      </p:sp>
      <p:pic>
        <p:nvPicPr>
          <p:cNvPr id="6" name="Picture 5" descr="MLIR Dialects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851160" y="1426899"/>
            <a:ext cx="7208520" cy="4825365"/>
          </a:xfrm>
          <a:prstGeom prst="rect">
            <a:avLst/>
          </a:prstGeom>
        </p:spPr>
      </p:pic>
      <p:sp>
        <p:nvSpPr>
          <p:cNvPr id="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Optimization Passes: TTIR</a:t>
            </a:r>
            <a:endParaRPr lang="en-US" altLang="zh-CN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p>
            <a:r>
              <a:rPr lang="en-US" altLang="zh-CN"/>
              <a:t>Triton </a:t>
            </a:r>
            <a:r>
              <a:rPr lang="en-US" altLang="zh-CN">
                <a:cs typeface="Arial" panose="02080604020202020204" pitchFamily="34" charset="0"/>
              </a:rPr>
              <a:t>lowering process</a:t>
            </a:r>
            <a:endParaRPr lang="en-US" altLang="zh-CN">
              <a:cs typeface="Arial" panose="02080604020202020204" pitchFamily="34" charset="0"/>
            </a:endParaRPr>
          </a:p>
          <a:p>
            <a:pPr lvl="1"/>
            <a:r>
              <a:rPr lang="en-US" altLang="zh-CN">
                <a:cs typeface="Arial" panose="02080604020202020204" pitchFamily="34" charset="0"/>
              </a:rPr>
              <a:t>Python Triton Kernel</a:t>
            </a:r>
            <a:endParaRPr lang="en-US" altLang="zh-CN">
              <a:cs typeface="Arial" panose="02080604020202020204" pitchFamily="34" charset="0"/>
            </a:endParaRPr>
          </a:p>
          <a:p>
            <a:pPr lvl="1"/>
            <a:r>
              <a:rPr lang="en-US" altLang="zh-CN">
                <a:cs typeface="Arial" panose="02080604020202020204" pitchFamily="34" charset="0"/>
              </a:rPr>
              <a:t>Triton Frontend (AST + JIT specialization)</a:t>
            </a:r>
            <a:endParaRPr lang="en-US" altLang="zh-CN">
              <a:cs typeface="Arial" panose="02080604020202020204" pitchFamily="34" charset="0"/>
            </a:endParaRPr>
          </a:p>
          <a:p>
            <a:pPr lvl="1"/>
            <a:r>
              <a:rPr lang="en-US" altLang="zh-CN">
                <a:cs typeface="Arial" panose="02080604020202020204" pitchFamily="34" charset="0"/>
              </a:rPr>
              <a:t>TTIR (Triton MLIR Dialect)</a:t>
            </a:r>
            <a:endParaRPr lang="en-US" altLang="zh-CN">
              <a:cs typeface="Arial" panose="02080604020202020204" pitchFamily="34" charset="0"/>
            </a:endParaRPr>
          </a:p>
          <a:p>
            <a:pPr lvl="1"/>
            <a:r>
              <a:rPr lang="en-US" altLang="zh-CN">
                <a:cs typeface="Arial" panose="02080604020202020204" pitchFamily="34" charset="0"/>
              </a:rPr>
              <a:t>TTGIR (Triton GPU Dialect)</a:t>
            </a:r>
            <a:endParaRPr lang="en-US" altLang="zh-CN">
              <a:cs typeface="Arial" panose="02080604020202020204" pitchFamily="34" charset="0"/>
            </a:endParaRPr>
          </a:p>
          <a:p>
            <a:pPr lvl="1"/>
            <a:r>
              <a:rPr lang="en-US" altLang="zh-CN">
                <a:cs typeface="Arial" panose="02080604020202020204" pitchFamily="34" charset="0"/>
              </a:rPr>
              <a:t> LLVM IR (NVVM Dialect)</a:t>
            </a:r>
            <a:endParaRPr lang="en-US" altLang="zh-CN">
              <a:cs typeface="Arial" panose="02080604020202020204" pitchFamily="34" charset="0"/>
            </a:endParaRPr>
          </a:p>
          <a:p>
            <a:pPr lvl="1"/>
            <a:r>
              <a:rPr lang="en-US" altLang="zh-CN">
                <a:cs typeface="Arial" panose="02080604020202020204" pitchFamily="34" charset="0"/>
              </a:rPr>
              <a:t>PTX</a:t>
            </a:r>
            <a:endParaRPr lang="en-US" altLang="zh-CN">
              <a:cs typeface="Arial" panose="02080604020202020204" pitchFamily="34" charset="0"/>
            </a:endParaRPr>
          </a:p>
          <a:p>
            <a:pPr lvl="1"/>
            <a:r>
              <a:rPr lang="en-US" altLang="zh-CN">
                <a:cs typeface="Arial" panose="02080604020202020204" pitchFamily="34" charset="0"/>
              </a:rPr>
              <a:t>SASS</a:t>
            </a:r>
            <a:endParaRPr lang="en-US" altLang="zh-CN">
              <a:cs typeface="Arial" panose="02080604020202020204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/>
        <p:txBody>
          <a:bodyPr/>
          <a:p>
            <a:r>
              <a:rPr lang="en-US" altLang="zh-CN"/>
              <a:t>Tensor-Level optimization passes (TTIR)</a:t>
            </a:r>
            <a:endParaRPr lang="en-US" altLang="zh-CN"/>
          </a:p>
          <a:p>
            <a:r>
              <a:rPr lang="en-US" altLang="zh-CN"/>
              <a:t>Canonicalization: simplifies IR by</a:t>
            </a:r>
            <a:endParaRPr lang="en-US" altLang="zh-CN"/>
          </a:p>
          <a:p>
            <a:pPr lvl="1"/>
            <a:r>
              <a:rPr lang="en-US" altLang="zh-CN"/>
              <a:t>constant folding</a:t>
            </a:r>
            <a:endParaRPr lang="en-US" altLang="zh-CN"/>
          </a:p>
          <a:p>
            <a:pPr lvl="1"/>
            <a:r>
              <a:rPr lang="en-US" altLang="zh-CN"/>
              <a:t>algebraic simplification</a:t>
            </a:r>
            <a:endParaRPr lang="en-US" altLang="zh-CN"/>
          </a:p>
          <a:p>
            <a:pPr lvl="1"/>
            <a:r>
              <a:rPr lang="en-US" altLang="zh-CN"/>
              <a:t>dead operation removal</a:t>
            </a:r>
            <a:endParaRPr lang="en-US" altLang="zh-CN"/>
          </a:p>
          <a:p>
            <a:pPr lvl="1"/>
            <a:r>
              <a:rPr lang="en-US" altLang="zh-CN"/>
              <a:t>redundant cast elimination</a:t>
            </a:r>
            <a:endParaRPr lang="en-US" altLang="zh-CN"/>
          </a:p>
          <a:p>
            <a:pPr lvl="0"/>
            <a:r>
              <a:rPr lang="en-US" altLang="zh-CN"/>
              <a:t>Layout Propagation</a:t>
            </a:r>
            <a:endParaRPr lang="en-US" altLang="zh-CN"/>
          </a:p>
          <a:p>
            <a:pPr lvl="1"/>
            <a:r>
              <a:rPr lang="en-US" altLang="zh-CN"/>
              <a:t>blocked layouts</a:t>
            </a:r>
            <a:endParaRPr lang="en-US" altLang="zh-CN"/>
          </a:p>
          <a:p>
            <a:pPr lvl="1"/>
            <a:r>
              <a:rPr lang="en-US" altLang="zh-CN"/>
              <a:t>shared layouts</a:t>
            </a:r>
            <a:endParaRPr lang="en-US" altLang="zh-CN"/>
          </a:p>
          <a:p>
            <a:pPr lvl="1"/>
            <a:r>
              <a:rPr lang="en-US" altLang="zh-CN"/>
              <a:t>sliced layouts</a:t>
            </a:r>
            <a:endParaRPr lang="en-US" alt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Optimization Passes: TTGIR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p>
            <a:r>
              <a:rPr lang="en-US" altLang="zh-CN"/>
              <a:t>GPU Mapping Passes</a:t>
            </a:r>
            <a:endParaRPr lang="en-US" altLang="zh-CN"/>
          </a:p>
          <a:p>
            <a:pPr lvl="1"/>
            <a:r>
              <a:rPr lang="en-US" altLang="zh-CN"/>
              <a:t>Lowering Tensor Programs onto GPU Execution Model</a:t>
            </a:r>
            <a:endParaRPr lang="en-US" altLang="zh-CN"/>
          </a:p>
          <a:p>
            <a:pPr lvl="0"/>
            <a:r>
              <a:rPr lang="en-US" altLang="zh-CN"/>
              <a:t>TTGIR introduces GPU hardware concepts absent from TTIR</a:t>
            </a:r>
            <a:endParaRPr lang="en-US" altLang="zh-CN"/>
          </a:p>
          <a:p>
            <a:pPr lvl="0"/>
            <a:r>
              <a:rPr lang="en-US" altLang="zh-CN"/>
              <a:t>Thread Mapping</a:t>
            </a:r>
            <a:endParaRPr lang="en-US" altLang="zh-CN"/>
          </a:p>
          <a:p>
            <a:pPr lvl="1"/>
            <a:r>
              <a:rPr lang="en-US" altLang="zh-CN"/>
              <a:t>Maps tensor tiles onto, programs, warps, lanes</a:t>
            </a:r>
            <a:endParaRPr lang="en-US" altLang="zh-CN"/>
          </a:p>
          <a:p>
            <a:pPr lvl="0"/>
            <a:r>
              <a:rPr lang="en-US" altLang="zh-CN"/>
              <a:t>Shared Memory Promotion</a:t>
            </a:r>
            <a:endParaRPr lang="en-US" altLang="zh-CN"/>
          </a:p>
          <a:p>
            <a:pPr lvl="1"/>
            <a:r>
              <a:rPr lang="en-US" altLang="zh-CN"/>
              <a:t>Frequently reused tensors</a:t>
            </a:r>
            <a:endParaRPr lang="en-US" altLang="zh-CN"/>
          </a:p>
          <a:p>
            <a:pPr lvl="1"/>
            <a:r>
              <a:rPr lang="en-US" altLang="zh-CN"/>
              <a:t>Global memory</a:t>
            </a:r>
            <a:r>
              <a:rPr lang="zh-CN" altLang="en-US"/>
              <a:t>-</a:t>
            </a:r>
            <a:r>
              <a:rPr lang="en-US" altLang="zh-CN"/>
              <a:t>&gt;shared memory</a:t>
            </a:r>
            <a:endParaRPr lang="en-US" altLang="zh-CN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/>
        <p:txBody>
          <a:bodyPr>
            <a:normAutofit lnSpcReduction="10000"/>
          </a:bodyPr>
          <a:p>
            <a:r>
              <a:rPr lang="en-US" altLang="zh-CN"/>
              <a:t>Software Pipelining</a:t>
            </a:r>
            <a:endParaRPr lang="en-US" altLang="zh-CN"/>
          </a:p>
          <a:p>
            <a:pPr lvl="1"/>
            <a:r>
              <a:rPr lang="en-US" altLang="zh-CN"/>
              <a:t>overlap memory latency</a:t>
            </a:r>
            <a:endParaRPr lang="en-US" altLang="zh-CN"/>
          </a:p>
          <a:p>
            <a:pPr lvl="1"/>
            <a:r>
              <a:rPr lang="en-US" altLang="zh-CN"/>
              <a:t>controlled by num_stages</a:t>
            </a:r>
            <a:endParaRPr lang="en-US" altLang="zh-CN"/>
          </a:p>
          <a:p>
            <a:pPr lvl="1"/>
            <a:r>
              <a:rPr lang="en-US" altLang="zh-CN"/>
              <a:t>Reschedule can help enhance efficiency</a:t>
            </a:r>
            <a:endParaRPr lang="en-US" altLang="zh-CN"/>
          </a:p>
          <a:p>
            <a:pPr lvl="1"/>
            <a:endParaRPr lang="en-US" altLang="zh-CN"/>
          </a:p>
          <a:p>
            <a:pPr lvl="1"/>
            <a:endParaRPr lang="en-US" altLang="zh-CN"/>
          </a:p>
          <a:p>
            <a:pPr lvl="1"/>
            <a:endParaRPr lang="en-US" altLang="zh-CN"/>
          </a:p>
          <a:p>
            <a:pPr lvl="0"/>
            <a:r>
              <a:rPr lang="en-US" altLang="zh-CN"/>
              <a:t>Block Tiling</a:t>
            </a:r>
            <a:endParaRPr lang="en-US" altLang="zh-CN"/>
          </a:p>
          <a:p>
            <a:pPr lvl="1"/>
            <a:r>
              <a:rPr lang="en-US" altLang="zh-CN"/>
              <a:t>MxN matrix -&gt; BLOCK_M × BLOCK_N tiles</a:t>
            </a:r>
            <a:endParaRPr lang="en-US" altLang="zh-CN"/>
          </a:p>
          <a:p>
            <a:pPr lvl="1"/>
            <a:r>
              <a:rPr lang="en-US" altLang="zh-CN"/>
              <a:t>Specified/autotuned by python triton kernel</a:t>
            </a:r>
            <a:endParaRPr lang="en-US" altLang="zh-CN"/>
          </a:p>
          <a:p>
            <a:pPr lvl="0"/>
            <a:endParaRPr lang="en-US" altLang="zh-CN"/>
          </a:p>
          <a:p>
            <a:pPr lvl="1"/>
            <a:endParaRPr lang="en-US" altLang="zh-CN"/>
          </a:p>
          <a:p>
            <a:pPr lvl="1"/>
            <a:endParaRPr lang="en-US" altLang="zh-CN"/>
          </a:p>
          <a:p>
            <a:pPr lvl="0"/>
            <a:endParaRPr lang="en-US" alt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6894830" y="3076575"/>
            <a:ext cx="3115945" cy="793651"/>
          </a:xfrm>
          <a:prstGeom prst="rect">
            <a:avLst/>
          </a:prstGeom>
          <a:solidFill>
            <a:schemeClr val="bg1">
              <a:alpha val="100000"/>
            </a:schemeClr>
          </a:solidFill>
          <a:ln>
            <a:solidFill>
              <a:srgbClr val="000000">
                <a:alpha val="100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en-US" altLang="zh-CN">
                <a:solidFill>
                  <a:srgbClr val="000000"/>
                </a:solidFill>
              </a:rPr>
              <a:t>Load(k+1)</a:t>
            </a:r>
            <a:endParaRPr lang="en-US" altLang="zh-CN">
              <a:solidFill>
                <a:srgbClr val="000000"/>
              </a:solidFill>
            </a:endParaRPr>
          </a:p>
          <a:p>
            <a:pPr algn="ctr"/>
            <a:r>
              <a:rPr lang="en-US" altLang="zh-CN">
                <a:solidFill>
                  <a:srgbClr val="000000"/>
                </a:solidFill>
              </a:rPr>
              <a:t>Compute(k)</a:t>
            </a:r>
            <a:endParaRPr lang="en-US" altLang="zh-CN">
              <a:solidFill>
                <a:srgbClr val="000000"/>
              </a:solidFill>
            </a:endParaRPr>
          </a:p>
          <a:p>
            <a:pPr algn="ctr"/>
            <a:r>
              <a:rPr lang="en-US" altLang="zh-CN">
                <a:solidFill>
                  <a:srgbClr val="000000"/>
                </a:solidFill>
              </a:rPr>
              <a:t>Store(k−1)</a:t>
            </a:r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Optimization Passes: TTGIR</a:t>
            </a:r>
            <a:endParaRPr lang="en-US" altLang="zh-CN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p>
            <a:r>
              <a:rPr lang="en-US" altLang="zh-CN"/>
              <a:t>Warp-level optimization</a:t>
            </a:r>
            <a:endParaRPr lang="en-US" altLang="zh-CN"/>
          </a:p>
          <a:p>
            <a:pPr lvl="1"/>
            <a:r>
              <a:rPr lang="en-US" altLang="zh-CN"/>
              <a:t>warp shuffle</a:t>
            </a:r>
            <a:endParaRPr lang="en-US" altLang="zh-CN"/>
          </a:p>
          <a:p>
            <a:pPr lvl="1"/>
            <a:r>
              <a:rPr lang="en-US" altLang="zh-CN"/>
              <a:t>warp reduction</a:t>
            </a:r>
            <a:endParaRPr lang="en-US" altLang="zh-CN"/>
          </a:p>
          <a:p>
            <a:pPr lvl="1"/>
            <a:r>
              <a:rPr lang="en-US" altLang="zh-CN"/>
              <a:t>warp synchronization</a:t>
            </a:r>
            <a:endParaRPr lang="en-US" altLang="zh-CN"/>
          </a:p>
          <a:p>
            <a:pPr lvl="0"/>
            <a:r>
              <a:rPr lang="en-US" altLang="zh-CN"/>
              <a:t>Memory coalescing</a:t>
            </a:r>
            <a:endParaRPr lang="en-US" altLang="zh-CN"/>
          </a:p>
          <a:p>
            <a:pPr lvl="1"/>
            <a:r>
              <a:rPr lang="en-US" altLang="zh-CN"/>
              <a:t>Transforms scattered accesses into contiguous memory transactions</a:t>
            </a:r>
            <a:endParaRPr lang="en-US" altLang="zh-CN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/>
        <p:txBody>
          <a:bodyPr/>
          <a:p>
            <a:r>
              <a:rPr lang="en-US" altLang="zh-CN"/>
              <a:t>Vectorization</a:t>
            </a:r>
            <a:endParaRPr lang="en-US" altLang="zh-CN"/>
          </a:p>
          <a:p>
            <a:pPr lvl="1"/>
            <a:r>
              <a:rPr lang="en-US" altLang="zh-CN"/>
              <a:t>improving memory bandwidth</a:t>
            </a:r>
            <a:endParaRPr lang="en-US" altLang="zh-CN"/>
          </a:p>
          <a:p>
            <a:pPr lvl="1"/>
            <a:r>
              <a:rPr lang="en-US" altLang="zh-CN"/>
              <a:t>load f32</a:t>
            </a:r>
            <a:r>
              <a:rPr lang="zh-CN" altLang="en-US"/>
              <a:t>-</a:t>
            </a:r>
            <a:r>
              <a:rPr lang="en-US" altLang="zh-CN"/>
              <a:t>&gt;load.v4.f32</a:t>
            </a:r>
            <a:endParaRPr lang="en-US" altLang="zh-CN"/>
          </a:p>
          <a:p>
            <a:pPr lvl="0"/>
            <a:r>
              <a:rPr lang="en-US" altLang="zh-CN"/>
              <a:t>Tensor core pattern recognition</a:t>
            </a:r>
            <a:endParaRPr lang="en-US" altLang="zh-CN"/>
          </a:p>
          <a:p>
            <a:pPr lvl="1"/>
            <a:r>
              <a:rPr lang="en-US" altLang="zh-CN"/>
              <a:t>Detects matrix multiply patterns</a:t>
            </a:r>
            <a:endParaRPr lang="en-US" altLang="zh-CN"/>
          </a:p>
          <a:p>
            <a:pPr lvl="1"/>
            <a:r>
              <a:rPr lang="en-US" altLang="zh-CN"/>
              <a:t>lower to mma.sync</a:t>
            </a:r>
            <a:endParaRPr lang="en-US" altLang="zh-CN"/>
          </a:p>
          <a:p>
            <a:pPr lvl="1"/>
            <a:endParaRPr lang="en-US" alt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741693" y="4327122"/>
            <a:ext cx="1795923" cy="1607499"/>
          </a:xfrm>
          <a:prstGeom prst="rect">
            <a:avLst/>
          </a:prstGeom>
          <a:solidFill>
            <a:schemeClr val="bg1">
              <a:alpha val="100000"/>
            </a:schemeClr>
          </a:solidFill>
          <a:ln>
            <a:solidFill>
              <a:srgbClr val="000000">
                <a:alpha val="100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en-US" altLang="zh-CN">
                <a:solidFill>
                  <a:srgbClr val="000000"/>
                </a:solidFill>
              </a:rPr>
              <a:t>Thread</a:t>
            </a:r>
            <a:endParaRPr lang="en-US" altLang="zh-CN">
              <a:solidFill>
                <a:srgbClr val="000000"/>
              </a:solidFill>
            </a:endParaRPr>
          </a:p>
          <a:p>
            <a:pPr algn="ctr"/>
            <a:r>
              <a:rPr lang="en-US" altLang="zh-CN">
                <a:solidFill>
                  <a:srgbClr val="000000"/>
                </a:solidFill>
              </a:rPr>
              <a:t>0 -&gt; A0</a:t>
            </a:r>
            <a:endParaRPr lang="en-US" altLang="zh-CN">
              <a:solidFill>
                <a:srgbClr val="000000"/>
              </a:solidFill>
            </a:endParaRPr>
          </a:p>
          <a:p>
            <a:pPr algn="ctr"/>
            <a:r>
              <a:rPr lang="en-US" altLang="zh-CN">
                <a:solidFill>
                  <a:srgbClr val="000000"/>
                </a:solidFill>
              </a:rPr>
              <a:t>1 -&gt; A64</a:t>
            </a:r>
            <a:endParaRPr lang="en-US" altLang="zh-CN">
              <a:solidFill>
                <a:srgbClr val="000000"/>
              </a:solidFill>
            </a:endParaRPr>
          </a:p>
          <a:p>
            <a:pPr algn="ctr"/>
            <a:r>
              <a:rPr lang="en-US" altLang="zh-CN">
                <a:solidFill>
                  <a:srgbClr val="000000"/>
                </a:solidFill>
              </a:rPr>
              <a:t>2 -&gt; A3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3330087" y="4327091"/>
            <a:ext cx="1795923" cy="1607499"/>
          </a:xfrm>
          <a:prstGeom prst="rect">
            <a:avLst/>
          </a:prstGeom>
          <a:solidFill>
            <a:schemeClr val="bg1">
              <a:alpha val="100000"/>
            </a:schemeClr>
          </a:solidFill>
          <a:ln>
            <a:solidFill>
              <a:srgbClr val="000000">
                <a:alpha val="100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en-US" altLang="zh-CN">
                <a:solidFill>
                  <a:srgbClr val="000000"/>
                </a:solidFill>
              </a:rPr>
              <a:t>Thread</a:t>
            </a:r>
            <a:endParaRPr lang="en-US" altLang="zh-CN">
              <a:solidFill>
                <a:srgbClr val="000000"/>
              </a:solidFill>
            </a:endParaRPr>
          </a:p>
          <a:p>
            <a:pPr algn="ctr"/>
            <a:r>
              <a:rPr lang="en-US" altLang="zh-CN">
                <a:solidFill>
                  <a:srgbClr val="000000"/>
                </a:solidFill>
              </a:rPr>
              <a:t>0 -&gt; A0</a:t>
            </a:r>
            <a:endParaRPr lang="en-US" altLang="zh-CN">
              <a:solidFill>
                <a:srgbClr val="000000"/>
              </a:solidFill>
            </a:endParaRPr>
          </a:p>
          <a:p>
            <a:pPr algn="ctr"/>
            <a:r>
              <a:rPr lang="en-US" altLang="zh-CN">
                <a:solidFill>
                  <a:srgbClr val="000000"/>
                </a:solidFill>
              </a:rPr>
              <a:t>1 -&gt; A1</a:t>
            </a:r>
            <a:endParaRPr lang="en-US" altLang="zh-CN">
              <a:solidFill>
                <a:srgbClr val="000000"/>
              </a:solidFill>
            </a:endParaRPr>
          </a:p>
          <a:p>
            <a:pPr algn="ctr"/>
            <a:r>
              <a:rPr lang="en-US" altLang="zh-CN">
                <a:solidFill>
                  <a:srgbClr val="000000"/>
                </a:solidFill>
              </a:rPr>
              <a:t>2 -&gt; A2</a:t>
            </a:r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Optimization Passes: LLVM</a:t>
            </a:r>
            <a:endParaRPr lang="en-US" altLang="zh-CN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20000"/>
          </a:bodyPr>
          <a:p>
            <a:pPr lvl="0"/>
            <a:r>
              <a:rPr lang="en-US" altLang="zh-CN"/>
              <a:t>LLVM no longer sees tensors</a:t>
            </a:r>
            <a:endParaRPr lang="en-US" altLang="zh-CN"/>
          </a:p>
          <a:p>
            <a:pPr lvl="1"/>
            <a:r>
              <a:rPr lang="en-US" altLang="zh-CN"/>
              <a:t>SSA values</a:t>
            </a:r>
            <a:endParaRPr lang="en-US" altLang="zh-CN"/>
          </a:p>
          <a:p>
            <a:pPr lvl="1"/>
            <a:r>
              <a:rPr lang="en-US" altLang="zh-CN"/>
              <a:t>basic blocks</a:t>
            </a:r>
            <a:endParaRPr lang="en-US" altLang="zh-CN"/>
          </a:p>
          <a:p>
            <a:pPr lvl="1"/>
            <a:r>
              <a:rPr lang="en-US" altLang="zh-CN"/>
              <a:t>scalar instructions</a:t>
            </a:r>
            <a:endParaRPr lang="en-US" altLang="zh-CN"/>
          </a:p>
          <a:p>
            <a:pPr lvl="0"/>
            <a:r>
              <a:rPr lang="en-US" altLang="zh-CN"/>
              <a:t>mem2reg</a:t>
            </a:r>
            <a:endParaRPr lang="en-US" altLang="zh-CN"/>
          </a:p>
          <a:p>
            <a:pPr lvl="1"/>
            <a:r>
              <a:rPr lang="en-US" altLang="zh-CN"/>
              <a:t>Promotes stack variables into registers</a:t>
            </a:r>
            <a:endParaRPr lang="en-US" altLang="zh-CN"/>
          </a:p>
          <a:p>
            <a:pPr lvl="0"/>
            <a:r>
              <a:rPr lang="en-US" altLang="zh-CN"/>
              <a:t>Instruction Combining</a:t>
            </a:r>
            <a:endParaRPr lang="en-US" altLang="zh-CN"/>
          </a:p>
          <a:p>
            <a:pPr lvl="1"/>
            <a:r>
              <a:rPr lang="en-US" altLang="zh-CN"/>
              <a:t>(a+b)+c  </a:t>
            </a:r>
            <a:r>
              <a:rPr lang="zh-CN" altLang="en-US"/>
              <a:t>-</a:t>
            </a:r>
            <a:r>
              <a:rPr lang="en-US" altLang="zh-CN"/>
              <a:t>&gt; a+(b+c)</a:t>
            </a:r>
            <a:endParaRPr lang="en-US" altLang="zh-CN"/>
          </a:p>
          <a:p>
            <a:pPr lvl="1"/>
            <a:r>
              <a:rPr lang="en-US" altLang="zh-CN"/>
              <a:t>mul(x,2) </a:t>
            </a:r>
            <a:r>
              <a:rPr lang="zh-CN" altLang="en-US"/>
              <a:t>-</a:t>
            </a:r>
            <a:r>
              <a:rPr lang="en-US" altLang="zh-CN"/>
              <a:t>&gt; shift</a:t>
            </a:r>
            <a:endParaRPr lang="en-US" altLang="zh-CN"/>
          </a:p>
          <a:p>
            <a:pPr lvl="0"/>
            <a:r>
              <a:rPr lang="en-US" altLang="zh-CN"/>
              <a:t>Global Value Numbering</a:t>
            </a:r>
            <a:endParaRPr lang="en-US" altLang="zh-CN"/>
          </a:p>
          <a:p>
            <a:pPr lvl="1"/>
            <a:r>
              <a:rPr lang="en-US" altLang="zh-CN"/>
              <a:t>Eliminates redundant computations across control flow</a:t>
            </a:r>
            <a:endParaRPr lang="en-US" altLang="zh-CN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/>
        <p:txBody>
          <a:bodyPr/>
          <a:p>
            <a:pPr lvl="0"/>
            <a:r>
              <a:rPr lang="en-US" altLang="zh-CN"/>
              <a:t>Loop-Invariant code motion</a:t>
            </a:r>
            <a:endParaRPr lang="en-US" altLang="zh-CN"/>
          </a:p>
          <a:p>
            <a:pPr lvl="1"/>
            <a:r>
              <a:rPr lang="en-US" altLang="zh-CN"/>
              <a:t>Moves invariant computations outside loops</a:t>
            </a:r>
            <a:endParaRPr lang="en-US" altLang="zh-CN"/>
          </a:p>
          <a:p>
            <a:pPr lvl="0"/>
            <a:r>
              <a:rPr lang="en-US" altLang="zh-CN"/>
              <a:t>Register allocation</a:t>
            </a:r>
            <a:endParaRPr lang="en-US" altLang="zh-CN"/>
          </a:p>
          <a:p>
            <a:pPr lvl="1"/>
            <a:r>
              <a:rPr lang="en-US" altLang="zh-CN"/>
              <a:t>Assigns virtual registers to physical GPU registers</a:t>
            </a:r>
            <a:endParaRPr lang="en-US" altLang="zh-CN"/>
          </a:p>
          <a:p>
            <a:pPr lvl="0"/>
            <a:r>
              <a:rPr lang="en-US" altLang="zh-CN"/>
              <a:t>LLVM performs classical compiler optimizations independent of machine learning</a:t>
            </a:r>
            <a:endParaRPr lang="en-US" alt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Optimization Passes: Parameter and Effect</a:t>
            </a:r>
            <a:endParaRPr lang="en-US" altLang="zh-CN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p>
            <a:r>
              <a:rPr lang="en-US" altLang="zh-CN"/>
              <a:t>Relating kernel parameters to compiler decisions</a:t>
            </a:r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graphicFrame>
        <p:nvGraphicFramePr>
          <p:cNvPr id="6" name="Table 5"/>
          <p:cNvGraphicFramePr/>
          <p:nvPr/>
        </p:nvGraphicFramePr>
        <p:xfrm>
          <a:off x="998953" y="1874927"/>
          <a:ext cx="6400800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33600"/>
                <a:gridCol w="2133600"/>
                <a:gridCol w="2133600"/>
              </a:tblGrid>
              <a:tr h="3810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/>
                        <a:t>Parameter</a:t>
                      </a:r>
                      <a:endParaRPr lang="zh-CN" altLang="en-US"/>
                    </a:p>
                  </a:txBody>
                  <a:tcPr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/>
                        <a:t>Compiler Pass</a:t>
                      </a:r>
                      <a:endParaRPr lang="zh-CN" altLang="en-US"/>
                    </a:p>
                  </a:txBody>
                  <a:tcPr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/>
                        <a:t>Effect</a:t>
                      </a:r>
                      <a:endParaRPr lang="zh-CN" altLang="en-US"/>
                    </a:p>
                  </a:txBody>
                  <a:tcPr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zh-CN"/>
                        <a:t>BLOCK_M/N/K</a:t>
                      </a:r>
                      <a:endParaRPr lang="zh-CN" altLang="en-US"/>
                    </a:p>
                  </a:txBody>
                  <a:tcPr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zh-CN"/>
                        <a:t>Tile Formation</a:t>
                      </a:r>
                      <a:endParaRPr lang="zh-CN" altLang="en-US"/>
                    </a:p>
                  </a:txBody>
                  <a:tcPr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zh-CN"/>
                        <a:t>Tile size</a:t>
                      </a:r>
                      <a:endParaRPr lang="zh-CN" altLang="en-US"/>
                    </a:p>
                  </a:txBody>
                  <a:tcPr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zh-CN"/>
                        <a:t>num_warps</a:t>
                      </a:r>
                      <a:endParaRPr lang="zh-CN" altLang="en-US"/>
                    </a:p>
                  </a:txBody>
                  <a:tcPr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zh-CN"/>
                        <a:t>Thread Mapping</a:t>
                      </a:r>
                      <a:endParaRPr lang="zh-CN" altLang="en-US"/>
                    </a:p>
                  </a:txBody>
                  <a:tcPr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zh-CN"/>
                        <a:t>Warp decomposition</a:t>
                      </a:r>
                      <a:endParaRPr lang="zh-CN" altLang="en-US"/>
                    </a:p>
                  </a:txBody>
                  <a:tcPr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zh-CN"/>
                        <a:t>num_stages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zh-CN"/>
                        <a:t>Software Pipelining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zh-CN"/>
                        <a:t>Latency hiding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zh-CN"/>
                        <a:t>Grid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zh-CN"/>
                        <a:t>Program Scheduling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zh-CN"/>
                        <a:t>CTA generation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zh-CN"/>
                        <a:t>dtype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zh-CN"/>
                        <a:t>Instruction Selection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zh-CN"/>
                        <a:t>Tensor Core eligibility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COMMONDATA" val="eyJoZGlkIjoiMGVjMjNiN2ZkZTMzMDA4ZWE3OTY1NzI2MTg5NDIzY2IifQ=="/>
  <p:tag name="KSO_WPP_MARK_KEY" val="bcc4c946-421a-4a56-a7c9-e84bf867b565"/>
</p:tagLst>
</file>

<file path=ppt/theme/theme1.xml><?xml version="1.0" encoding="utf-8"?>
<a:theme xmlns:a="http://schemas.openxmlformats.org/drawingml/2006/main" name="封面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-Times New Roman">
      <a:majorFont>
        <a:latin typeface="Arial"/>
        <a:ea typeface="微软雅黑"/>
        <a:cs typeface="Arial"/>
        <a:font script="Jpan" typeface="ＭＳ Ｐゴシック"/>
        <a:font script="Hang" typeface="굴림"/>
        <a:font script="Hans" typeface="微软雅黑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微软雅黑"/>
        <a:cs typeface="Arial"/>
        <a:font script="Jpan" typeface="ＭＳ Ｐ明朝"/>
        <a:font script="Hang" typeface="바탕"/>
        <a:font script="Hans" typeface="微软雅黑"/>
        <a:font script="Hant" typeface="微軟正黑體"/>
        <a:font script="Arab" typeface="Arial"/>
        <a:font script="Hebr" typeface="Arial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内容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+Arial">
      <a:majorFont>
        <a:latin typeface="Arial"/>
        <a:ea typeface="微软雅黑"/>
        <a:cs typeface="Arial"/>
      </a:majorFont>
      <a:minorFont>
        <a:latin typeface="Arial"/>
        <a:ea typeface="微软雅黑"/>
        <a:cs typeface="Arial"/>
      </a:minorFont>
    </a:fontScheme>
    <a:fmtScheme name="极端阴影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微软雅黑"/>
        <a:cs typeface="Arial"/>
        <a:font script="Jpan" typeface="Yu Gothic Light"/>
        <a:font script="Hang" typeface="맑은 고딕"/>
        <a:font script="Hans" typeface="微软雅黑"/>
        <a:font script="Hant" typeface="微軟正黑體"/>
        <a:font script="Arab" typeface="Arial"/>
        <a:font script="Hebr" typeface="Arial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微软雅黑"/>
        <a:cs typeface="Arial"/>
        <a:font script="Jpan" typeface="Yu Gothic"/>
        <a:font script="Hang" typeface="맑은 고딕"/>
        <a:font script="Hans" typeface="微软雅黑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微软雅黑"/>
        <a:cs typeface="Arial"/>
        <a:font script="Jpan" typeface="游ゴシック Light"/>
        <a:font script="Hang" typeface="맑은 고딕"/>
        <a:font script="Hans" typeface="微软雅黑"/>
        <a:font script="Hant" typeface="微軟正黑體"/>
        <a:font script="Arab" typeface="Arial"/>
        <a:font script="Hebr" typeface="Arial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微软雅黑"/>
        <a:cs typeface="Arial"/>
        <a:font script="Jpan" typeface="游ゴシック"/>
        <a:font script="Hang" typeface="맑은 고딕"/>
        <a:font script="Hans" typeface="微软雅黑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15781</Words>
  <Application>WPS 演示</Application>
  <PresentationFormat>宽屏</PresentationFormat>
  <Paragraphs>658</Paragraphs>
  <Slides>34</Slides>
  <Notes>8</Notes>
  <HiddenSlides>3</HiddenSlides>
  <MMClips>1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34</vt:i4>
      </vt:variant>
    </vt:vector>
  </HeadingPairs>
  <TitlesOfParts>
    <vt:vector size="49" baseType="lpstr">
      <vt:lpstr>Arial</vt:lpstr>
      <vt:lpstr>宋体</vt:lpstr>
      <vt:lpstr>Wingdings</vt:lpstr>
      <vt:lpstr>Calibri</vt:lpstr>
      <vt:lpstr>Noto Naskh Arabic</vt:lpstr>
      <vt:lpstr>微软雅黑</vt:lpstr>
      <vt:lpstr>文泉驿微米黑</vt:lpstr>
      <vt:lpstr>Source Sans Pro SemiBold</vt:lpstr>
      <vt:lpstr>微软雅黑</vt:lpstr>
      <vt:lpstr>宋体</vt:lpstr>
      <vt:lpstr>Arial Unicode MS</vt:lpstr>
      <vt:lpstr>Emoji icon</vt:lpstr>
      <vt:lpstr>HarmonyOS Sans SC Light</vt:lpstr>
      <vt:lpstr>封面</vt:lpstr>
      <vt:lpstr>内容</vt:lpstr>
      <vt:lpstr>AI Compiler: Basics and Optimizations</vt:lpstr>
      <vt:lpstr>PowerPoint 演示文稿</vt:lpstr>
      <vt:lpstr>PowerPoint 演示文稿</vt:lpstr>
      <vt:lpstr>General Flow: Compilation Procedure</vt:lpstr>
      <vt:lpstr>General Flow: Computation Graph</vt:lpstr>
      <vt:lpstr>General Flow: Computation Graph</vt:lpstr>
      <vt:lpstr>General Flow: Graph Optimization</vt:lpstr>
      <vt:lpstr>General Flow: Graph Optimization</vt:lpstr>
      <vt:lpstr>General Flow: Graph Optimization</vt:lpstr>
      <vt:lpstr>General Flow: torch.compile</vt:lpstr>
      <vt:lpstr>General Flow: torch.compile</vt:lpstr>
      <vt:lpstr>General Flow: TorchDynamo Overview</vt:lpstr>
      <vt:lpstr>General Flow: TorchDynamo Example</vt:lpstr>
      <vt:lpstr>General Flow：TorchInductor</vt:lpstr>
      <vt:lpstr>PowerPoint 演示文稿</vt:lpstr>
      <vt:lpstr>AI-DSL Design: Why DSL?</vt:lpstr>
      <vt:lpstr>AI-DSL Design: How to Design DSL</vt:lpstr>
      <vt:lpstr>AI-DSL Design：Triton</vt:lpstr>
      <vt:lpstr>AI-DSL Design：Triton</vt:lpstr>
      <vt:lpstr>AI-DSL Design：Triton</vt:lpstr>
      <vt:lpstr>AI-DSL Design: TileLang</vt:lpstr>
      <vt:lpstr>AI-DSL Design: TileLang</vt:lpstr>
      <vt:lpstr>AI-DSL: TileLang</vt:lpstr>
      <vt:lpstr>AI-DSL: TileLang</vt:lpstr>
      <vt:lpstr>TileLang: Schedule Annotations and Primitives</vt:lpstr>
      <vt:lpstr>PowerPoint 演示文稿</vt:lpstr>
      <vt:lpstr>Optimization Passes: MLIR  Architecture</vt:lpstr>
      <vt:lpstr>Optimization Passes: MLIR Components</vt:lpstr>
      <vt:lpstr>MLIR Introduction</vt:lpstr>
      <vt:lpstr>Optimization Passes: TTIR</vt:lpstr>
      <vt:lpstr>Optimization Passes: TTGIR</vt:lpstr>
      <vt:lpstr>Optimization Passes: TTGIR</vt:lpstr>
      <vt:lpstr>Optimization Passes: LLVM</vt:lpstr>
      <vt:lpstr>Optimization Passes: Parameter and Effect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Compiler: Basics and Optimizations</dc:title>
  <dc:creator>王丰</dc:creator>
  <cp:lastModifiedBy>hsl</cp:lastModifiedBy>
  <cp:revision>16</cp:revision>
  <dcterms:created xsi:type="dcterms:W3CDTF">2026-08-06T01:42:45Z</dcterms:created>
  <dcterms:modified xsi:type="dcterms:W3CDTF">2026-08-06T01:42:45Z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F7191C2708FD07F82CD87F6915CBD24F_43</vt:lpwstr>
  </property>
  <property fmtid="{D5CDD505-2E9C-101B-9397-08002B2CF9AE}" pid="3" name="KSOProductBuildVer">
    <vt:lpwstr>2052-12.8.2.14769</vt:lpwstr>
  </property>
</Properties>
</file>