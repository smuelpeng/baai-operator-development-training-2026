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3.svg" ContentType="image/svg+xml"/>
  <Override PartName="/ppt/media/image33.svg" ContentType="image/svg+xml"/>
  <Override PartName="/ppt/media/image35.svg" ContentType="image/svg+xml"/>
  <Override PartName="/ppt/media/image3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7"/>
  </p:notesMasterIdLst>
  <p:handoutMasterIdLst>
    <p:handoutMasterId r:id="rId43"/>
  </p:handoutMasterIdLst>
  <p:sldIdLst>
    <p:sldId id="1928" r:id="rId4"/>
    <p:sldId id="1930" r:id="rId5"/>
    <p:sldId id="1934" r:id="rId6"/>
    <p:sldId id="1935" r:id="rId8"/>
    <p:sldId id="1936" r:id="rId9"/>
    <p:sldId id="1942" r:id="rId10"/>
    <p:sldId id="1943" r:id="rId11"/>
    <p:sldId id="1944" r:id="rId12"/>
    <p:sldId id="1971" r:id="rId13"/>
    <p:sldId id="1970" r:id="rId14"/>
    <p:sldId id="1937" r:id="rId15"/>
    <p:sldId id="1941" r:id="rId16"/>
    <p:sldId id="1945" r:id="rId17"/>
    <p:sldId id="1946" r:id="rId18"/>
    <p:sldId id="1947" r:id="rId19"/>
    <p:sldId id="1948" r:id="rId20"/>
    <p:sldId id="1949" r:id="rId21"/>
    <p:sldId id="1961" r:id="rId22"/>
    <p:sldId id="1950" r:id="rId23"/>
    <p:sldId id="1938" r:id="rId24"/>
    <p:sldId id="1951" r:id="rId25"/>
    <p:sldId id="1959" r:id="rId26"/>
    <p:sldId id="1953" r:id="rId27"/>
    <p:sldId id="1954" r:id="rId28"/>
    <p:sldId id="1955" r:id="rId29"/>
    <p:sldId id="1969" r:id="rId30"/>
    <p:sldId id="1939" r:id="rId31"/>
    <p:sldId id="1960" r:id="rId32"/>
    <p:sldId id="1962" r:id="rId33"/>
    <p:sldId id="1963" r:id="rId34"/>
    <p:sldId id="1964" r:id="rId35"/>
    <p:sldId id="1965" r:id="rId36"/>
    <p:sldId id="1966" r:id="rId37"/>
    <p:sldId id="1967" r:id="rId38"/>
    <p:sldId id="1940" r:id="rId39"/>
    <p:sldId id="1932" r:id="rId40"/>
    <p:sldId id="1972" r:id="rId41"/>
    <p:sldId id="1973" r:id="rId42"/>
  </p:sldIdLst>
  <p:sldSz cx="12192000" cy="6858000"/>
  <p:notesSz cx="6858000" cy="9144000"/>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B0012"/>
    <a:srgbClr val="70AD47"/>
    <a:srgbClr val="2774AE"/>
    <a:srgbClr val="70AE47"/>
    <a:srgbClr val="549E39"/>
    <a:srgbClr val="90B085"/>
    <a:srgbClr val="2D2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ADD4C58-21AE-48A7-8FEC-21AD27C05888}" styleName="表样式 1 25">
    <a:wholeTbl>
      <a:tcTxStyle>
        <a:fontRef idx="none">
          <a:schemeClr val="tx1"/>
        </a:fontRef>
      </a:tcTxStyle>
      <a:tcStyle>
        <a:tcBdr>
          <a:left>
            <a:ln w="9525" cmpd="sng">
              <a:solidFill>
                <a:srgbClr val="FF0000"/>
              </a:solidFill>
              <a:prstDash val="solid"/>
            </a:ln>
          </a:left>
          <a:right>
            <a:ln w="9525" cmpd="sng">
              <a:solidFill>
                <a:srgbClr val="FF0000"/>
              </a:solidFill>
              <a:prstDash val="solid"/>
            </a:ln>
          </a:right>
          <a:top>
            <a:ln w="9525" cmpd="sng">
              <a:solidFill>
                <a:srgbClr val="FF0000"/>
              </a:solidFill>
              <a:prstDash val="solid"/>
            </a:ln>
          </a:top>
          <a:bottom>
            <a:ln w="9525" cmpd="sng">
              <a:solidFill>
                <a:srgbClr val="FF0000"/>
              </a:solidFill>
              <a:prstDash val="solid"/>
            </a:ln>
          </a:bottom>
          <a:insideH>
            <a:ln w="9525" cmpd="sng">
              <a:solidFill>
                <a:srgbClr val="FF0000">
                  <a:lumMod val="40000"/>
                  <a:lumOff val="60000"/>
                </a:srgbClr>
              </a:solidFill>
              <a:prstDash val="solid"/>
            </a:ln>
          </a:insideH>
          <a:insideV>
            <a:ln w="9525" cmpd="sng">
              <a:solidFill>
                <a:srgbClr val="FF0000">
                  <a:lumMod val="40000"/>
                  <a:lumOff val="60000"/>
                </a:srgbClr>
              </a:solidFill>
              <a:prstDash val="solid"/>
            </a:ln>
          </a:insideV>
        </a:tcBdr>
        <a:fill>
          <a:solidFill>
            <a:schemeClr val="bg1">
              <a:alpha val="0"/>
            </a:schemeClr>
          </a:solidFill>
        </a:fill>
      </a:tcStyle>
    </a:wholeTbl>
    <a:band2H>
      <a:tcTxStyle/>
      <a:tcStyle>
        <a:tcBdr/>
        <a:fill>
          <a:solidFill>
            <a:srgbClr val="FF0000">
              <a:lumMod val="40000"/>
              <a:lumOff val="60000"/>
              <a:alpha val="25000"/>
            </a:srgbClr>
          </a:solidFill>
        </a:fill>
      </a:tcStyle>
    </a:band2H>
    <a:band1V>
      <a:tcTxStyle/>
      <a:tcStyle>
        <a:tcBdr/>
        <a:fill>
          <a:solidFill>
            <a:srgbClr val="FF0000">
              <a:lumMod val="40000"/>
              <a:lumOff val="60000"/>
              <a:alpha val="25000"/>
            </a:srgb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rgbClr val="FF0000">
                  <a:lumMod val="40000"/>
                  <a:lumOff val="60000"/>
                </a:srgbClr>
              </a:solidFill>
              <a:prstDash val="solid"/>
            </a:ln>
          </a:left>
          <a:right>
            <a:ln w="9525" cmpd="sng">
              <a:solidFill>
                <a:srgbClr val="FF0000"/>
              </a:solidFill>
              <a:prstDash val="solid"/>
            </a:ln>
          </a:right>
          <a:top>
            <a:ln w="9525" cmpd="sng">
              <a:solidFill>
                <a:srgbClr val="FF0000"/>
              </a:solidFill>
              <a:prstDash val="solid"/>
            </a:ln>
          </a:top>
          <a:bottom>
            <a:ln w="9525" cmpd="sng">
              <a:solidFill>
                <a:srgbClr val="FF0000"/>
              </a:solidFill>
              <a:prstDash val="solid"/>
            </a:ln>
          </a:bottom>
          <a:insideH>
            <a:ln w="9525" cmpd="sng">
              <a:solidFill>
                <a:srgbClr val="FF0000">
                  <a:lumMod val="40000"/>
                  <a:lumOff val="60000"/>
                </a:srgbClr>
              </a:solidFill>
              <a:prstDash val="solid"/>
            </a:ln>
          </a:insideH>
          <a:insideV>
            <a:ln>
              <a:noFill/>
            </a:ln>
          </a:insideV>
        </a:tcBdr>
        <a:fill>
          <a:solidFill>
            <a:srgbClr val="FF0000">
              <a:lumMod val="40000"/>
              <a:lumOff val="60000"/>
              <a:alpha val="40000"/>
            </a:srgbClr>
          </a:solidFill>
        </a:fill>
      </a:tcStyle>
    </a:lastCol>
    <a:firstCol>
      <a:tcTxStyle b="on">
        <a:fontRef idx="none">
          <a:schemeClr val="tx1"/>
        </a:fontRef>
      </a:tcTxStyle>
      <a:tcStyle>
        <a:tcBdr>
          <a:left>
            <a:ln w="9525" cmpd="sng">
              <a:solidFill>
                <a:srgbClr val="FF0000"/>
              </a:solidFill>
              <a:prstDash val="solid"/>
            </a:ln>
          </a:left>
          <a:right>
            <a:ln w="9525" cmpd="sng">
              <a:solidFill>
                <a:srgbClr val="FF0000">
                  <a:lumMod val="40000"/>
                  <a:lumOff val="60000"/>
                </a:srgbClr>
              </a:solidFill>
              <a:prstDash val="solid"/>
            </a:ln>
          </a:right>
          <a:top>
            <a:ln w="9525" cmpd="sng">
              <a:solidFill>
                <a:srgbClr val="FF0000"/>
              </a:solidFill>
              <a:prstDash val="solid"/>
            </a:ln>
          </a:top>
          <a:bottom>
            <a:ln w="9525" cmpd="sng">
              <a:solidFill>
                <a:srgbClr val="FF0000"/>
              </a:solidFill>
              <a:prstDash val="solid"/>
            </a:ln>
          </a:bottom>
          <a:insideH>
            <a:ln w="9525" cmpd="sng">
              <a:solidFill>
                <a:srgbClr val="FF0000">
                  <a:lumMod val="40000"/>
                  <a:lumOff val="60000"/>
                </a:srgbClr>
              </a:solidFill>
              <a:prstDash val="solid"/>
            </a:ln>
          </a:insideH>
          <a:insideV>
            <a:ln>
              <a:noFill/>
            </a:ln>
          </a:insideV>
        </a:tcBdr>
        <a:fill>
          <a:solidFill>
            <a:srgbClr val="FF0000">
              <a:lumMod val="40000"/>
              <a:lumOff val="60000"/>
              <a:alpha val="40000"/>
            </a:srgbClr>
          </a:solidFill>
        </a:fill>
      </a:tcStyle>
    </a:firstCol>
    <a:lastRow>
      <a:tcTxStyle b="on">
        <a:fontRef idx="none">
          <a:srgbClr val="FF0000"/>
        </a:fontRef>
      </a:tcTxStyle>
      <a:tcStyle>
        <a:tcBdr>
          <a:left>
            <a:ln w="9525" cmpd="sng">
              <a:solidFill>
                <a:srgbClr val="FF0000"/>
              </a:solidFill>
              <a:prstDash val="solid"/>
            </a:ln>
          </a:left>
          <a:right>
            <a:ln w="9525" cmpd="sng">
              <a:solidFill>
                <a:srgbClr val="FF0000"/>
              </a:solidFill>
              <a:prstDash val="solid"/>
            </a:ln>
          </a:right>
          <a:top>
            <a:ln w="9525" cmpd="sng">
              <a:solidFill>
                <a:srgbClr val="FF0000"/>
              </a:solidFill>
              <a:prstDash val="solid"/>
            </a:ln>
          </a:top>
          <a:bottom>
            <a:ln w="9525" cmpd="sng">
              <a:solidFill>
                <a:srgbClr val="FF0000"/>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rgbClr val="FF0000">
                  <a:lumMod val="40000"/>
                  <a:lumOff val="60000"/>
                </a:srgbClr>
              </a:solidFill>
              <a:prstDash val="solid"/>
            </a:ln>
          </a:left>
          <a:right>
            <a:ln w="9525" cmpd="sng">
              <a:solidFill>
                <a:srgbClr val="FF0000"/>
              </a:solidFill>
              <a:prstDash val="solid"/>
            </a:ln>
          </a:right>
          <a:top>
            <a:ln w="9525" cmpd="sng">
              <a:solidFill>
                <a:srgbClr val="FF0000"/>
              </a:solidFill>
              <a:prstDash val="solid"/>
            </a:ln>
          </a:top>
          <a:bottom>
            <a:ln w="9525" cmpd="sng">
              <a:solidFill>
                <a:srgbClr val="FF0000"/>
              </a:solidFill>
              <a:prstDash val="solid"/>
            </a:ln>
          </a:bottom>
          <a:insideH>
            <a:ln>
              <a:noFill/>
            </a:ln>
          </a:insideH>
          <a:insideV>
            <a:ln>
              <a:noFill/>
            </a:ln>
          </a:insideV>
        </a:tcBdr>
        <a:fill>
          <a:solidFill>
            <a:schemeClr val="bg1">
              <a:alpha val="0"/>
            </a:schemeClr>
          </a:solidFill>
        </a:fill>
      </a:tcStyle>
    </a:seCell>
    <a:swCell>
      <a:tcTxStyle b="on">
        <a:fontRef idx="none">
          <a:srgbClr val="FF0000"/>
        </a:fontRef>
      </a:tcTxStyle>
      <a:tcStyle>
        <a:tcBdr>
          <a:left>
            <a:ln w="9525" cmpd="sng">
              <a:solidFill>
                <a:srgbClr val="FF0000"/>
              </a:solidFill>
              <a:prstDash val="solid"/>
            </a:ln>
          </a:left>
          <a:right>
            <a:ln w="9525" cmpd="sng">
              <a:solidFill>
                <a:srgbClr val="FF0000">
                  <a:lumMod val="40000"/>
                  <a:lumOff val="60000"/>
                </a:srgbClr>
              </a:solidFill>
              <a:prstDash val="solid"/>
            </a:ln>
          </a:right>
          <a:top>
            <a:ln w="9525" cmpd="sng">
              <a:solidFill>
                <a:srgbClr val="FF0000"/>
              </a:solidFill>
              <a:prstDash val="solid"/>
            </a:ln>
          </a:top>
          <a:bottom>
            <a:ln w="9525" cmpd="sng">
              <a:solidFill>
                <a:srgbClr val="FF0000"/>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rgbClr val="FF0000"/>
              </a:solidFill>
              <a:prstDash val="solid"/>
            </a:ln>
          </a:left>
          <a:right>
            <a:ln w="9525" cmpd="sng">
              <a:solidFill>
                <a:srgbClr val="FF0000"/>
              </a:solidFill>
              <a:prstDash val="solid"/>
            </a:ln>
          </a:right>
          <a:top>
            <a:ln w="9525" cmpd="sng">
              <a:solidFill>
                <a:srgbClr val="FF0000"/>
              </a:solidFill>
              <a:prstDash val="solid"/>
            </a:ln>
          </a:top>
          <a:bottom>
            <a:ln w="9525" cmpd="sng">
              <a:solidFill>
                <a:srgbClr val="FF0000"/>
              </a:solidFill>
              <a:prstDash val="solid"/>
            </a:ln>
          </a:bottom>
          <a:insideH>
            <a:ln>
              <a:noFill/>
            </a:ln>
          </a:insideH>
          <a:insideV>
            <a:ln w="9525" cmpd="sng">
              <a:solidFill>
                <a:srgbClr val="FF0000">
                  <a:lumMod val="40000"/>
                  <a:lumOff val="60000"/>
                </a:srgbClr>
              </a:solidFill>
              <a:prstDash val="solid"/>
            </a:ln>
          </a:insideV>
        </a:tcBdr>
        <a:fill>
          <a:solidFill>
            <a:srgbClr val="FF0000"/>
          </a:solidFill>
        </a:fill>
      </a:tcStyle>
    </a:firstRow>
    <a:neCell>
      <a:tcTxStyle/>
      <a:tcStyle>
        <a:tcBdr>
          <a:left>
            <a:ln w="9525" cmpd="sng">
              <a:solidFill>
                <a:srgbClr val="FF0000">
                  <a:lumMod val="40000"/>
                  <a:lumOff val="60000"/>
                </a:srgbClr>
              </a:solidFill>
              <a:prstDash val="solid"/>
            </a:ln>
          </a:left>
          <a:right>
            <a:ln w="9525" cmpd="sng">
              <a:solidFill>
                <a:srgbClr val="FF0000"/>
              </a:solidFill>
              <a:prstDash val="solid"/>
            </a:ln>
          </a:right>
          <a:top>
            <a:ln w="9525" cmpd="sng">
              <a:solidFill>
                <a:srgbClr val="FF0000"/>
              </a:solidFill>
              <a:prstDash val="solid"/>
            </a:ln>
          </a:top>
          <a:bottom>
            <a:ln w="9525" cmpd="sng">
              <a:solidFill>
                <a:srgbClr val="FF0000">
                  <a:lumMod val="40000"/>
                  <a:lumOff val="60000"/>
                </a:srgbClr>
              </a:solidFill>
              <a:prstDash val="solid"/>
            </a:ln>
          </a:bottom>
          <a:insideH>
            <a:ln>
              <a:noFill/>
            </a:ln>
          </a:insideH>
          <a:insideV>
            <a:ln>
              <a:noFill/>
            </a:ln>
          </a:insideV>
        </a:tcBdr>
      </a:tcStyle>
    </a:neCell>
  </a:tblStyle>
  <a:tblStyle styleId="{33EEB976-3D11-4757-A413-427E52DC0DEF}" styleName="表样式 1 12">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rgbClr val="FFFFFF"/>
          </a:solidFill>
        </a:fill>
      </a:tcStyle>
    </a:wholeTbl>
    <a:band2H>
      <a:tcTxStyle/>
      <a:tcStyle>
        <a:tcBdr/>
        <a:fill>
          <a:solidFill>
            <a:schemeClr val="accent1">
              <a:lumMod val="10000"/>
              <a:lumOff val="90000"/>
            </a:schemeClr>
          </a:solidFill>
        </a:fill>
      </a:tcStyle>
    </a:band2H>
    <a:band1V>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6264B79F-5FD4-4C2E-AF93-ECDD944D5AB5}"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TxStyle/>
      <a:tcStyle>
        <a:tcBdr/>
        <a:fill>
          <a:solidFill>
            <a:schemeClr val="accent1">
              <a:lumMod val="10000"/>
              <a:lumOff val="90000"/>
            </a:schemeClr>
          </a:solidFill>
        </a:fill>
      </a:tcStyle>
    </a:band2H>
    <a:band1V>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15"/>
    <p:restoredTop sz="91926" autoAdjust="0"/>
  </p:normalViewPr>
  <p:slideViewPr>
    <p:cSldViewPr snapToGrid="0" snapToObjects="1">
      <p:cViewPr varScale="1">
        <p:scale>
          <a:sx n="107" d="100"/>
          <a:sy n="107" d="100"/>
        </p:scale>
        <p:origin x="51" y="57"/>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1" d="100"/>
          <a:sy n="81" d="100"/>
        </p:scale>
        <p:origin x="3384"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gs" Target="tags/tag51.xml"/><Relationship Id="rId47" Type="http://schemas.openxmlformats.org/officeDocument/2006/relationships/commentAuthors" Target="commentAuthors.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AD35F3-BE5B-41CC-A973-5F94E77F22B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6126E5-09CE-4398-8EB0-4AC849D0A16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AE8E16-D6C5-3248-816C-85B3C8E8792E}"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4C98A-D9C5-894D-9A13-8F52E37846C0}"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为什么需要性能指标？在HPC和系统优化中，我们必须定量地分析程序和硬件的性能——不同的指标揭示不同层次的瓶颈。本讲介绍五类核心指标：FLOPS衡量计算能力，带宽衡量数据吞吐，延迟衡量单次访问时间，利用率衡量资源使用效率，Roofline Model则是综合分析瓶颈类型的可视化工具。</a:t>
            </a:r>
            <a:endParaRPr 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性能指标可以按瓶颈类型分为两大类。第一类是计算能力相关：FLOPS衡量每秒浮点运算次数，是计算密集型任务的核心指标；利用率反映硬件资源的实际使用效率。第二类是数据访问能力相关：带宽决定数据密集型应用的吞吐上限；延迟衡量单次数据访问的时间代价。Roofline Model则综合两类瓶颈，判断程序究竟是计算瓶颈还是访存瓶颈，从而指导优化方向。</a:t>
            </a:r>
            <a:endParaRPr 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我们来看一个FLOPS计算示例。假设CPU主频3 GHz，每个时钟周期可执行8个浮点操作，则理论峰值性能等于频率乘以每周期FLOP数，即3×10的9次方乘以8，等于24 GFLOPS。需要强调：这是理论峰值，实际性能通常远低于此，因为流水线停顿、访存延迟等因素会拉低实际算力。</a:t>
            </a:r>
            <a:br>
              <a:rPr lang="zh-CN" dirty="0"/>
            </a:br>
            <a:r>
              <a:rPr lang="zh-CN" dirty="0">
                <a:sym typeface="+mn-ea"/>
              </a:rPr>
              <a:t>理论FLOPS与实际FLOPS之间往往存在显著差距。理论峰值完全由硬件规格决定，基于核心数、主频和每周期指令数计算得出。而实际FLOPS受多种因素影响，通常远低于理论峰值。主要影响因素有四个：Cache miss导致访存停顿；分支预测失败导致流水线冲刷；指令依赖限制并行度；以及内存带宽不足造成数据供给跟不上计算速度。优化的目标就是尽量填满这个差距。</a:t>
            </a:r>
            <a:endParaRPr lang="zh-CN" dirty="0"/>
          </a:p>
          <a:p>
            <a:endParaRPr 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带宽（Bandwidth）表示单位时间内可传输的数据量，决定了数据密集型应用的吞吐上限。常用单位是MB/s、GB/s和TB/s。带宽有三种典型场景：内存带宽，即CPU/GPU访问主存的速度；磁盘带宽，决定I/O吞吐；网络带宽，影响分布式训练中的通信效率。在AI训练场景中，GPU显存带宽是最常关注的瓶颈之一。</a:t>
            </a:r>
            <a:endParaRPr 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延迟（Latency）表示完成一次操作所需的时间，关注的是单次请求的响应速度。典型场景包括：内存访问延迟、网络延迟、磁盘访问延迟。常用单位有三个：ns纳秒，即10的负9次方秒；μs微秒，10的负6次方秒；ms毫秒，10的负3次方秒。延迟与带宽的核心区别在于：延迟描述单次操作有多快，带宽描述持续处理数据的吞吐能力。</a:t>
            </a:r>
            <a:endParaRPr 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利用率（Utilization）衡量硬件资源的实际使用效率，公式是：利用率等于实际性能除以理论峰值，通常以百分比表示。举例：GPU理论峰值10 TFLOPS，程序实际跑出5 TFLOPS，则利用率为50%。利用率是衡量优化效果的直接指标——同样的硬件，利用率从30%提升到80%，意味着性能提升了接近3倍，而无需更换任何硬件。</a:t>
            </a:r>
            <a:endParaRPr 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性能指标可以按瓶颈类型分为两大类。第一类是计算能力相关：FLOPS衡量每秒浮点运算次数，是计算密集型任务的核心指标；利用率反映硬件资源的实际使用效率。第二类是数据访问能力相关：带宽决定数据密集型应用的吞吐上限；延迟衡量单次数据访问的时间代价。Roofline Model则综合两类瓶颈，判断程序究竟是计算瓶颈还是访存瓶颈，从而指导优化方向。</a:t>
            </a:r>
            <a:endParaRPr 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性能指标可以按瓶颈类型分为两大类。第一类是计算能力相关：FLOPS衡量每秒浮点运算次数，是计算密集型任务的核心指标；利用率反映硬件资源的实际使用效率。第二类是数据访问能力相关：带宽决定数据密集型应用的吞吐上限；延迟衡量单次数据访问的时间代价。Roofline Model则综合两类瓶颈，判断程序究竟是计算瓶颈还是访存瓶颈，从而指导优化方向。</a:t>
            </a:r>
            <a:endParaRPr 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effectLst/>
                <a:latin typeface="Google Sans Text"/>
              </a:rPr>
              <a:t>Kernel Auto-tuning</a:t>
            </a:r>
            <a:r>
              <a:rPr lang="zh-CN" altLang="en-US" dirty="0">
                <a:effectLst/>
                <a:latin typeface="Google Sans Text"/>
              </a:rPr>
              <a:t>（内核自动调优）的核心机制在于代码生成（</a:t>
            </a:r>
            <a:r>
              <a:rPr lang="en-US" altLang="zh-CN" dirty="0">
                <a:effectLst/>
                <a:latin typeface="Google Sans Text"/>
              </a:rPr>
              <a:t>Code Generation</a:t>
            </a:r>
            <a:r>
              <a:rPr lang="zh-CN" altLang="en-US" dirty="0">
                <a:effectLst/>
                <a:latin typeface="Google Sans Text"/>
              </a:rPr>
              <a:t>）与调度原语（</a:t>
            </a:r>
            <a:r>
              <a:rPr lang="en-US" altLang="zh-CN" dirty="0">
                <a:effectLst/>
                <a:latin typeface="Google Sans Text"/>
              </a:rPr>
              <a:t>Schedule Primitives</a:t>
            </a:r>
            <a:r>
              <a:rPr lang="zh-CN" altLang="en-US" dirty="0">
                <a:effectLst/>
                <a:latin typeface="Google Sans Text"/>
              </a:rPr>
              <a:t>）的自动化组合。在深度学习编译器中，计算的数学定义（算法逻辑）与计算的具体执行方式（调度执行）被解耦。自动调优系统通过向底层的抽象语法树（</a:t>
            </a:r>
            <a:r>
              <a:rPr lang="en-US" altLang="zh-CN" dirty="0">
                <a:effectLst/>
                <a:latin typeface="Google Sans Text"/>
              </a:rPr>
              <a:t>AST</a:t>
            </a:r>
            <a:r>
              <a:rPr lang="zh-CN" altLang="en-US" dirty="0">
                <a:effectLst/>
                <a:latin typeface="Google Sans Text"/>
              </a:rPr>
              <a:t>）或中间表示（</a:t>
            </a:r>
            <a:r>
              <a:rPr lang="en-US" altLang="zh-CN" dirty="0">
                <a:effectLst/>
                <a:latin typeface="Google Sans Text"/>
              </a:rPr>
              <a:t>IR</a:t>
            </a:r>
            <a:r>
              <a:rPr lang="zh-CN" altLang="en-US" dirty="0">
                <a:effectLst/>
                <a:latin typeface="Google Sans Text"/>
              </a:rPr>
              <a:t>）中注入调度指令，来控制代码的硬件映射。常见的调优维度涵盖了计算与存储架构的各个层面：循环分块（</a:t>
            </a:r>
            <a:r>
              <a:rPr lang="en-US" altLang="zh-CN" dirty="0">
                <a:effectLst/>
                <a:latin typeface="Google Sans Text"/>
              </a:rPr>
              <a:t>Tiling</a:t>
            </a:r>
            <a:r>
              <a:rPr lang="zh-CN" altLang="en-US" dirty="0">
                <a:effectLst/>
                <a:latin typeface="Google Sans Text"/>
              </a:rPr>
              <a:t>）用于将巨大的张量切割以适配容量有限但速度极快的各级缓存；循环展开（</a:t>
            </a:r>
            <a:r>
              <a:rPr lang="en-US" altLang="zh-CN" dirty="0">
                <a:effectLst/>
                <a:latin typeface="Google Sans Text"/>
              </a:rPr>
              <a:t>Unroll</a:t>
            </a:r>
            <a:r>
              <a:rPr lang="zh-CN" altLang="en-US" dirty="0">
                <a:effectLst/>
                <a:latin typeface="Google Sans Text"/>
              </a:rPr>
              <a:t>）旨在通过增加代码体积来消除循环控制开销并提升指令级并行度；而线程绑定（</a:t>
            </a:r>
            <a:r>
              <a:rPr lang="en-US" altLang="zh-CN" dirty="0">
                <a:effectLst/>
                <a:latin typeface="Google Sans Text"/>
              </a:rPr>
              <a:t>Thread Binding</a:t>
            </a:r>
            <a:r>
              <a:rPr lang="zh-CN" altLang="en-US" dirty="0">
                <a:effectLst/>
                <a:latin typeface="Google Sans Text"/>
              </a:rPr>
              <a:t>）与张量化（</a:t>
            </a:r>
            <a:r>
              <a:rPr lang="en-US" altLang="zh-CN" dirty="0">
                <a:effectLst/>
                <a:latin typeface="Google Sans Text"/>
              </a:rPr>
              <a:t>Tensorization</a:t>
            </a:r>
            <a:r>
              <a:rPr lang="zh-CN" altLang="en-US" dirty="0">
                <a:effectLst/>
                <a:latin typeface="Google Sans Text"/>
              </a:rPr>
              <a:t>）则是将特定的计算轴精确映射到</a:t>
            </a:r>
            <a:r>
              <a:rPr lang="en-US" altLang="zh-CN" dirty="0">
                <a:effectLst/>
                <a:latin typeface="Google Sans Text"/>
              </a:rPr>
              <a:t>GPU</a:t>
            </a:r>
            <a:r>
              <a:rPr lang="zh-CN" altLang="en-US" dirty="0">
                <a:effectLst/>
                <a:latin typeface="Google Sans Text"/>
              </a:rPr>
              <a:t>的线程束（</a:t>
            </a:r>
            <a:r>
              <a:rPr lang="en-US" altLang="zh-CN" dirty="0">
                <a:effectLst/>
                <a:latin typeface="Google Sans Text"/>
              </a:rPr>
              <a:t>Warp</a:t>
            </a:r>
            <a:r>
              <a:rPr lang="zh-CN" altLang="en-US" dirty="0">
                <a:effectLst/>
                <a:latin typeface="Google Sans Text"/>
              </a:rPr>
              <a:t>）或专用的矩阵乘法累加单元（如</a:t>
            </a:r>
            <a:r>
              <a:rPr lang="en-US" altLang="zh-CN" dirty="0">
                <a:effectLst/>
                <a:latin typeface="Google Sans Text"/>
              </a:rPr>
              <a:t>Tensor Cores</a:t>
            </a:r>
            <a:r>
              <a:rPr lang="zh-CN" altLang="en-US" dirty="0">
                <a:effectLst/>
                <a:latin typeface="Google Sans Text"/>
              </a:rPr>
              <a:t>）上 。</a:t>
            </a:r>
            <a:endParaRPr lang="zh-CN" altLang="en-US" dirty="0">
              <a:effectLst/>
              <a:latin typeface="Google Sans Text"/>
            </a:endParaRP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Page 12: 3. </a:t>
            </a:r>
            <a:r>
              <a:rPr lang="zh-CN" altLang="en-US" b="1" dirty="0"/>
              <a:t>模拟退火在算子调优中的应用</a:t>
            </a:r>
            <a:endParaRPr lang="zh-CN" altLang="en-US" b="1" dirty="0"/>
          </a:p>
          <a:p>
            <a:pPr>
              <a:buFont typeface="Arial" panose="020B0604020202020204" pitchFamily="34" charset="0"/>
              <a:buChar char="•"/>
            </a:pPr>
            <a:r>
              <a:rPr lang="zh-CN" altLang="en-US" b="1" dirty="0"/>
              <a:t>状态表示 </a:t>
            </a:r>
            <a:r>
              <a:rPr lang="en-US" altLang="zh-CN" b="1" dirty="0"/>
              <a:t>(State)</a:t>
            </a:r>
            <a:r>
              <a:rPr lang="zh-CN" altLang="en-US" dirty="0"/>
              <a:t>：当前的一组模板参数（如 </a:t>
            </a:r>
            <a:r>
              <a:rPr lang="en-US" altLang="zh-CN" dirty="0" err="1"/>
              <a:t>BlockSize</a:t>
            </a:r>
            <a:r>
              <a:rPr lang="en-US" altLang="zh-CN" dirty="0"/>
              <a:t>=128, </a:t>
            </a:r>
            <a:r>
              <a:rPr lang="en-US" altLang="zh-CN" dirty="0" err="1"/>
              <a:t>TileSize</a:t>
            </a:r>
            <a:r>
              <a:rPr lang="en-US" altLang="zh-CN" dirty="0"/>
              <a:t>=4</a:t>
            </a:r>
            <a:r>
              <a:rPr lang="zh-CN" altLang="en-US" dirty="0"/>
              <a:t>）。</a:t>
            </a:r>
            <a:endParaRPr lang="zh-CN" altLang="en-US" dirty="0"/>
          </a:p>
          <a:p>
            <a:pPr>
              <a:buFont typeface="Arial" panose="020B0604020202020204" pitchFamily="34" charset="0"/>
              <a:buChar char="•"/>
            </a:pPr>
            <a:r>
              <a:rPr lang="zh-CN" altLang="en-US" b="1" dirty="0"/>
              <a:t>邻域跳转 </a:t>
            </a:r>
            <a:r>
              <a:rPr lang="en-US" altLang="zh-CN" b="1" dirty="0"/>
              <a:t>(Neighbor Transition)</a:t>
            </a:r>
            <a:r>
              <a:rPr lang="zh-CN" altLang="en-US" dirty="0"/>
              <a:t>：微调其中一个参数（如将 </a:t>
            </a:r>
            <a:r>
              <a:rPr lang="en-US" altLang="zh-CN" dirty="0" err="1"/>
              <a:t>BlockSize</a:t>
            </a:r>
            <a:r>
              <a:rPr lang="en-US" altLang="zh-CN" dirty="0"/>
              <a:t> </a:t>
            </a:r>
            <a:r>
              <a:rPr lang="zh-CN" altLang="en-US" dirty="0"/>
              <a:t>变成 </a:t>
            </a:r>
            <a:r>
              <a:rPr lang="en-US" altLang="zh-CN" dirty="0"/>
              <a:t>256</a:t>
            </a:r>
            <a:r>
              <a:rPr lang="zh-CN" altLang="en-US" dirty="0"/>
              <a:t>）。</a:t>
            </a:r>
            <a:endParaRPr lang="zh-CN" altLang="en-US" dirty="0"/>
          </a:p>
          <a:p>
            <a:pPr>
              <a:buFont typeface="Arial" panose="020B0604020202020204" pitchFamily="34" charset="0"/>
              <a:buChar char="•"/>
            </a:pPr>
            <a:r>
              <a:rPr lang="zh-CN" altLang="en-US" b="1" dirty="0"/>
              <a:t>温度控制 </a:t>
            </a:r>
            <a:r>
              <a:rPr lang="en-US" altLang="zh-CN" b="1" dirty="0"/>
              <a:t>(Cooling Schedule)</a:t>
            </a:r>
            <a:r>
              <a:rPr lang="zh-CN" altLang="en-US" dirty="0"/>
              <a:t>：</a:t>
            </a:r>
            <a:endParaRPr lang="zh-CN" altLang="en-US" dirty="0"/>
          </a:p>
          <a:p>
            <a:pPr marL="742950" lvl="1" indent="-285750">
              <a:buFont typeface="Arial" panose="020B0604020202020204" pitchFamily="34" charset="0"/>
              <a:buChar char="•"/>
            </a:pPr>
            <a:r>
              <a:rPr lang="zh-CN" altLang="en-US" b="1" dirty="0"/>
              <a:t>初始高温</a:t>
            </a:r>
            <a:r>
              <a:rPr lang="zh-CN" altLang="en-US" dirty="0"/>
              <a:t>：概率很高地接受差解（大范围探索 </a:t>
            </a:r>
            <a:r>
              <a:rPr lang="en-US" altLang="zh-CN" dirty="0"/>
              <a:t>Exploration</a:t>
            </a:r>
            <a:r>
              <a:rPr lang="zh-CN" altLang="en-US" dirty="0"/>
              <a:t>）。</a:t>
            </a:r>
            <a:endParaRPr lang="zh-CN" altLang="en-US" dirty="0"/>
          </a:p>
          <a:p>
            <a:pPr marL="742950" lvl="1" indent="-285750">
              <a:buFont typeface="Arial" panose="020B0604020202020204" pitchFamily="34" charset="0"/>
              <a:buChar char="•"/>
            </a:pPr>
            <a:r>
              <a:rPr lang="zh-CN" altLang="en-US" b="1" dirty="0"/>
              <a:t>后期低温</a:t>
            </a:r>
            <a:r>
              <a:rPr lang="zh-CN" altLang="en-US" dirty="0"/>
              <a:t>：几乎只接受好解（局部收敛 </a:t>
            </a:r>
            <a:r>
              <a:rPr lang="en-US" altLang="zh-CN" dirty="0"/>
              <a:t>Exploitation</a:t>
            </a:r>
            <a:r>
              <a:rPr lang="zh-CN" altLang="en-US" dirty="0"/>
              <a:t>）。</a:t>
            </a:r>
            <a:endParaRPr lang="zh-CN" altLang="en-US" dirty="0"/>
          </a:p>
          <a:p>
            <a:pPr>
              <a:buFont typeface="Arial" panose="020B0604020202020204" pitchFamily="34" charset="0"/>
              <a:buChar char="•"/>
            </a:pPr>
            <a:r>
              <a:rPr lang="en-US" altLang="zh-CN" b="1" dirty="0" err="1"/>
              <a:t>AutoTVM</a:t>
            </a:r>
            <a:r>
              <a:rPr lang="en-US" altLang="zh-CN" b="1" dirty="0"/>
              <a:t> </a:t>
            </a:r>
            <a:r>
              <a:rPr lang="zh-CN" altLang="en-US" b="1" dirty="0"/>
              <a:t>早期版本</a:t>
            </a:r>
            <a:r>
              <a:rPr lang="zh-CN" altLang="en-US" dirty="0"/>
              <a:t>即广泛采用模拟退火在候选空间中寻找最优参数。</a:t>
            </a:r>
            <a:endParaRPr lang="zh-CN" altLang="en-US" dirty="0"/>
          </a:p>
          <a:p>
            <a:endParaRPr lang="en-US" altLang="zh-CN" dirty="0"/>
          </a:p>
          <a:p>
            <a:r>
              <a:rPr lang="zh-CN" altLang="en-US" b="1" dirty="0">
                <a:effectLst/>
                <a:latin typeface="Google Sans"/>
              </a:rPr>
              <a:t>概率与突变的艺术：模拟退火算法在调优中的应用</a:t>
            </a:r>
            <a:endParaRPr lang="zh-CN" altLang="en-US" b="1" dirty="0">
              <a:effectLst/>
              <a:latin typeface="Google Sans"/>
            </a:endParaRPr>
          </a:p>
          <a:p>
            <a:r>
              <a:rPr lang="zh-CN" altLang="en-US" dirty="0">
                <a:effectLst/>
                <a:latin typeface="Google Sans Text"/>
              </a:rPr>
              <a:t>无论搜索空间是由模板限定还是由草图生成，算子参数的优化表面都具有高度的非凸性（</a:t>
            </a:r>
            <a:r>
              <a:rPr lang="en-US" altLang="zh-CN" dirty="0">
                <a:effectLst/>
                <a:latin typeface="Google Sans Text"/>
              </a:rPr>
              <a:t>Non-convexity</a:t>
            </a:r>
            <a:r>
              <a:rPr lang="zh-CN" altLang="en-US" dirty="0">
                <a:effectLst/>
                <a:latin typeface="Google Sans Text"/>
              </a:rPr>
              <a:t>）。该空间充满了不规则的离散约束（如参数必须是硬件线程束的整数倍）和深浅不一的局部极小值。传统的梯度下降或贪婪爬山算法在这样的地形中极易陷入局部最优而停滞不前 。为应对这一挑战，模拟退火（</a:t>
            </a:r>
            <a:r>
              <a:rPr lang="en-US" altLang="zh-CN" dirty="0">
                <a:effectLst/>
                <a:latin typeface="Google Sans Text"/>
              </a:rPr>
              <a:t>Simulated Annealing, SA</a:t>
            </a:r>
            <a:r>
              <a:rPr lang="zh-CN" altLang="en-US" dirty="0">
                <a:effectLst/>
                <a:latin typeface="Google Sans Text"/>
              </a:rPr>
              <a:t>）成为了自动调优早期最核心的探索算法。</a:t>
            </a:r>
            <a:endParaRPr lang="zh-CN" altLang="en-US" dirty="0">
              <a:effectLst/>
              <a:latin typeface="Google Sans Text"/>
            </a:endParaRPr>
          </a:p>
          <a:p>
            <a:r>
              <a:rPr lang="zh-CN" altLang="en-US" dirty="0">
                <a:effectLst/>
                <a:latin typeface="Google Sans Text"/>
              </a:rPr>
              <a:t>模拟退火算法的原理源自对冶金学中固体物理退火过程的隐喻。在物理退火中，材料被加热至高温状态，原子获得极大的动能，脱离原有的晶格排列；随后通过严格控制的缓慢冷却，原子在逐渐降低的温度下寻找能量最低的稳定晶体结构 。将这一原理映射到算子调优中，“系统能量”等价于代价模型（如</a:t>
            </a:r>
            <a:r>
              <a:rPr lang="en-US" altLang="zh-CN" dirty="0" err="1">
                <a:effectLst/>
                <a:latin typeface="Google Sans Text"/>
              </a:rPr>
              <a:t>XGBoost</a:t>
            </a:r>
            <a:r>
              <a:rPr lang="zh-CN" altLang="en-US" dirty="0">
                <a:effectLst/>
                <a:latin typeface="Google Sans Text"/>
              </a:rPr>
              <a:t>）预测的内核执行时间，“原子状态”则对应于特定的一组调优参数配置 。</a:t>
            </a:r>
            <a:endParaRPr lang="zh-CN" altLang="en-US" dirty="0">
              <a:effectLst/>
              <a:latin typeface="Google Sans Text"/>
            </a:endParaRPr>
          </a:p>
          <a:p>
            <a:r>
              <a:rPr lang="zh-CN" altLang="en-US" dirty="0">
                <a:effectLst/>
                <a:latin typeface="Google Sans Text"/>
              </a:rPr>
              <a:t>模拟退火之所以能够跳出局部最优，关键在于其特有的概率接受机制</a:t>
            </a:r>
            <a:r>
              <a:rPr lang="en-US" altLang="zh-CN" dirty="0">
                <a:effectLst/>
                <a:latin typeface="Google Sans Text"/>
              </a:rPr>
              <a:t>——Metropolis-Hastings</a:t>
            </a:r>
            <a:r>
              <a:rPr lang="zh-CN" altLang="en-US" dirty="0">
                <a:effectLst/>
                <a:latin typeface="Google Sans Text"/>
              </a:rPr>
              <a:t>准则。在每一次迭代中，算法在当前配置的邻域内随机产生一个新的候选配置。若新配置的预测执行时间更短（能量下降），算法则无条件接受。然而，如果新配置导致性能恶化（能量上升），算法并不会立即将其抛弃，而是根据当前的系统“温度”参数 </a:t>
            </a:r>
            <a:r>
              <a:rPr lang="en-US" altLang="zh-CN" dirty="0">
                <a:effectLst/>
                <a:latin typeface="Google Sans Text"/>
              </a:rPr>
              <a:t>$T$ </a:t>
            </a:r>
            <a:r>
              <a:rPr lang="zh-CN" altLang="en-US" dirty="0">
                <a:effectLst/>
                <a:latin typeface="Google Sans Text"/>
              </a:rPr>
              <a:t>和能量的恶化程度 </a:t>
            </a:r>
            <a:r>
              <a:rPr lang="en-US" altLang="zh-CN" dirty="0">
                <a:effectLst/>
                <a:latin typeface="Google Sans Text"/>
              </a:rPr>
              <a:t>$\Delta E$</a:t>
            </a:r>
            <a:r>
              <a:rPr lang="zh-CN" altLang="en-US" dirty="0">
                <a:effectLst/>
                <a:latin typeface="Google Sans Text"/>
              </a:rPr>
              <a:t>，以一定的概率 </a:t>
            </a:r>
            <a:r>
              <a:rPr lang="en-US" altLang="zh-CN" dirty="0">
                <a:effectLst/>
                <a:latin typeface="Google Sans Text"/>
              </a:rPr>
              <a:t>$P$ </a:t>
            </a:r>
            <a:r>
              <a:rPr lang="zh-CN" altLang="en-US" dirty="0">
                <a:effectLst/>
                <a:latin typeface="Google Sans Text"/>
              </a:rPr>
              <a:t>接受这个次优解。该概率通常定义为 </a:t>
            </a:r>
            <a:r>
              <a:rPr lang="en-US" altLang="zh-CN" dirty="0">
                <a:effectLst/>
                <a:latin typeface="Google Sans Text"/>
              </a:rPr>
              <a:t>$P = \exp(-\Delta E / T)$ </a:t>
            </a:r>
            <a:r>
              <a:rPr lang="zh-CN" altLang="en-US" dirty="0">
                <a:effectLst/>
                <a:latin typeface="Google Sans Text"/>
              </a:rPr>
              <a:t>。</a:t>
            </a:r>
            <a:endParaRPr lang="zh-CN" altLang="en-US" dirty="0">
              <a:effectLst/>
              <a:latin typeface="Google Sans Text"/>
            </a:endParaRPr>
          </a:p>
          <a:p>
            <a:r>
              <a:rPr lang="zh-CN" altLang="en-US" dirty="0">
                <a:effectLst/>
                <a:latin typeface="Google Sans Text"/>
              </a:rPr>
              <a:t>温度参数 </a:t>
            </a:r>
            <a:r>
              <a:rPr lang="en-US" altLang="zh-CN" dirty="0">
                <a:effectLst/>
                <a:latin typeface="Google Sans Text"/>
              </a:rPr>
              <a:t>$T$ </a:t>
            </a:r>
            <a:r>
              <a:rPr lang="zh-CN" altLang="en-US" dirty="0">
                <a:effectLst/>
                <a:latin typeface="Google Sans Text"/>
              </a:rPr>
              <a:t>在这里扮演了平衡“探索（</a:t>
            </a:r>
            <a:r>
              <a:rPr lang="en-US" altLang="zh-CN" dirty="0">
                <a:effectLst/>
                <a:latin typeface="Google Sans Text"/>
              </a:rPr>
              <a:t>Exploration</a:t>
            </a:r>
            <a:r>
              <a:rPr lang="zh-CN" altLang="en-US" dirty="0">
                <a:effectLst/>
                <a:latin typeface="Google Sans Text"/>
              </a:rPr>
              <a:t>）”与“利用（</a:t>
            </a:r>
            <a:r>
              <a:rPr lang="en-US" altLang="zh-CN" dirty="0">
                <a:effectLst/>
                <a:latin typeface="Google Sans Text"/>
              </a:rPr>
              <a:t>Exploitation</a:t>
            </a:r>
            <a:r>
              <a:rPr lang="zh-CN" altLang="en-US" dirty="0">
                <a:effectLst/>
                <a:latin typeface="Google Sans Text"/>
              </a:rPr>
              <a:t>）”的绝对核心。在算法初期的高温阶段，</a:t>
            </a:r>
            <a:r>
              <a:rPr lang="en-US" altLang="zh-CN" dirty="0">
                <a:effectLst/>
                <a:latin typeface="Google Sans Text"/>
              </a:rPr>
              <a:t>$T$ </a:t>
            </a:r>
            <a:r>
              <a:rPr lang="zh-CN" altLang="en-US" dirty="0">
                <a:effectLst/>
                <a:latin typeface="Google Sans Text"/>
              </a:rPr>
              <a:t>的值极大，使得接受劣质解的概率很高，这赋予了算法极强的空间跨越能力，使其能够在整个参数空间中广泛游走，避免被早期的局部陷阱捕获。随着算法迭代，冷却计划（</a:t>
            </a:r>
            <a:r>
              <a:rPr lang="en-US" altLang="zh-CN" dirty="0">
                <a:effectLst/>
                <a:latin typeface="Google Sans Text"/>
              </a:rPr>
              <a:t>Cooling Schedule</a:t>
            </a:r>
            <a:r>
              <a:rPr lang="zh-CN" altLang="en-US" dirty="0">
                <a:effectLst/>
                <a:latin typeface="Google Sans Text"/>
              </a:rPr>
              <a:t>）开始生效，温度逐渐下降。常见的冷却曲线包括线性降温、对数降温以及工业界最常用的指数降温（例如 </a:t>
            </a:r>
            <a:r>
              <a:rPr lang="en-US" altLang="zh-CN" dirty="0">
                <a:effectLst/>
                <a:latin typeface="Google Sans Text"/>
              </a:rPr>
              <a:t>$T_{n+1} = \alpha </a:t>
            </a:r>
            <a:r>
              <a:rPr lang="en-US" altLang="zh-CN" dirty="0" err="1">
                <a:effectLst/>
                <a:latin typeface="Google Sans Text"/>
              </a:rPr>
              <a:t>T_n</a:t>
            </a:r>
            <a:r>
              <a:rPr lang="en-US" altLang="zh-CN" dirty="0">
                <a:effectLst/>
                <a:latin typeface="Google Sans Text"/>
              </a:rPr>
              <a:t>$</a:t>
            </a:r>
            <a:r>
              <a:rPr lang="zh-CN" altLang="en-US" dirty="0">
                <a:effectLst/>
                <a:latin typeface="Google Sans Text"/>
              </a:rPr>
              <a:t>，其中 </a:t>
            </a:r>
            <a:r>
              <a:rPr lang="en-US" altLang="zh-CN" dirty="0">
                <a:effectLst/>
                <a:latin typeface="Google Sans Text"/>
              </a:rPr>
              <a:t>$\alpha$ </a:t>
            </a:r>
            <a:r>
              <a:rPr lang="zh-CN" altLang="en-US" dirty="0">
                <a:effectLst/>
                <a:latin typeface="Google Sans Text"/>
              </a:rPr>
              <a:t>通常域在</a:t>
            </a:r>
            <a:r>
              <a:rPr lang="en-US" altLang="zh-CN" dirty="0">
                <a:effectLst/>
                <a:latin typeface="Google Sans Text"/>
              </a:rPr>
              <a:t>0.8</a:t>
            </a:r>
            <a:r>
              <a:rPr lang="zh-CN" altLang="en-US" dirty="0">
                <a:effectLst/>
                <a:latin typeface="Google Sans Text"/>
              </a:rPr>
              <a:t>至</a:t>
            </a:r>
            <a:r>
              <a:rPr lang="en-US" altLang="zh-CN" dirty="0">
                <a:effectLst/>
                <a:latin typeface="Google Sans Text"/>
              </a:rPr>
              <a:t>0.99</a:t>
            </a:r>
            <a:r>
              <a:rPr lang="zh-CN" altLang="en-US" dirty="0">
                <a:effectLst/>
                <a:latin typeface="Google Sans Text"/>
              </a:rPr>
              <a:t>之间） 。在冷却后期的低温阶段，接受次优解的概率几乎降为零，算法退化为局部贪婪搜索，致力于在当前发现的优秀区域内进行最精细的参数微调 。在</a:t>
            </a:r>
            <a:r>
              <a:rPr lang="en-US" altLang="zh-CN" dirty="0" err="1">
                <a:effectLst/>
                <a:latin typeface="Google Sans Text"/>
              </a:rPr>
              <a:t>AutoTVM</a:t>
            </a:r>
            <a:r>
              <a:rPr lang="zh-CN" altLang="en-US" dirty="0">
                <a:effectLst/>
                <a:latin typeface="Google Sans Text"/>
              </a:rPr>
              <a:t>中，由于</a:t>
            </a:r>
            <a:r>
              <a:rPr lang="en-US" altLang="zh-CN" dirty="0" err="1">
                <a:effectLst/>
                <a:latin typeface="Google Sans Text"/>
              </a:rPr>
              <a:t>XGBoost</a:t>
            </a:r>
            <a:r>
              <a:rPr lang="zh-CN" altLang="en-US" dirty="0">
                <a:effectLst/>
                <a:latin typeface="Google Sans Text"/>
              </a:rPr>
              <a:t>的推理速度极快，模拟退火算法被用于在极短时间内对数以万计的特征向量进行高效预筛选，从而挑出最值得投入硬件实测的高质量样本 。</a:t>
            </a:r>
            <a:endParaRPr lang="zh-CN" altLang="en-US" dirty="0">
              <a:effectLst/>
              <a:latin typeface="Google Sans Text"/>
            </a:endParaRP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effectLst/>
                <a:latin typeface="Google Sans"/>
              </a:rPr>
              <a:t>并行探索的进化力量：遗传算法在离散空间中的升维打击</a:t>
            </a:r>
            <a:endParaRPr lang="zh-CN" altLang="en-US" b="1" dirty="0">
              <a:effectLst/>
              <a:latin typeface="Google Sans"/>
            </a:endParaRPr>
          </a:p>
          <a:p>
            <a:r>
              <a:rPr lang="zh-CN" altLang="en-US" dirty="0">
                <a:effectLst/>
                <a:latin typeface="Google Sans Text"/>
              </a:rPr>
              <a:t>尽管模拟退火在约束较强的模板空间中表现尚可，但在面对</a:t>
            </a:r>
            <a:r>
              <a:rPr lang="en-US" altLang="zh-CN" dirty="0" err="1">
                <a:effectLst/>
                <a:latin typeface="Google Sans Text"/>
              </a:rPr>
              <a:t>Ansor</a:t>
            </a:r>
            <a:r>
              <a:rPr lang="zh-CN" altLang="en-US" dirty="0">
                <a:effectLst/>
                <a:latin typeface="Google Sans Text"/>
              </a:rPr>
              <a:t>引入的巨大且拓扑异构的无模板搜索空间时，单链马尔可夫演进的退火算法逐渐显露出搜索视野狭窄、难以跨越巨大结构断层的劣势 。为了在更加离散且不规则的算子参数空间中实施“升维打击”，现代调优框架引入了更为强大的群体智能启发式方法</a:t>
            </a:r>
            <a:r>
              <a:rPr lang="en-US" altLang="zh-CN" dirty="0">
                <a:effectLst/>
                <a:latin typeface="Google Sans Text"/>
              </a:rPr>
              <a:t>——</a:t>
            </a:r>
            <a:r>
              <a:rPr lang="zh-CN" altLang="en-US" dirty="0">
                <a:effectLst/>
                <a:latin typeface="Google Sans Text"/>
              </a:rPr>
              <a:t>遗传算法（</a:t>
            </a:r>
            <a:r>
              <a:rPr lang="en-US" altLang="zh-CN" dirty="0">
                <a:effectLst/>
                <a:latin typeface="Google Sans Text"/>
              </a:rPr>
              <a:t>Genetic Algorithm, GA</a:t>
            </a:r>
            <a:r>
              <a:rPr lang="zh-CN" altLang="en-US" dirty="0">
                <a:effectLst/>
                <a:latin typeface="Google Sans Text"/>
              </a:rPr>
              <a:t>）。</a:t>
            </a:r>
            <a:endParaRPr lang="zh-CN" altLang="en-US" dirty="0">
              <a:effectLst/>
              <a:latin typeface="Google Sans Text"/>
            </a:endParaRPr>
          </a:p>
          <a:p>
            <a:r>
              <a:rPr lang="zh-CN" altLang="en-US" dirty="0">
                <a:effectLst/>
                <a:latin typeface="Google Sans Text"/>
              </a:rPr>
              <a:t>遗传算法直接从达尔文的生物进化与自然选择理论中汲取核心思想，其最显著的优势在于多点并行探索（</a:t>
            </a:r>
            <a:r>
              <a:rPr lang="en-US" altLang="zh-CN" dirty="0">
                <a:effectLst/>
                <a:latin typeface="Google Sans Text"/>
              </a:rPr>
              <a:t>Multi-point Parallel Exploration</a:t>
            </a:r>
            <a:r>
              <a:rPr lang="zh-CN" altLang="en-US" dirty="0">
                <a:effectLst/>
                <a:latin typeface="Google Sans Text"/>
              </a:rPr>
              <a:t>）。它不再追踪单一的配置点，而是同时维护一个由大量候选程序组成的种群（</a:t>
            </a:r>
            <a:r>
              <a:rPr lang="en-US" altLang="zh-CN" dirty="0">
                <a:effectLst/>
                <a:latin typeface="Google Sans Text"/>
              </a:rPr>
              <a:t>Population</a:t>
            </a:r>
            <a:r>
              <a:rPr lang="zh-CN" altLang="en-US" dirty="0">
                <a:effectLst/>
                <a:latin typeface="Google Sans Text"/>
              </a:rPr>
              <a:t>） 。在调优语境下，每一个具体的张量程序配置（例如特定维度的</a:t>
            </a:r>
            <a:r>
              <a:rPr lang="en-US" altLang="zh-CN" dirty="0">
                <a:effectLst/>
                <a:latin typeface="Google Sans Text"/>
              </a:rPr>
              <a:t>Tiling</a:t>
            </a:r>
            <a:r>
              <a:rPr lang="zh-CN" altLang="en-US" dirty="0">
                <a:effectLst/>
                <a:latin typeface="Google Sans Text"/>
              </a:rPr>
              <a:t>因子、</a:t>
            </a:r>
            <a:r>
              <a:rPr lang="en-US" altLang="zh-CN" dirty="0">
                <a:effectLst/>
                <a:latin typeface="Google Sans Text"/>
              </a:rPr>
              <a:t>Unroll</a:t>
            </a:r>
            <a:r>
              <a:rPr lang="zh-CN" altLang="en-US" dirty="0">
                <a:effectLst/>
                <a:latin typeface="Google Sans Text"/>
              </a:rPr>
              <a:t>设定等）被抽象为个体（</a:t>
            </a:r>
            <a:r>
              <a:rPr lang="en-US" altLang="zh-CN" dirty="0">
                <a:effectLst/>
                <a:latin typeface="Google Sans Text"/>
              </a:rPr>
              <a:t>Individual</a:t>
            </a:r>
            <a:r>
              <a:rPr lang="zh-CN" altLang="en-US" dirty="0">
                <a:effectLst/>
                <a:latin typeface="Google Sans Text"/>
              </a:rPr>
              <a:t>），其参数组合被编码为“染色体”或“基因序列”。个体的适应度（</a:t>
            </a:r>
            <a:r>
              <a:rPr lang="en-US" altLang="zh-CN" dirty="0">
                <a:effectLst/>
                <a:latin typeface="Google Sans Text"/>
              </a:rPr>
              <a:t>Fitness</a:t>
            </a:r>
            <a:r>
              <a:rPr lang="zh-CN" altLang="en-US" dirty="0">
                <a:effectLst/>
                <a:latin typeface="Google Sans Text"/>
              </a:rPr>
              <a:t>）同样由底层代价模型给出的吞吐量预测值来决定 。</a:t>
            </a:r>
            <a:endParaRPr lang="zh-CN" altLang="en-US" dirty="0">
              <a:effectLst/>
              <a:latin typeface="Google Sans Text"/>
            </a:endParaRPr>
          </a:p>
          <a:p>
            <a:r>
              <a:rPr lang="zh-CN" altLang="en-US" dirty="0">
                <a:effectLst/>
                <a:latin typeface="Google Sans Text"/>
              </a:rPr>
              <a:t>遗传算法的执行逻辑由四个严密嵌套的算子构成：种群初始化、选择、交叉与变异。首先，系统通过随机采样以及引入历史评测中的高分程序，生成具备高度多样性的初始种群。进入进化世代后，**选择（</a:t>
            </a:r>
            <a:r>
              <a:rPr lang="en-US" altLang="zh-CN" dirty="0">
                <a:effectLst/>
                <a:latin typeface="Google Sans Text"/>
              </a:rPr>
              <a:t>Selection</a:t>
            </a:r>
            <a:r>
              <a:rPr lang="zh-CN" altLang="en-US" dirty="0">
                <a:effectLst/>
                <a:latin typeface="Google Sans Text"/>
              </a:rPr>
              <a:t>）**算子（如锦标赛选择或轮盘赌算法）依据适应度分布，赋予性能优异的程序更高的繁衍权重，确保了优势算子结构的延续 。</a:t>
            </a:r>
            <a:endParaRPr lang="zh-CN" altLang="en-US" dirty="0">
              <a:effectLst/>
              <a:latin typeface="Google Sans Text"/>
            </a:endParaRPr>
          </a:p>
          <a:p>
            <a:r>
              <a:rPr lang="zh-CN" altLang="en-US" dirty="0">
                <a:effectLst/>
                <a:latin typeface="Google Sans Text"/>
              </a:rPr>
              <a:t>**交叉（</a:t>
            </a:r>
            <a:r>
              <a:rPr lang="en-US" altLang="zh-CN" dirty="0">
                <a:effectLst/>
                <a:latin typeface="Google Sans Text"/>
              </a:rPr>
              <a:t>Crossover</a:t>
            </a:r>
            <a:r>
              <a:rPr lang="zh-CN" altLang="en-US" dirty="0">
                <a:effectLst/>
                <a:latin typeface="Google Sans Text"/>
              </a:rPr>
              <a:t>）**是遗传算法在复杂空间中合成创新解的核心引擎。被选中的父代程序会交换其内部的基因片段。在处理张量程序的调度时，由于粗暴的参数互换会破坏循环的语义合法性，系统（如</a:t>
            </a:r>
            <a:r>
              <a:rPr lang="en-US" altLang="zh-CN" dirty="0" err="1">
                <a:effectLst/>
                <a:latin typeface="Google Sans Text"/>
              </a:rPr>
              <a:t>Ansor</a:t>
            </a:r>
            <a:r>
              <a:rPr lang="zh-CN" altLang="en-US" dirty="0">
                <a:effectLst/>
                <a:latin typeface="Google Sans Text"/>
              </a:rPr>
              <a:t>）创造性地将算子生成的“重写历史步骤（</a:t>
            </a:r>
            <a:r>
              <a:rPr lang="en-US" altLang="zh-CN" dirty="0">
                <a:effectLst/>
                <a:latin typeface="Google Sans Text"/>
              </a:rPr>
              <a:t>Rewriting Steps</a:t>
            </a:r>
            <a:r>
              <a:rPr lang="zh-CN" altLang="en-US" dirty="0">
                <a:effectLst/>
                <a:latin typeface="Google Sans Text"/>
              </a:rPr>
              <a:t>）”定义为基因。通过智能地合并不同高性能个体的重写步骤，算法能够完美地将一个程序中优秀的内存布局与另一个程序中极致的并行展开策略融为一体，生成超越前代的超级后代 。</a:t>
            </a:r>
            <a:endParaRPr lang="zh-CN" altLang="en-US" dirty="0">
              <a:effectLst/>
              <a:latin typeface="Google Sans Text"/>
            </a:endParaRPr>
          </a:p>
          <a:p>
            <a:r>
              <a:rPr lang="zh-CN" altLang="en-US" dirty="0">
                <a:effectLst/>
                <a:latin typeface="Google Sans Text"/>
              </a:rPr>
              <a:t>为了对抗种群同质化并防止算法过早收敛于局部极值，**变异（</a:t>
            </a:r>
            <a:r>
              <a:rPr lang="en-US" altLang="zh-CN" dirty="0">
                <a:effectLst/>
                <a:latin typeface="Google Sans Text"/>
              </a:rPr>
              <a:t>Mutation</a:t>
            </a:r>
            <a:r>
              <a:rPr lang="zh-CN" altLang="en-US" dirty="0">
                <a:effectLst/>
                <a:latin typeface="Google Sans Text"/>
              </a:rPr>
              <a:t>）**算子以较低概率在子代群体中注入随机扰动（例如随机突变某个循环的分割因子大小） 。此外，诸如自适应参数控制（</a:t>
            </a:r>
            <a:r>
              <a:rPr lang="en-US" altLang="zh-CN" dirty="0">
                <a:effectLst/>
                <a:latin typeface="Google Sans Text"/>
              </a:rPr>
              <a:t>Adaptive Parameter Tuning</a:t>
            </a:r>
            <a:r>
              <a:rPr lang="zh-CN" altLang="en-US" dirty="0">
                <a:effectLst/>
                <a:latin typeface="Google Sans Text"/>
              </a:rPr>
              <a:t>）的进阶技术也被引入，当算法检测到连续多个世代无性能提升时，会自动放大变异率或调整交叉概率，从而强制种群跳出当前的优化陷阱 。这种基于演化规律的多点并发机制，在处理包含严密数学约束（如内存大小限制、并行度整除要求）的离散算子空间时，展现出了远超退火算法的鲁棒性与天花板上限 。</a:t>
            </a:r>
            <a:endParaRPr lang="zh-CN" altLang="en-US" dirty="0">
              <a:effectLst/>
              <a:latin typeface="Google Sans Text"/>
            </a:endParaRP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Google Sans Text"/>
                <a:sym typeface="+mn-ea"/>
              </a:rPr>
              <a:t>而</a:t>
            </a:r>
            <a:r>
              <a:rPr lang="zh-CN" altLang="en-US" b="1" dirty="0">
                <a:effectLst/>
                <a:latin typeface="Google Sans Text"/>
                <a:sym typeface="+mn-ea"/>
              </a:rPr>
              <a:t>强化学习（</a:t>
            </a:r>
            <a:r>
              <a:rPr lang="en-US" altLang="zh-CN" b="1" dirty="0">
                <a:effectLst/>
                <a:latin typeface="Google Sans Text"/>
                <a:sym typeface="+mn-ea"/>
              </a:rPr>
              <a:t>RL</a:t>
            </a:r>
            <a:r>
              <a:rPr lang="zh-CN" altLang="en-US" b="1" dirty="0">
                <a:effectLst/>
                <a:latin typeface="Google Sans Text"/>
                <a:sym typeface="+mn-ea"/>
              </a:rPr>
              <a:t>）</a:t>
            </a:r>
            <a:r>
              <a:rPr lang="zh-CN" altLang="en-US" dirty="0">
                <a:effectLst/>
                <a:latin typeface="Google Sans Text"/>
                <a:sym typeface="+mn-ea"/>
              </a:rPr>
              <a:t> 则为算子调优带来了另一种更具连贯性的序贯决策视角。</a:t>
            </a:r>
            <a:r>
              <a:rPr lang="en-US" altLang="zh-CN" dirty="0">
                <a:effectLst/>
                <a:latin typeface="Google Sans Text"/>
                <a:sym typeface="+mn-ea"/>
              </a:rPr>
              <a:t>RL</a:t>
            </a:r>
            <a:r>
              <a:rPr lang="zh-CN" altLang="en-US" dirty="0">
                <a:effectLst/>
                <a:latin typeface="Google Sans Text"/>
                <a:sym typeface="+mn-ea"/>
              </a:rPr>
              <a:t>抛弃了对静态配置的单点评估，转而将调度序列的生成过程直接建模为</a:t>
            </a:r>
            <a:r>
              <a:rPr lang="zh-CN" altLang="en-US" b="1" dirty="0">
                <a:effectLst/>
                <a:latin typeface="Google Sans Text"/>
                <a:sym typeface="+mn-ea"/>
              </a:rPr>
              <a:t>马尔可夫决策过程（</a:t>
            </a:r>
            <a:r>
              <a:rPr lang="en-US" altLang="zh-CN" b="1" dirty="0">
                <a:effectLst/>
                <a:latin typeface="Google Sans Text"/>
                <a:sym typeface="+mn-ea"/>
              </a:rPr>
              <a:t>MDP</a:t>
            </a:r>
            <a:r>
              <a:rPr lang="zh-CN" altLang="en-US" b="1" dirty="0">
                <a:effectLst/>
                <a:latin typeface="Google Sans Text"/>
                <a:sym typeface="+mn-ea"/>
              </a:rPr>
              <a:t>）</a:t>
            </a:r>
            <a:r>
              <a:rPr lang="zh-CN" altLang="en-US" dirty="0">
                <a:effectLst/>
                <a:latin typeface="Google Sans Text"/>
                <a:sym typeface="+mn-ea"/>
              </a:rPr>
              <a:t> 。在这个由 </a:t>
            </a:r>
            <a:r>
              <a:rPr lang="en-US" altLang="zh-CN" dirty="0">
                <a:effectLst/>
                <a:latin typeface="Google Sans Text"/>
                <a:sym typeface="+mn-ea"/>
              </a:rPr>
              <a:t>$&lt;S, A, T, R, \gamma&gt;$ </a:t>
            </a:r>
            <a:r>
              <a:rPr lang="zh-CN" altLang="en-US" dirty="0">
                <a:effectLst/>
                <a:latin typeface="Google Sans Text"/>
                <a:sym typeface="+mn-ea"/>
              </a:rPr>
              <a:t>构成的五元组中，智能体（即自动调优器）不断与环境（编译器基础设施与硬件）进行交互 。</a:t>
            </a:r>
            <a:endParaRPr lang="zh-CN" altLang="en-US" dirty="0">
              <a:effectLst/>
              <a:latin typeface="Google Sans Text"/>
            </a:endParaRPr>
          </a:p>
          <a:p>
            <a:r>
              <a:rPr lang="zh-CN" altLang="en-US" dirty="0">
                <a:effectLst/>
                <a:latin typeface="Google Sans Text"/>
                <a:sym typeface="+mn-ea"/>
              </a:rPr>
              <a:t>具体而言，</a:t>
            </a:r>
            <a:r>
              <a:rPr lang="zh-CN" altLang="en-US" b="1" dirty="0">
                <a:effectLst/>
                <a:latin typeface="Google Sans Text"/>
                <a:sym typeface="+mn-ea"/>
              </a:rPr>
              <a:t>状态（</a:t>
            </a:r>
            <a:r>
              <a:rPr lang="en-US" altLang="zh-CN" b="1" dirty="0">
                <a:effectLst/>
                <a:latin typeface="Google Sans Text"/>
                <a:sym typeface="+mn-ea"/>
              </a:rPr>
              <a:t>State, S</a:t>
            </a:r>
            <a:r>
              <a:rPr lang="zh-CN" altLang="en-US" b="1" dirty="0">
                <a:effectLst/>
                <a:latin typeface="Google Sans Text"/>
                <a:sym typeface="+mn-ea"/>
              </a:rPr>
              <a:t>）</a:t>
            </a:r>
            <a:r>
              <a:rPr lang="zh-CN" altLang="en-US" dirty="0">
                <a:effectLst/>
                <a:latin typeface="Google Sans Text"/>
                <a:sym typeface="+mn-ea"/>
              </a:rPr>
              <a:t> 被定义为算子当前的抽象语法树（</a:t>
            </a:r>
            <a:r>
              <a:rPr lang="en-US" altLang="zh-CN" dirty="0">
                <a:effectLst/>
                <a:latin typeface="Google Sans Text"/>
                <a:sym typeface="+mn-ea"/>
              </a:rPr>
              <a:t>AST</a:t>
            </a:r>
            <a:r>
              <a:rPr lang="zh-CN" altLang="en-US" dirty="0">
                <a:effectLst/>
                <a:latin typeface="Google Sans Text"/>
                <a:sym typeface="+mn-ea"/>
              </a:rPr>
              <a:t>）、部分构建的计算图或是底层特征向量 。</a:t>
            </a:r>
            <a:r>
              <a:rPr lang="zh-CN" altLang="en-US" b="1" dirty="0">
                <a:effectLst/>
                <a:latin typeface="Google Sans Text"/>
                <a:sym typeface="+mn-ea"/>
              </a:rPr>
              <a:t>动作（</a:t>
            </a:r>
            <a:r>
              <a:rPr lang="en-US" altLang="zh-CN" b="1" dirty="0">
                <a:effectLst/>
                <a:latin typeface="Google Sans Text"/>
                <a:sym typeface="+mn-ea"/>
              </a:rPr>
              <a:t>Action, A</a:t>
            </a:r>
            <a:r>
              <a:rPr lang="zh-CN" altLang="en-US" b="1" dirty="0">
                <a:effectLst/>
                <a:latin typeface="Google Sans Text"/>
                <a:sym typeface="+mn-ea"/>
              </a:rPr>
              <a:t>）</a:t>
            </a:r>
            <a:r>
              <a:rPr lang="zh-CN" altLang="en-US" dirty="0">
                <a:effectLst/>
                <a:latin typeface="Google Sans Text"/>
                <a:sym typeface="+mn-ea"/>
              </a:rPr>
              <a:t> 对应于调度器可以执行的一步具体程序变换，例如“在</a:t>
            </a:r>
            <a:r>
              <a:rPr lang="en-US" altLang="zh-CN" dirty="0">
                <a:effectLst/>
                <a:latin typeface="Google Sans Text"/>
                <a:sym typeface="+mn-ea"/>
              </a:rPr>
              <a:t>K</a:t>
            </a:r>
            <a:r>
              <a:rPr lang="zh-CN" altLang="en-US" dirty="0">
                <a:effectLst/>
                <a:latin typeface="Google Sans Text"/>
                <a:sym typeface="+mn-ea"/>
              </a:rPr>
              <a:t>轴上执行系数为</a:t>
            </a:r>
            <a:r>
              <a:rPr lang="en-US" altLang="zh-CN" dirty="0">
                <a:effectLst/>
                <a:latin typeface="Google Sans Text"/>
                <a:sym typeface="+mn-ea"/>
              </a:rPr>
              <a:t>32</a:t>
            </a:r>
            <a:r>
              <a:rPr lang="zh-CN" altLang="en-US" dirty="0">
                <a:effectLst/>
                <a:latin typeface="Google Sans Text"/>
                <a:sym typeface="+mn-ea"/>
              </a:rPr>
              <a:t>的</a:t>
            </a:r>
            <a:r>
              <a:rPr lang="en-US" altLang="zh-CN" dirty="0">
                <a:effectLst/>
                <a:latin typeface="Google Sans Text"/>
                <a:sym typeface="+mn-ea"/>
              </a:rPr>
              <a:t>Tiling”</a:t>
            </a:r>
            <a:r>
              <a:rPr lang="zh-CN" altLang="en-US" dirty="0">
                <a:effectLst/>
                <a:latin typeface="Google Sans Text"/>
                <a:sym typeface="+mn-ea"/>
              </a:rPr>
              <a:t>或“应用向量化” 。随着动作的逐个应用，程序状态发生转移。当一系列调度指令最终构成一个可编译的</a:t>
            </a:r>
            <a:r>
              <a:rPr lang="en-US" altLang="zh-CN" dirty="0">
                <a:effectLst/>
                <a:latin typeface="Google Sans Text"/>
                <a:sym typeface="+mn-ea"/>
              </a:rPr>
              <a:t>Kernel</a:t>
            </a:r>
            <a:r>
              <a:rPr lang="zh-CN" altLang="en-US" dirty="0">
                <a:effectLst/>
                <a:latin typeface="Google Sans Text"/>
                <a:sym typeface="+mn-ea"/>
              </a:rPr>
              <a:t>下发到真实硬件后，硬件返回的执行延迟或吞吐量便构成了极其关键的</a:t>
            </a:r>
            <a:r>
              <a:rPr lang="zh-CN" altLang="en-US" b="1" dirty="0">
                <a:effectLst/>
                <a:latin typeface="Google Sans Text"/>
                <a:sym typeface="+mn-ea"/>
              </a:rPr>
              <a:t>奖励函数（</a:t>
            </a:r>
            <a:r>
              <a:rPr lang="en-US" altLang="zh-CN" b="1" dirty="0">
                <a:effectLst/>
                <a:latin typeface="Google Sans Text"/>
                <a:sym typeface="+mn-ea"/>
              </a:rPr>
              <a:t>Reward Function, R</a:t>
            </a:r>
            <a:r>
              <a:rPr lang="zh-CN" altLang="en-US" b="1" dirty="0">
                <a:effectLst/>
                <a:latin typeface="Google Sans Text"/>
                <a:sym typeface="+mn-ea"/>
              </a:rPr>
              <a:t>）</a:t>
            </a:r>
            <a:r>
              <a:rPr lang="zh-CN" altLang="en-US" dirty="0">
                <a:effectLst/>
                <a:latin typeface="Google Sans Text"/>
                <a:sym typeface="+mn-ea"/>
              </a:rPr>
              <a:t> 。</a:t>
            </a:r>
            <a:endParaRPr lang="zh-CN" altLang="en-US" dirty="0">
              <a:effectLst/>
              <a:latin typeface="Google Sans Text"/>
            </a:endParaRPr>
          </a:p>
          <a:p>
            <a:r>
              <a:rPr lang="zh-CN" altLang="en-US" dirty="0">
                <a:effectLst/>
                <a:latin typeface="Google Sans Text"/>
                <a:sym typeface="+mn-ea"/>
              </a:rPr>
              <a:t>由于程序的性能具有非附加性和稀疏性</a:t>
            </a:r>
            <a:r>
              <a:rPr lang="en-US" altLang="zh-CN" dirty="0">
                <a:effectLst/>
                <a:latin typeface="Google Sans Text"/>
                <a:sym typeface="+mn-ea"/>
              </a:rPr>
              <a:t>——</a:t>
            </a:r>
            <a:r>
              <a:rPr lang="zh-CN" altLang="en-US" dirty="0">
                <a:effectLst/>
                <a:latin typeface="Google Sans Text"/>
                <a:sym typeface="+mn-ea"/>
              </a:rPr>
              <a:t>单独的</a:t>
            </a:r>
            <a:r>
              <a:rPr lang="en-US" altLang="zh-CN" dirty="0">
                <a:effectLst/>
                <a:latin typeface="Google Sans Text"/>
                <a:sym typeface="+mn-ea"/>
              </a:rPr>
              <a:t>Tiling</a:t>
            </a:r>
            <a:r>
              <a:rPr lang="zh-CN" altLang="en-US" dirty="0">
                <a:effectLst/>
                <a:latin typeface="Google Sans Text"/>
                <a:sym typeface="+mn-ea"/>
              </a:rPr>
              <a:t>可能导致性能下降，但结合内存提升（</a:t>
            </a:r>
            <a:r>
              <a:rPr lang="en-US" altLang="zh-CN" dirty="0">
                <a:effectLst/>
                <a:latin typeface="Google Sans Text"/>
                <a:sym typeface="+mn-ea"/>
              </a:rPr>
              <a:t>Memory Promotion</a:t>
            </a:r>
            <a:r>
              <a:rPr lang="zh-CN" altLang="en-US" dirty="0">
                <a:effectLst/>
                <a:latin typeface="Google Sans Text"/>
                <a:sym typeface="+mn-ea"/>
              </a:rPr>
              <a:t>）后可能带来百倍的加速，强化学习（如</a:t>
            </a:r>
            <a:r>
              <a:rPr lang="en-US" altLang="zh-CN" dirty="0">
                <a:effectLst/>
                <a:latin typeface="Google Sans Text"/>
                <a:sym typeface="+mn-ea"/>
              </a:rPr>
              <a:t>PPO</a:t>
            </a:r>
            <a:r>
              <a:rPr lang="zh-CN" altLang="en-US" dirty="0">
                <a:effectLst/>
                <a:latin typeface="Google Sans Text"/>
                <a:sym typeface="+mn-ea"/>
              </a:rPr>
              <a:t>算法或</a:t>
            </a:r>
            <a:r>
              <a:rPr lang="en-US" altLang="zh-CN" dirty="0">
                <a:effectLst/>
                <a:latin typeface="Google Sans Text"/>
                <a:sym typeface="+mn-ea"/>
              </a:rPr>
              <a:t>Actor-Critic</a:t>
            </a:r>
            <a:r>
              <a:rPr lang="zh-CN" altLang="en-US" dirty="0">
                <a:effectLst/>
                <a:latin typeface="Google Sans Text"/>
                <a:sym typeface="+mn-ea"/>
              </a:rPr>
              <a:t>架构）天然适合捕捉这种动作之间的长期组合依赖关系 。智能体通过不断试错并获取延迟反馈，利用梯度上升算法优化自身的策略网络，最终不仅能学会“针对单一算子选取最优参数”，更能抽象出“如何像人类编译专家一样去思考和优化一类算子”的元知识 。</a:t>
            </a:r>
            <a:endParaRPr lang="zh-CN" altLang="en-US" dirty="0">
              <a:effectLst/>
              <a:latin typeface="Google Sans Text"/>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effectLst/>
                <a:latin typeface="Google Sans"/>
              </a:rPr>
              <a:t>什么是端到端协同优化？</a:t>
            </a:r>
            <a:endParaRPr lang="zh-CN" altLang="en-US" b="1" dirty="0">
              <a:effectLst/>
              <a:latin typeface="Google Sans"/>
            </a:endParaRPr>
          </a:p>
          <a:p>
            <a:r>
              <a:rPr lang="zh-CN" altLang="en-US" dirty="0">
                <a:effectLst/>
                <a:latin typeface="Google Sans Text"/>
              </a:rPr>
              <a:t>端到端协同优化可以抽象为一个“漏斗模型”。在漏斗的顶部，算法设计决定了计算图的拓扑结构和算术强度。通过算法层面的结构优化（如引入混合专家模型 </a:t>
            </a:r>
            <a:r>
              <a:rPr lang="en-US" altLang="zh-CN" dirty="0" err="1">
                <a:effectLst/>
                <a:latin typeface="Google Sans Text"/>
              </a:rPr>
              <a:t>MoE</a:t>
            </a:r>
            <a:r>
              <a:rPr lang="en-US" altLang="zh-CN" dirty="0">
                <a:effectLst/>
                <a:latin typeface="Google Sans Text"/>
              </a:rPr>
              <a:t> </a:t>
            </a:r>
            <a:r>
              <a:rPr lang="zh-CN" altLang="en-US" dirty="0">
                <a:effectLst/>
                <a:latin typeface="Google Sans Text"/>
              </a:rPr>
              <a:t>或优化注意力机制），可以从源头上降低计算复杂度或显存压力 。进入编译器层后，计算图会被进一步精简和重组，算子融合（</a:t>
            </a:r>
            <a:r>
              <a:rPr lang="en-US" altLang="zh-CN" dirty="0">
                <a:effectLst/>
                <a:latin typeface="Google Sans Text"/>
              </a:rPr>
              <a:t>Operator Fusion</a:t>
            </a:r>
            <a:r>
              <a:rPr lang="zh-CN" altLang="en-US" dirty="0">
                <a:effectLst/>
                <a:latin typeface="Google Sans Text"/>
              </a:rPr>
              <a:t>）等策略将多个零散的数学运算合并为单一的硬件调用，从而减少昂贵的数据搬运开销 。漏斗的底部则是算子实现层，通过对手写 </a:t>
            </a:r>
            <a:r>
              <a:rPr lang="en-US" altLang="zh-CN" dirty="0">
                <a:effectLst/>
                <a:latin typeface="Google Sans Text"/>
              </a:rPr>
              <a:t>Kernel </a:t>
            </a:r>
            <a:r>
              <a:rPr lang="zh-CN" altLang="en-US" dirty="0">
                <a:effectLst/>
                <a:latin typeface="Google Sans Text"/>
              </a:rPr>
              <a:t>的极致调优，利用硬件特定的指令集（如张量核心 </a:t>
            </a:r>
            <a:r>
              <a:rPr lang="en-US" altLang="zh-CN" dirty="0">
                <a:effectLst/>
                <a:latin typeface="Google Sans Text"/>
              </a:rPr>
              <a:t>Tensor Core </a:t>
            </a:r>
            <a:r>
              <a:rPr lang="zh-CN" altLang="en-US" dirty="0">
                <a:effectLst/>
                <a:latin typeface="Google Sans Text"/>
              </a:rPr>
              <a:t>或向量单元）实现峰值吞吐 。</a:t>
            </a:r>
            <a:endParaRPr lang="zh-CN" altLang="en-US" dirty="0">
              <a:effectLst/>
              <a:latin typeface="Google Sans Text"/>
            </a:endParaRPr>
          </a:p>
          <a:p>
            <a:r>
              <a:rPr lang="zh-CN" altLang="en-US" dirty="0">
                <a:effectLst/>
                <a:latin typeface="Google Sans Text"/>
              </a:rPr>
              <a:t>这种协同不仅是正向的，更包含关键的逆向反馈机制。底层硬件的存储层次结构（如 </a:t>
            </a:r>
            <a:r>
              <a:rPr lang="en-US" altLang="zh-CN" dirty="0">
                <a:effectLst/>
                <a:latin typeface="Google Sans Text"/>
              </a:rPr>
              <a:t>HBM </a:t>
            </a:r>
            <a:r>
              <a:rPr lang="zh-CN" altLang="en-US" dirty="0">
                <a:effectLst/>
                <a:latin typeface="Google Sans Text"/>
              </a:rPr>
              <a:t>带宽、片上 </a:t>
            </a:r>
            <a:r>
              <a:rPr lang="en-US" altLang="zh-CN" dirty="0">
                <a:effectLst/>
                <a:latin typeface="Google Sans Text"/>
              </a:rPr>
              <a:t>SRAM </a:t>
            </a:r>
            <a:r>
              <a:rPr lang="zh-CN" altLang="en-US" dirty="0">
                <a:effectLst/>
                <a:latin typeface="Google Sans Text"/>
              </a:rPr>
              <a:t>大小）会反过来制约算子的分块（</a:t>
            </a:r>
            <a:r>
              <a:rPr lang="en-US" altLang="zh-CN" dirty="0">
                <a:effectLst/>
                <a:latin typeface="Google Sans Text"/>
              </a:rPr>
              <a:t>Tiling</a:t>
            </a:r>
            <a:r>
              <a:rPr lang="zh-CN" altLang="en-US" dirty="0">
                <a:effectLst/>
                <a:latin typeface="Google Sans Text"/>
              </a:rPr>
              <a:t>）策略，并最终影响算法层对块大小（</a:t>
            </a:r>
            <a:r>
              <a:rPr lang="en-US" altLang="zh-CN" dirty="0">
                <a:effectLst/>
                <a:latin typeface="Google Sans Text"/>
              </a:rPr>
              <a:t>Block Size</a:t>
            </a:r>
            <a:r>
              <a:rPr lang="zh-CN" altLang="en-US" dirty="0">
                <a:effectLst/>
                <a:latin typeface="Google Sans Text"/>
              </a:rPr>
              <a:t>）或量化精度的选择 。</a:t>
            </a:r>
            <a:r>
              <a:rPr lang="en-US" altLang="zh-CN" dirty="0" err="1">
                <a:effectLst/>
                <a:latin typeface="Google Sans Text"/>
              </a:rPr>
              <a:t>FlagOS</a:t>
            </a:r>
            <a:r>
              <a:rPr lang="en-US" altLang="zh-CN" dirty="0">
                <a:effectLst/>
                <a:latin typeface="Google Sans Text"/>
              </a:rPr>
              <a:t> </a:t>
            </a:r>
            <a:r>
              <a:rPr lang="zh-CN" altLang="en-US" dirty="0">
                <a:effectLst/>
                <a:latin typeface="Google Sans Text"/>
              </a:rPr>
              <a:t>社区倡导的“模型</a:t>
            </a:r>
            <a:r>
              <a:rPr lang="en-US" altLang="zh-CN" dirty="0">
                <a:effectLst/>
                <a:latin typeface="Google Sans Text"/>
              </a:rPr>
              <a:t>-</a:t>
            </a:r>
            <a:r>
              <a:rPr lang="zh-CN" altLang="en-US" dirty="0">
                <a:effectLst/>
                <a:latin typeface="Google Sans Text"/>
              </a:rPr>
              <a:t>系统</a:t>
            </a:r>
            <a:r>
              <a:rPr lang="en-US" altLang="zh-CN" dirty="0">
                <a:effectLst/>
                <a:latin typeface="Google Sans Text"/>
              </a:rPr>
              <a:t>-</a:t>
            </a:r>
            <a:r>
              <a:rPr lang="zh-CN" altLang="en-US" dirty="0">
                <a:effectLst/>
                <a:latin typeface="Google Sans Text"/>
              </a:rPr>
              <a:t>芯片”三层开放技术生态，正是基于这一设计理念，旨在实现“一次开发，跨芯迁移”的高效工作流，打破不同芯片软件栈之间的生态隔阂 。</a:t>
            </a:r>
            <a:endParaRPr lang="zh-CN" altLang="en-US" dirty="0">
              <a:effectLst/>
              <a:latin typeface="Google Sans Text"/>
            </a:endParaRP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effectLst/>
                <a:latin typeface="Google Sans"/>
              </a:rPr>
              <a:t>大模型推理面临的“内存墙”与“计算墙”</a:t>
            </a:r>
            <a:endParaRPr lang="zh-CN" altLang="en-US" b="1" dirty="0">
              <a:effectLst/>
              <a:latin typeface="Google Sans"/>
            </a:endParaRPr>
          </a:p>
          <a:p>
            <a:r>
              <a:rPr lang="zh-CN" altLang="en-US" dirty="0">
                <a:effectLst/>
                <a:latin typeface="Google Sans Text"/>
              </a:rPr>
              <a:t>当前大模型推理主要面临双重物理制约：内存墙（</a:t>
            </a:r>
            <a:r>
              <a:rPr lang="en-US" altLang="zh-CN" dirty="0">
                <a:effectLst/>
                <a:latin typeface="Google Sans Text"/>
              </a:rPr>
              <a:t>Memory Wall</a:t>
            </a:r>
            <a:r>
              <a:rPr lang="zh-CN" altLang="en-US" dirty="0">
                <a:effectLst/>
                <a:latin typeface="Google Sans Text"/>
              </a:rPr>
              <a:t>）与计算墙（</a:t>
            </a:r>
            <a:r>
              <a:rPr lang="en-US" altLang="zh-CN" dirty="0">
                <a:effectLst/>
                <a:latin typeface="Google Sans Text"/>
              </a:rPr>
              <a:t>Compute Wall</a:t>
            </a:r>
            <a:r>
              <a:rPr lang="zh-CN" altLang="en-US" dirty="0">
                <a:effectLst/>
                <a:latin typeface="Google Sans Text"/>
              </a:rPr>
              <a:t>）。内存墙是指由于内存带宽增长速度远滞后于处理器算力增长速度，导致模型在解码阶段（</a:t>
            </a:r>
            <a:r>
              <a:rPr lang="en-US" altLang="zh-CN" dirty="0">
                <a:effectLst/>
                <a:latin typeface="Google Sans Text"/>
              </a:rPr>
              <a:t>Decoding Phase</a:t>
            </a:r>
            <a:r>
              <a:rPr lang="zh-CN" altLang="en-US" dirty="0">
                <a:effectLst/>
                <a:latin typeface="Google Sans Text"/>
              </a:rPr>
              <a:t>）大部分时间处于等待数据读取的状态 。在处理长上下文或大规模批处理时，频繁访问外部存储器（如 </a:t>
            </a:r>
            <a:r>
              <a:rPr lang="en-US" altLang="zh-CN" dirty="0">
                <a:effectLst/>
                <a:latin typeface="Google Sans Text"/>
              </a:rPr>
              <a:t>DRAM </a:t>
            </a:r>
            <a:r>
              <a:rPr lang="zh-CN" altLang="en-US" dirty="0">
                <a:effectLst/>
                <a:latin typeface="Google Sans Text"/>
              </a:rPr>
              <a:t>或 </a:t>
            </a:r>
            <a:r>
              <a:rPr lang="en-US" altLang="zh-CN" dirty="0">
                <a:effectLst/>
                <a:latin typeface="Google Sans Text"/>
              </a:rPr>
              <a:t>HBM</a:t>
            </a:r>
            <a:r>
              <a:rPr lang="zh-CN" altLang="en-US" dirty="0">
                <a:effectLst/>
                <a:latin typeface="Google Sans Text"/>
              </a:rPr>
              <a:t>）不仅增加了延迟，更显著拉高了系统功耗 。</a:t>
            </a:r>
            <a:endParaRPr lang="zh-CN" altLang="en-US" dirty="0">
              <a:effectLst/>
              <a:latin typeface="Google Sans Text"/>
            </a:endParaRP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effectLst/>
                <a:latin typeface="Google Sans"/>
              </a:rPr>
              <a:t>第二层：编译器级优化策略</a:t>
            </a:r>
            <a:endParaRPr lang="zh-CN" altLang="en-US" b="1" dirty="0">
              <a:effectLst/>
              <a:latin typeface="Google Sans"/>
            </a:endParaRPr>
          </a:p>
          <a:p>
            <a:r>
              <a:rPr lang="zh-CN" altLang="en-US" dirty="0">
                <a:effectLst/>
                <a:latin typeface="Google Sans Text"/>
              </a:rPr>
              <a:t>编译器层是算法逻辑向机器码转化的关键节点。其任务是在不改变算法语义的前提下，最大限度地减少冗余操作和非必要的内存读写。</a:t>
            </a:r>
            <a:endParaRPr lang="zh-CN" altLang="en-US" dirty="0">
              <a:effectLst/>
              <a:latin typeface="Google Sans Text"/>
            </a:endParaRPr>
          </a:p>
          <a:p>
            <a:r>
              <a:rPr lang="zh-CN" altLang="en-US" b="1" dirty="0">
                <a:effectLst/>
                <a:latin typeface="Google Sans"/>
              </a:rPr>
              <a:t>计算图级优化：算子融合与代码消除</a:t>
            </a:r>
            <a:endParaRPr lang="zh-CN" altLang="en-US" b="1" dirty="0">
              <a:effectLst/>
              <a:latin typeface="Google Sans"/>
            </a:endParaRPr>
          </a:p>
          <a:p>
            <a:r>
              <a:rPr lang="zh-CN" altLang="en-US" dirty="0">
                <a:effectLst/>
                <a:latin typeface="Google Sans Text"/>
              </a:rPr>
              <a:t>计算图优化专注于宏观算术逻辑的重组。算子融合（</a:t>
            </a:r>
            <a:r>
              <a:rPr lang="en-US" altLang="zh-CN" dirty="0">
                <a:effectLst/>
                <a:latin typeface="Google Sans Text"/>
              </a:rPr>
              <a:t>Operator Fusion</a:t>
            </a:r>
            <a:r>
              <a:rPr lang="zh-CN" altLang="en-US" dirty="0">
                <a:effectLst/>
                <a:latin typeface="Google Sans Text"/>
              </a:rPr>
              <a:t>）是最核心的技术之一，它将相邻的 </a:t>
            </a:r>
            <a:r>
              <a:rPr lang="en-US" altLang="zh-CN" dirty="0">
                <a:effectLst/>
                <a:latin typeface="Google Sans Text"/>
              </a:rPr>
              <a:t>Pointwise </a:t>
            </a:r>
            <a:r>
              <a:rPr lang="zh-CN" altLang="en-US" dirty="0">
                <a:effectLst/>
                <a:latin typeface="Google Sans Text"/>
              </a:rPr>
              <a:t>操作（如 </a:t>
            </a:r>
            <a:r>
              <a:rPr lang="en-US" altLang="zh-CN" dirty="0">
                <a:effectLst/>
                <a:latin typeface="Google Sans Text"/>
              </a:rPr>
              <a:t>Add, Mul, Sigmoid</a:t>
            </a:r>
            <a:r>
              <a:rPr lang="zh-CN" altLang="en-US" dirty="0">
                <a:effectLst/>
                <a:latin typeface="Google Sans Text"/>
              </a:rPr>
              <a:t>）或 </a:t>
            </a:r>
            <a:r>
              <a:rPr lang="en-US" altLang="zh-CN" dirty="0">
                <a:effectLst/>
                <a:latin typeface="Google Sans Text"/>
              </a:rPr>
              <a:t>Reduce </a:t>
            </a:r>
            <a:r>
              <a:rPr lang="zh-CN" altLang="en-US" dirty="0">
                <a:effectLst/>
                <a:latin typeface="Google Sans Text"/>
              </a:rPr>
              <a:t>操作合并为一个单 </a:t>
            </a:r>
            <a:r>
              <a:rPr lang="en-US" altLang="zh-CN" dirty="0">
                <a:effectLst/>
                <a:latin typeface="Google Sans Text"/>
              </a:rPr>
              <a:t>Kernel </a:t>
            </a:r>
            <a:r>
              <a:rPr lang="zh-CN" altLang="en-US" dirty="0">
                <a:effectLst/>
                <a:latin typeface="Google Sans Text"/>
              </a:rPr>
              <a:t>执行。这种融合避免了将中间结果写回主存的昂贵代价，将数据保留在寄存器或 </a:t>
            </a:r>
            <a:r>
              <a:rPr lang="en-US" altLang="zh-CN" dirty="0">
                <a:effectLst/>
                <a:latin typeface="Google Sans Text"/>
              </a:rPr>
              <a:t>L1/L2 </a:t>
            </a:r>
            <a:r>
              <a:rPr lang="zh-CN" altLang="en-US" dirty="0">
                <a:effectLst/>
                <a:latin typeface="Google Sans Text"/>
              </a:rPr>
              <a:t>缓存中，极大提升了访存密集型（</a:t>
            </a:r>
            <a:r>
              <a:rPr lang="en-US" altLang="zh-CN" dirty="0">
                <a:effectLst/>
                <a:latin typeface="Google Sans Text"/>
              </a:rPr>
              <a:t>Memory-bound</a:t>
            </a:r>
            <a:r>
              <a:rPr lang="zh-CN" altLang="en-US" dirty="0">
                <a:effectLst/>
                <a:latin typeface="Google Sans Text"/>
              </a:rPr>
              <a:t>）任务的执行速度 。</a:t>
            </a:r>
            <a:endParaRPr lang="zh-CN" altLang="en-US" dirty="0">
              <a:effectLst/>
              <a:latin typeface="Google Sans Text"/>
            </a:endParaRPr>
          </a:p>
          <a:p>
            <a:r>
              <a:rPr lang="zh-CN" altLang="en-US" dirty="0">
                <a:effectLst/>
                <a:latin typeface="Google Sans Text"/>
              </a:rPr>
              <a:t>此外，常量折叠（</a:t>
            </a:r>
            <a:r>
              <a:rPr lang="en-US" altLang="zh-CN" dirty="0">
                <a:effectLst/>
                <a:latin typeface="Google Sans Text"/>
              </a:rPr>
              <a:t>Constant Folding</a:t>
            </a:r>
            <a:r>
              <a:rPr lang="zh-CN" altLang="en-US" dirty="0">
                <a:effectLst/>
                <a:latin typeface="Google Sans Text"/>
              </a:rPr>
              <a:t>）在编译阶段预先计算静态子图，死代码消除（</a:t>
            </a:r>
            <a:r>
              <a:rPr lang="en-US" altLang="zh-CN" dirty="0">
                <a:effectLst/>
                <a:latin typeface="Google Sans Text"/>
              </a:rPr>
              <a:t>Dead Code Elimination</a:t>
            </a:r>
            <a:r>
              <a:rPr lang="zh-CN" altLang="en-US" dirty="0">
                <a:effectLst/>
                <a:latin typeface="Google Sans Text"/>
              </a:rPr>
              <a:t>）则移除不影响最终输出的冗余计算分支。</a:t>
            </a:r>
            <a:r>
              <a:rPr lang="en-US" altLang="zh-CN" dirty="0" err="1">
                <a:effectLst/>
                <a:latin typeface="Google Sans Text"/>
              </a:rPr>
              <a:t>FlagTree</a:t>
            </a:r>
            <a:r>
              <a:rPr lang="en-US" altLang="zh-CN" dirty="0">
                <a:effectLst/>
                <a:latin typeface="Google Sans Text"/>
              </a:rPr>
              <a:t> </a:t>
            </a:r>
            <a:r>
              <a:rPr lang="zh-CN" altLang="en-US" dirty="0">
                <a:effectLst/>
                <a:latin typeface="Google Sans Text"/>
              </a:rPr>
              <a:t>作为一个统一的 </a:t>
            </a:r>
            <a:r>
              <a:rPr lang="en-US" altLang="zh-CN" dirty="0">
                <a:effectLst/>
                <a:latin typeface="Google Sans Text"/>
              </a:rPr>
              <a:t>AI </a:t>
            </a:r>
            <a:r>
              <a:rPr lang="zh-CN" altLang="en-US" dirty="0">
                <a:effectLst/>
                <a:latin typeface="Google Sans Text"/>
              </a:rPr>
              <a:t>芯片编译器框架，能够针对多种后端（如 </a:t>
            </a:r>
            <a:r>
              <a:rPr lang="en-US" altLang="zh-CN" dirty="0">
                <a:effectLst/>
                <a:latin typeface="Google Sans Text"/>
              </a:rPr>
              <a:t>NVIDIA, Huawei Ascend, Moore Threads </a:t>
            </a:r>
            <a:r>
              <a:rPr lang="zh-CN" altLang="en-US" dirty="0">
                <a:effectLst/>
                <a:latin typeface="Google Sans Text"/>
              </a:rPr>
              <a:t>等）生成高度优化的中间表示（</a:t>
            </a:r>
            <a:r>
              <a:rPr lang="en-US" altLang="zh-CN" dirty="0">
                <a:effectLst/>
                <a:latin typeface="Google Sans Text"/>
              </a:rPr>
              <a:t>FLIR</a:t>
            </a:r>
            <a:r>
              <a:rPr lang="zh-CN" altLang="en-US" dirty="0">
                <a:effectLst/>
                <a:latin typeface="Google Sans Text"/>
              </a:rPr>
              <a:t>），并结合“</a:t>
            </a:r>
            <a:r>
              <a:rPr lang="en-US" altLang="zh-CN" dirty="0" err="1">
                <a:effectLst/>
                <a:latin typeface="Google Sans Text"/>
              </a:rPr>
              <a:t>flagtree_hints</a:t>
            </a:r>
            <a:r>
              <a:rPr lang="en-US" altLang="zh-CN" dirty="0">
                <a:effectLst/>
                <a:latin typeface="Google Sans Text"/>
              </a:rPr>
              <a:t>”</a:t>
            </a:r>
            <a:r>
              <a:rPr lang="zh-CN" altLang="en-US" dirty="0">
                <a:effectLst/>
                <a:latin typeface="Google Sans Text"/>
              </a:rPr>
              <a:t>引导硬件特有的内存管理策略 。</a:t>
            </a:r>
            <a:endParaRPr lang="zh-CN" altLang="en-US" dirty="0">
              <a:effectLst/>
              <a:latin typeface="Google Sans Text"/>
            </a:endParaRP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effectLst/>
                <a:latin typeface="Google Sans"/>
              </a:rPr>
              <a:t>算子实现与硬件微结构优化</a:t>
            </a:r>
            <a:endParaRPr lang="zh-CN" altLang="en-US" b="1" dirty="0">
              <a:effectLst/>
              <a:latin typeface="Google Sans"/>
            </a:endParaRPr>
          </a:p>
          <a:p>
            <a:r>
              <a:rPr lang="zh-CN" altLang="en-US" dirty="0">
                <a:effectLst/>
                <a:latin typeface="Google Sans Text"/>
              </a:rPr>
              <a:t>当优化进入算子实现层，竞争的焦点转变为对硬件指令集和存储层次结构的极致利用。</a:t>
            </a:r>
            <a:endParaRPr lang="zh-CN" altLang="en-US" dirty="0">
              <a:effectLst/>
              <a:latin typeface="Google Sans Text"/>
            </a:endParaRPr>
          </a:p>
          <a:p>
            <a:r>
              <a:rPr lang="zh-CN" altLang="en-US" b="1" dirty="0">
                <a:effectLst/>
                <a:latin typeface="Google Sans"/>
              </a:rPr>
              <a:t>算子级手写与调优：</a:t>
            </a:r>
            <a:r>
              <a:rPr lang="en-US" altLang="zh-CN" b="1" dirty="0">
                <a:effectLst/>
                <a:latin typeface="Google Sans"/>
              </a:rPr>
              <a:t>Kernel </a:t>
            </a:r>
            <a:r>
              <a:rPr lang="zh-CN" altLang="en-US" b="1" dirty="0">
                <a:effectLst/>
                <a:latin typeface="Google Sans"/>
              </a:rPr>
              <a:t>集成全链路</a:t>
            </a:r>
            <a:endParaRPr lang="zh-CN" altLang="en-US" b="1" dirty="0">
              <a:effectLst/>
              <a:latin typeface="Google Sans"/>
            </a:endParaRPr>
          </a:p>
          <a:p>
            <a:r>
              <a:rPr lang="zh-CN" altLang="en-US" dirty="0">
                <a:effectLst/>
                <a:latin typeface="Google Sans Text"/>
              </a:rPr>
              <a:t>虽然自动化编译技术在快速迭代，但针对大模型中的热点算子（如 </a:t>
            </a:r>
            <a:r>
              <a:rPr lang="en-US" altLang="zh-CN" dirty="0" err="1">
                <a:effectLst/>
                <a:latin typeface="Google Sans Text"/>
              </a:rPr>
              <a:t>LayerNorm</a:t>
            </a:r>
            <a:r>
              <a:rPr lang="en-US" altLang="zh-CN" dirty="0">
                <a:effectLst/>
                <a:latin typeface="Google Sans Text"/>
              </a:rPr>
              <a:t>, </a:t>
            </a:r>
            <a:r>
              <a:rPr lang="en-US" altLang="zh-CN" dirty="0" err="1">
                <a:effectLst/>
                <a:latin typeface="Google Sans Text"/>
              </a:rPr>
              <a:t>Softmax</a:t>
            </a:r>
            <a:r>
              <a:rPr lang="en-US" altLang="zh-CN" dirty="0">
                <a:effectLst/>
                <a:latin typeface="Google Sans Text"/>
              </a:rPr>
              <a:t>, </a:t>
            </a:r>
            <a:r>
              <a:rPr lang="en-US" altLang="zh-CN" dirty="0" err="1">
                <a:effectLst/>
                <a:latin typeface="Google Sans Text"/>
              </a:rPr>
              <a:t>RMSNorm</a:t>
            </a:r>
            <a:r>
              <a:rPr lang="zh-CN" altLang="en-US" dirty="0">
                <a:effectLst/>
                <a:latin typeface="Google Sans Text"/>
              </a:rPr>
              <a:t>），手写高性能 </a:t>
            </a:r>
            <a:r>
              <a:rPr lang="en-US" altLang="zh-CN" dirty="0">
                <a:effectLst/>
                <a:latin typeface="Google Sans Text"/>
              </a:rPr>
              <a:t>Kernel </a:t>
            </a:r>
            <a:r>
              <a:rPr lang="zh-CN" altLang="en-US" dirty="0">
                <a:effectLst/>
                <a:latin typeface="Google Sans Text"/>
              </a:rPr>
              <a:t>仍不可或缺。利用 </a:t>
            </a:r>
            <a:r>
              <a:rPr lang="en-US" altLang="zh-CN" dirty="0" err="1">
                <a:effectLst/>
                <a:latin typeface="Google Sans Text"/>
              </a:rPr>
              <a:t>OpenAI</a:t>
            </a:r>
            <a:r>
              <a:rPr lang="en-US" altLang="zh-CN" dirty="0">
                <a:effectLst/>
                <a:latin typeface="Google Sans Text"/>
              </a:rPr>
              <a:t> </a:t>
            </a:r>
            <a:r>
              <a:rPr lang="zh-CN" altLang="en-US" dirty="0">
                <a:effectLst/>
                <a:latin typeface="Google Sans Text"/>
              </a:rPr>
              <a:t>推出的 </a:t>
            </a:r>
            <a:r>
              <a:rPr lang="en-US" altLang="zh-CN" dirty="0">
                <a:effectLst/>
                <a:latin typeface="Google Sans Text"/>
              </a:rPr>
              <a:t>Triton </a:t>
            </a:r>
            <a:r>
              <a:rPr lang="zh-CN" altLang="en-US" dirty="0">
                <a:effectLst/>
                <a:latin typeface="Google Sans Text"/>
              </a:rPr>
              <a:t>语言，开发者可以编写具有高度可读性且性能媲美原生 </a:t>
            </a:r>
            <a:r>
              <a:rPr lang="en-US" altLang="zh-CN" dirty="0">
                <a:effectLst/>
                <a:latin typeface="Google Sans Text"/>
              </a:rPr>
              <a:t>CUDA </a:t>
            </a:r>
            <a:r>
              <a:rPr lang="zh-CN" altLang="en-US" dirty="0">
                <a:effectLst/>
                <a:latin typeface="Google Sans Text"/>
              </a:rPr>
              <a:t>的算子代码 。在端到端链路中，这些调优好的 </a:t>
            </a:r>
            <a:r>
              <a:rPr lang="en-US" altLang="zh-CN" dirty="0">
                <a:effectLst/>
                <a:latin typeface="Google Sans Text"/>
              </a:rPr>
              <a:t>Kernel </a:t>
            </a:r>
            <a:r>
              <a:rPr lang="zh-CN" altLang="en-US" dirty="0">
                <a:effectLst/>
                <a:latin typeface="Google Sans Text"/>
              </a:rPr>
              <a:t>需要通过标准化的 </a:t>
            </a:r>
            <a:r>
              <a:rPr lang="en-US" altLang="zh-CN" dirty="0">
                <a:effectLst/>
                <a:latin typeface="Google Sans Text"/>
              </a:rPr>
              <a:t>API </a:t>
            </a:r>
            <a:r>
              <a:rPr lang="zh-CN" altLang="en-US" dirty="0">
                <a:effectLst/>
                <a:latin typeface="Google Sans Text"/>
              </a:rPr>
              <a:t>集成到上层推理框架中。</a:t>
            </a:r>
            <a:endParaRPr lang="zh-CN" altLang="en-US" dirty="0">
              <a:effectLst/>
              <a:latin typeface="Google Sans Text"/>
            </a:endParaRPr>
          </a:p>
          <a:p>
            <a:r>
              <a:rPr lang="en-US" altLang="zh-CN" dirty="0" err="1">
                <a:effectLst/>
                <a:latin typeface="Google Sans Text"/>
              </a:rPr>
              <a:t>FlagGems</a:t>
            </a:r>
            <a:r>
              <a:rPr lang="en-US" altLang="zh-CN" dirty="0">
                <a:effectLst/>
                <a:latin typeface="Google Sans Text"/>
              </a:rPr>
              <a:t> </a:t>
            </a:r>
            <a:r>
              <a:rPr lang="zh-CN" altLang="en-US" dirty="0">
                <a:effectLst/>
                <a:latin typeface="Google Sans Text"/>
              </a:rPr>
              <a:t>作为高性能通用算子库，提供了大量经过深度调优的 </a:t>
            </a:r>
            <a:r>
              <a:rPr lang="en-US" altLang="zh-CN" dirty="0">
                <a:effectLst/>
                <a:latin typeface="Google Sans Text"/>
              </a:rPr>
              <a:t>Triton </a:t>
            </a:r>
            <a:r>
              <a:rPr lang="zh-CN" altLang="en-US" dirty="0">
                <a:effectLst/>
                <a:latin typeface="Google Sans Text"/>
              </a:rPr>
              <a:t>实现。其核心价值在于“后端中立”的内核集合，能够根据运行时的硬件后端自动派发最优实现 。例如，在复杂的反向传播场景中，</a:t>
            </a:r>
            <a:r>
              <a:rPr lang="en-US" altLang="zh-CN" dirty="0" err="1">
                <a:effectLst/>
                <a:latin typeface="Google Sans Text"/>
              </a:rPr>
              <a:t>FlagGems</a:t>
            </a:r>
            <a:r>
              <a:rPr lang="en-US" altLang="zh-CN" dirty="0">
                <a:effectLst/>
                <a:latin typeface="Google Sans Text"/>
              </a:rPr>
              <a:t> </a:t>
            </a:r>
            <a:r>
              <a:rPr lang="zh-CN" altLang="en-US" dirty="0">
                <a:effectLst/>
                <a:latin typeface="Google Sans Text"/>
              </a:rPr>
              <a:t>提供的 </a:t>
            </a:r>
            <a:r>
              <a:rPr lang="en-US" altLang="zh-CN" dirty="0" err="1">
                <a:effectLst/>
                <a:latin typeface="Google Sans Text"/>
              </a:rPr>
              <a:t>gather_backward</a:t>
            </a:r>
            <a:r>
              <a:rPr lang="en-US" altLang="zh-CN" dirty="0">
                <a:effectLst/>
                <a:latin typeface="Google Sans Text"/>
              </a:rPr>
              <a:t> </a:t>
            </a:r>
            <a:r>
              <a:rPr lang="zh-CN" altLang="en-US" dirty="0">
                <a:effectLst/>
                <a:latin typeface="Google Sans Text"/>
              </a:rPr>
              <a:t>等算子极大缓解了训练过程中的性能瓶颈 。</a:t>
            </a:r>
            <a:endParaRPr lang="zh-CN" altLang="en-US" dirty="0">
              <a:effectLst/>
              <a:latin typeface="Google Sans Text"/>
            </a:endParaRP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err="1">
                <a:effectLst/>
                <a:latin typeface="Google Sans"/>
              </a:rPr>
              <a:t>FlagGems</a:t>
            </a:r>
            <a:r>
              <a:rPr lang="en-US" altLang="zh-CN" b="1" dirty="0">
                <a:effectLst/>
                <a:latin typeface="Google Sans"/>
              </a:rPr>
              <a:t> </a:t>
            </a:r>
            <a:r>
              <a:rPr lang="zh-CN" altLang="en-US" b="1" dirty="0">
                <a:effectLst/>
                <a:latin typeface="Google Sans"/>
              </a:rPr>
              <a:t>算子库的设计理念及其作用</a:t>
            </a:r>
            <a:endParaRPr lang="zh-CN" altLang="en-US" b="1" dirty="0">
              <a:effectLst/>
              <a:latin typeface="Google Sans"/>
            </a:endParaRPr>
          </a:p>
          <a:p>
            <a:r>
              <a:rPr lang="en-US" altLang="zh-CN" dirty="0" err="1">
                <a:effectLst/>
                <a:latin typeface="Google Sans Text"/>
              </a:rPr>
              <a:t>FlagGems</a:t>
            </a:r>
            <a:r>
              <a:rPr lang="en-US" altLang="zh-CN" dirty="0">
                <a:effectLst/>
                <a:latin typeface="Google Sans Text"/>
              </a:rPr>
              <a:t> </a:t>
            </a:r>
            <a:r>
              <a:rPr lang="zh-CN" altLang="en-US" dirty="0">
                <a:effectLst/>
                <a:latin typeface="Google Sans Text"/>
              </a:rPr>
              <a:t>的设计理念主要围绕“无缝替换”和“高效运行时”展开。它通过覆盖重写 </a:t>
            </a:r>
            <a:r>
              <a:rPr lang="en-US" altLang="zh-CN" dirty="0" err="1">
                <a:effectLst/>
                <a:latin typeface="Google Sans Text"/>
              </a:rPr>
              <a:t>PyTorch</a:t>
            </a:r>
            <a:r>
              <a:rPr lang="en-US" altLang="zh-CN" dirty="0">
                <a:effectLst/>
                <a:latin typeface="Google Sans Text"/>
              </a:rPr>
              <a:t> </a:t>
            </a:r>
            <a:r>
              <a:rPr lang="zh-CN" altLang="en-US" dirty="0">
                <a:effectLst/>
                <a:latin typeface="Google Sans Text"/>
              </a:rPr>
              <a:t>的 </a:t>
            </a:r>
            <a:r>
              <a:rPr lang="en-US" altLang="zh-CN" dirty="0" err="1">
                <a:effectLst/>
                <a:latin typeface="Google Sans Text"/>
              </a:rPr>
              <a:t>ATen</a:t>
            </a:r>
            <a:r>
              <a:rPr lang="en-US" altLang="zh-CN" dirty="0">
                <a:effectLst/>
                <a:latin typeface="Google Sans Text"/>
              </a:rPr>
              <a:t> </a:t>
            </a:r>
            <a:r>
              <a:rPr lang="zh-CN" altLang="en-US" dirty="0">
                <a:effectLst/>
                <a:latin typeface="Google Sans Text"/>
              </a:rPr>
              <a:t>算子，使得模型开发者无需修改底层代码，仅通过一行 </a:t>
            </a:r>
            <a:r>
              <a:rPr lang="en-US" altLang="zh-CN" dirty="0" err="1">
                <a:effectLst/>
                <a:latin typeface="Google Sans Text"/>
              </a:rPr>
              <a:t>flag_gems.enable</a:t>
            </a:r>
            <a:r>
              <a:rPr lang="en-US" altLang="zh-CN" dirty="0">
                <a:effectLst/>
                <a:latin typeface="Google Sans Text"/>
              </a:rPr>
              <a:t>() </a:t>
            </a:r>
            <a:r>
              <a:rPr lang="zh-CN" altLang="en-US" dirty="0">
                <a:effectLst/>
                <a:latin typeface="Google Sans Text"/>
              </a:rPr>
              <a:t>即可切换到高性能 </a:t>
            </a:r>
            <a:r>
              <a:rPr lang="en-US" altLang="zh-CN" dirty="0">
                <a:effectLst/>
                <a:latin typeface="Google Sans Text"/>
              </a:rPr>
              <a:t>Triton </a:t>
            </a:r>
            <a:r>
              <a:rPr lang="zh-CN" altLang="en-US" dirty="0">
                <a:effectLst/>
                <a:latin typeface="Google Sans Text"/>
              </a:rPr>
              <a:t>算子库 。</a:t>
            </a:r>
            <a:endParaRPr lang="zh-CN" altLang="en-US" dirty="0">
              <a:effectLst/>
              <a:latin typeface="Google Sans Text"/>
            </a:endParaRPr>
          </a:p>
          <a:p>
            <a:r>
              <a:rPr lang="zh-CN" altLang="en-US" dirty="0">
                <a:effectLst/>
                <a:latin typeface="Google Sans Text"/>
              </a:rPr>
              <a:t>为了解决 </a:t>
            </a:r>
            <a:r>
              <a:rPr lang="en-US" altLang="zh-CN" dirty="0">
                <a:effectLst/>
                <a:latin typeface="Google Sans Text"/>
              </a:rPr>
              <a:t>Triton </a:t>
            </a:r>
            <a:r>
              <a:rPr lang="zh-CN" altLang="en-US" dirty="0">
                <a:effectLst/>
                <a:latin typeface="Google Sans Text"/>
              </a:rPr>
              <a:t>运行时由于复杂的装饰器（如 </a:t>
            </a:r>
            <a:r>
              <a:rPr lang="en-US" altLang="zh-CN" dirty="0" err="1">
                <a:effectLst/>
                <a:latin typeface="Google Sans Text"/>
              </a:rPr>
              <a:t>Autotuner</a:t>
            </a:r>
            <a:r>
              <a:rPr lang="zh-CN" altLang="en-US" dirty="0">
                <a:effectLst/>
                <a:latin typeface="Google Sans Text"/>
              </a:rPr>
              <a:t>）带来的 </a:t>
            </a:r>
            <a:r>
              <a:rPr lang="en-US" altLang="zh-CN" dirty="0">
                <a:effectLst/>
                <a:latin typeface="Google Sans Text"/>
              </a:rPr>
              <a:t>CPU </a:t>
            </a:r>
            <a:r>
              <a:rPr lang="zh-CN" altLang="en-US" dirty="0">
                <a:effectLst/>
                <a:latin typeface="Google Sans Text"/>
              </a:rPr>
              <a:t>端侧开销，</a:t>
            </a:r>
            <a:r>
              <a:rPr lang="en-US" altLang="zh-CN" dirty="0" err="1">
                <a:effectLst/>
                <a:latin typeface="Google Sans Text"/>
              </a:rPr>
              <a:t>FlagGems</a:t>
            </a:r>
            <a:r>
              <a:rPr lang="en-US" altLang="zh-CN" dirty="0">
                <a:effectLst/>
                <a:latin typeface="Google Sans Text"/>
              </a:rPr>
              <a:t> </a:t>
            </a:r>
            <a:r>
              <a:rPr lang="zh-CN" altLang="en-US" dirty="0">
                <a:effectLst/>
                <a:latin typeface="Google Sans Text"/>
              </a:rPr>
              <a:t>创新性地引入了 </a:t>
            </a:r>
            <a:r>
              <a:rPr lang="en-US" altLang="zh-CN" dirty="0" err="1">
                <a:effectLst/>
                <a:latin typeface="Google Sans Text"/>
              </a:rPr>
              <a:t>LibEntry</a:t>
            </a:r>
            <a:r>
              <a:rPr lang="en-US" altLang="zh-CN" dirty="0">
                <a:effectLst/>
                <a:latin typeface="Google Sans Text"/>
              </a:rPr>
              <a:t> </a:t>
            </a:r>
            <a:r>
              <a:rPr lang="zh-CN" altLang="en-US" dirty="0">
                <a:effectLst/>
                <a:latin typeface="Google Sans Text"/>
              </a:rPr>
              <a:t>机制。该机制通过独立维护的缓存绕过多层调用，将算子执行的 </a:t>
            </a:r>
            <a:r>
              <a:rPr lang="en-US" altLang="zh-CN" dirty="0">
                <a:effectLst/>
                <a:latin typeface="Google Sans Text"/>
              </a:rPr>
              <a:t>CPU </a:t>
            </a:r>
            <a:r>
              <a:rPr lang="zh-CN" altLang="en-US" dirty="0">
                <a:effectLst/>
                <a:latin typeface="Google Sans Text"/>
              </a:rPr>
              <a:t>耗时降低了约 </a:t>
            </a:r>
            <a:r>
              <a:rPr lang="en-US" altLang="zh-CN" dirty="0">
                <a:effectLst/>
                <a:latin typeface="Google Sans Text"/>
              </a:rPr>
              <a:t>70%</a:t>
            </a:r>
            <a:r>
              <a:rPr lang="zh-CN" altLang="en-US" dirty="0">
                <a:effectLst/>
                <a:latin typeface="Google Sans Text"/>
              </a:rPr>
              <a:t>，确保了在处理小规模算子时也能达到与原生 </a:t>
            </a:r>
            <a:r>
              <a:rPr lang="en-US" altLang="zh-CN" dirty="0" err="1">
                <a:effectLst/>
                <a:latin typeface="Google Sans Text"/>
              </a:rPr>
              <a:t>ATen</a:t>
            </a:r>
            <a:r>
              <a:rPr lang="en-US" altLang="zh-CN" dirty="0">
                <a:effectLst/>
                <a:latin typeface="Google Sans Text"/>
              </a:rPr>
              <a:t> </a:t>
            </a:r>
            <a:r>
              <a:rPr lang="zh-CN" altLang="en-US" dirty="0">
                <a:effectLst/>
                <a:latin typeface="Google Sans Text"/>
              </a:rPr>
              <a:t>相当的效率 。此外，</a:t>
            </a:r>
            <a:r>
              <a:rPr lang="en-US" altLang="zh-CN" dirty="0" err="1">
                <a:effectLst/>
                <a:latin typeface="Google Sans Text"/>
              </a:rPr>
              <a:t>FlagGems</a:t>
            </a:r>
            <a:r>
              <a:rPr lang="en-US" altLang="zh-CN" dirty="0">
                <a:effectLst/>
                <a:latin typeface="Google Sans Text"/>
              </a:rPr>
              <a:t> </a:t>
            </a:r>
            <a:r>
              <a:rPr lang="zh-CN" altLang="en-US" dirty="0">
                <a:effectLst/>
                <a:latin typeface="Google Sans Text"/>
              </a:rPr>
              <a:t>支持自动化的 </a:t>
            </a:r>
            <a:r>
              <a:rPr lang="en-US" altLang="zh-CN" dirty="0">
                <a:effectLst/>
                <a:latin typeface="Google Sans Text"/>
              </a:rPr>
              <a:t>Pointwise </a:t>
            </a:r>
            <a:r>
              <a:rPr lang="zh-CN" altLang="en-US" dirty="0">
                <a:effectLst/>
                <a:latin typeface="Google Sans Text"/>
              </a:rPr>
              <a:t>代码生成，能够灵活处理非连续张量和多种输入类型，大幅提升了算子开发的覆盖面和通用性 。</a:t>
            </a:r>
            <a:endParaRPr lang="zh-CN" altLang="en-US" dirty="0">
              <a:effectLst/>
              <a:latin typeface="Google Sans Text"/>
            </a:endParaRPr>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核心组件拆解：</a:t>
            </a:r>
            <a:r>
              <a:rPr lang="en-US" altLang="zh-CN" b="1" dirty="0" err="1"/>
              <a:t>vLLM</a:t>
            </a:r>
            <a:r>
              <a:rPr lang="en-US" altLang="zh-CN" b="1" dirty="0"/>
              <a:t>-Plugin-FL </a:t>
            </a:r>
            <a:r>
              <a:rPr lang="zh-CN" altLang="en-US" b="1" dirty="0"/>
              <a:t>设计初衷</a:t>
            </a:r>
            <a:endParaRPr lang="zh-CN" altLang="en-US" b="1" dirty="0"/>
          </a:p>
          <a:p>
            <a:pPr>
              <a:buFont typeface="Arial" panose="020B0604020202020204" pitchFamily="34" charset="0"/>
              <a:buChar char="•"/>
            </a:pPr>
            <a:r>
              <a:rPr lang="zh-CN" altLang="en-US" b="1" dirty="0"/>
              <a:t>原生 </a:t>
            </a:r>
            <a:r>
              <a:rPr lang="en-US" altLang="zh-CN" b="1" dirty="0" err="1"/>
              <a:t>vLLM</a:t>
            </a:r>
            <a:r>
              <a:rPr lang="en-US" altLang="zh-CN" b="1" dirty="0"/>
              <a:t> </a:t>
            </a:r>
            <a:r>
              <a:rPr lang="zh-CN" altLang="en-US" b="1" dirty="0"/>
              <a:t>的痛点</a:t>
            </a:r>
            <a:r>
              <a:rPr lang="zh-CN" altLang="en-US" dirty="0"/>
              <a:t>：</a:t>
            </a:r>
            <a:endParaRPr lang="zh-CN" altLang="en-US" dirty="0"/>
          </a:p>
          <a:p>
            <a:pPr marL="742950" lvl="1" indent="-285750">
              <a:buFont typeface="Arial" panose="020B0604020202020204" pitchFamily="34" charset="0"/>
              <a:buChar char="•"/>
            </a:pPr>
            <a:r>
              <a:rPr lang="zh-CN" altLang="en-US" dirty="0"/>
              <a:t>对国产化及异构算力生态支持不够灵活。</a:t>
            </a:r>
            <a:endParaRPr lang="zh-CN" altLang="en-US" dirty="0"/>
          </a:p>
          <a:p>
            <a:pPr marL="742950" lvl="1" indent="-285750">
              <a:buFont typeface="Arial" panose="020B0604020202020204" pitchFamily="34" charset="0"/>
              <a:buChar char="•"/>
            </a:pPr>
            <a:r>
              <a:rPr lang="zh-CN" altLang="en-US" dirty="0"/>
              <a:t>代码耦合度高，定制化深度优化（特别是针对特定调度策略或新算子库）侵入性强。</a:t>
            </a:r>
            <a:endParaRPr lang="zh-CN" altLang="en-US" dirty="0"/>
          </a:p>
          <a:p>
            <a:pPr>
              <a:buFont typeface="Arial" panose="020B0604020202020204" pitchFamily="34" charset="0"/>
              <a:buChar char="•"/>
            </a:pPr>
            <a:r>
              <a:rPr lang="en-US" altLang="zh-CN" b="1" dirty="0" err="1"/>
              <a:t>vLLM</a:t>
            </a:r>
            <a:r>
              <a:rPr lang="en-US" altLang="zh-CN" b="1" dirty="0"/>
              <a:t>-Plugin-FL </a:t>
            </a:r>
            <a:r>
              <a:rPr lang="zh-CN" altLang="en-US" b="1" dirty="0"/>
              <a:t>的插件化设计</a:t>
            </a:r>
            <a:r>
              <a:rPr lang="zh-CN" altLang="en-US" dirty="0"/>
              <a:t>：</a:t>
            </a:r>
            <a:endParaRPr lang="zh-CN" altLang="en-US" dirty="0"/>
          </a:p>
          <a:p>
            <a:pPr marL="742950" lvl="1" indent="-285750">
              <a:buFont typeface="Arial" panose="020B0604020202020204" pitchFamily="34" charset="0"/>
              <a:buChar char="•"/>
            </a:pPr>
            <a:r>
              <a:rPr lang="zh-CN" altLang="en-US" b="1" dirty="0"/>
              <a:t>解耦</a:t>
            </a:r>
            <a:r>
              <a:rPr lang="zh-CN" altLang="en-US" dirty="0"/>
              <a:t>：将核心调度逻辑与底层硬件执行</a:t>
            </a:r>
            <a:r>
              <a:rPr lang="en-US" altLang="zh-CN" dirty="0"/>
              <a:t>/</a:t>
            </a:r>
            <a:r>
              <a:rPr lang="zh-CN" altLang="en-US" dirty="0"/>
              <a:t>算子库分离。</a:t>
            </a:r>
            <a:endParaRPr lang="zh-CN" altLang="en-US" dirty="0"/>
          </a:p>
          <a:p>
            <a:pPr marL="742950" lvl="1" indent="-285750">
              <a:buFont typeface="Arial" panose="020B0604020202020204" pitchFamily="34" charset="0"/>
              <a:buChar char="•"/>
            </a:pPr>
            <a:r>
              <a:rPr lang="zh-CN" altLang="en-US" b="1" dirty="0"/>
              <a:t>热插拔</a:t>
            </a:r>
            <a:r>
              <a:rPr lang="zh-CN" altLang="en-US" dirty="0"/>
              <a:t>：方便快速接入 </a:t>
            </a:r>
            <a:r>
              <a:rPr lang="en-US" altLang="zh-CN" dirty="0" err="1"/>
              <a:t>FlagGems</a:t>
            </a:r>
            <a:r>
              <a:rPr lang="en-US" altLang="zh-CN" dirty="0"/>
              <a:t> </a:t>
            </a:r>
            <a:r>
              <a:rPr lang="zh-CN" altLang="en-US" dirty="0"/>
              <a:t>等自研优化库。</a:t>
            </a:r>
            <a:endParaRPr lang="zh-CN" altLang="en-US" dirty="0"/>
          </a:p>
          <a:p>
            <a:r>
              <a:rPr lang="zh-CN" altLang="en-US" b="1" dirty="0">
                <a:effectLst/>
                <a:latin typeface="Google Sans"/>
              </a:rPr>
              <a:t>核心组件拆解：</a:t>
            </a:r>
            <a:r>
              <a:rPr lang="en-US" altLang="zh-CN" b="1" dirty="0" err="1">
                <a:effectLst/>
                <a:latin typeface="Google Sans"/>
              </a:rPr>
              <a:t>vLLM</a:t>
            </a:r>
            <a:r>
              <a:rPr lang="en-US" altLang="zh-CN" b="1" dirty="0">
                <a:effectLst/>
                <a:latin typeface="Google Sans"/>
              </a:rPr>
              <a:t>-Plugin-FL </a:t>
            </a:r>
            <a:r>
              <a:rPr lang="zh-CN" altLang="en-US" b="1" dirty="0">
                <a:effectLst/>
                <a:latin typeface="Google Sans"/>
              </a:rPr>
              <a:t>加速策略</a:t>
            </a:r>
            <a:endParaRPr lang="zh-CN" altLang="en-US" b="1" dirty="0">
              <a:effectLst/>
              <a:latin typeface="Google Sans"/>
            </a:endParaRPr>
          </a:p>
          <a:p>
            <a:r>
              <a:rPr lang="zh-CN" altLang="en-US" dirty="0">
                <a:effectLst/>
                <a:latin typeface="Google Sans Text"/>
              </a:rPr>
              <a:t>在端到端推理优化中，</a:t>
            </a:r>
            <a:r>
              <a:rPr lang="en-US" altLang="zh-CN" dirty="0" err="1">
                <a:effectLst/>
                <a:latin typeface="Google Sans Text"/>
              </a:rPr>
              <a:t>vLLM</a:t>
            </a:r>
            <a:r>
              <a:rPr lang="en-US" altLang="zh-CN" dirty="0">
                <a:effectLst/>
                <a:latin typeface="Google Sans Text"/>
              </a:rPr>
              <a:t>-Plugin-FL </a:t>
            </a:r>
            <a:r>
              <a:rPr lang="zh-CN" altLang="en-US" dirty="0">
                <a:effectLst/>
                <a:latin typeface="Google Sans Text"/>
              </a:rPr>
              <a:t>是联结上层服务框架与底层高性能算子的关键枢纽。</a:t>
            </a:r>
            <a:endParaRPr lang="zh-CN" altLang="en-US" dirty="0">
              <a:effectLst/>
              <a:latin typeface="Google Sans Text"/>
            </a:endParaRPr>
          </a:p>
          <a:p>
            <a:r>
              <a:rPr lang="en-US" altLang="zh-CN" b="1" dirty="0" err="1">
                <a:effectLst/>
                <a:latin typeface="Google Sans"/>
              </a:rPr>
              <a:t>vLLM</a:t>
            </a:r>
            <a:r>
              <a:rPr lang="en-US" altLang="zh-CN" b="1" dirty="0">
                <a:effectLst/>
                <a:latin typeface="Google Sans"/>
              </a:rPr>
              <a:t> </a:t>
            </a:r>
            <a:r>
              <a:rPr lang="zh-CN" altLang="en-US" b="1" dirty="0">
                <a:effectLst/>
                <a:latin typeface="Google Sans"/>
              </a:rPr>
              <a:t>原生瓶颈与 </a:t>
            </a:r>
            <a:r>
              <a:rPr lang="en-US" altLang="zh-CN" b="1" dirty="0">
                <a:effectLst/>
                <a:latin typeface="Google Sans"/>
              </a:rPr>
              <a:t>Plugin-FL </a:t>
            </a:r>
            <a:r>
              <a:rPr lang="zh-CN" altLang="en-US" b="1" dirty="0">
                <a:effectLst/>
                <a:latin typeface="Google Sans"/>
              </a:rPr>
              <a:t>的插件化初衷</a:t>
            </a:r>
            <a:endParaRPr lang="zh-CN" altLang="en-US" b="1" dirty="0">
              <a:effectLst/>
              <a:latin typeface="Google Sans"/>
            </a:endParaRPr>
          </a:p>
          <a:p>
            <a:r>
              <a:rPr lang="zh-CN" altLang="en-US" dirty="0">
                <a:effectLst/>
                <a:latin typeface="Google Sans Text"/>
              </a:rPr>
              <a:t>原生的 </a:t>
            </a:r>
            <a:r>
              <a:rPr lang="en-US" altLang="zh-CN" dirty="0" err="1">
                <a:effectLst/>
                <a:latin typeface="Google Sans Text"/>
              </a:rPr>
              <a:t>vLLM</a:t>
            </a:r>
            <a:r>
              <a:rPr lang="en-US" altLang="zh-CN" dirty="0">
                <a:effectLst/>
                <a:latin typeface="Google Sans Text"/>
              </a:rPr>
              <a:t> </a:t>
            </a:r>
            <a:r>
              <a:rPr lang="zh-CN" altLang="en-US" dirty="0">
                <a:effectLst/>
                <a:latin typeface="Google Sans Text"/>
              </a:rPr>
              <a:t>框架虽然在调度层面表现卓越，但在面对多样化的国产芯片时，其对 </a:t>
            </a:r>
            <a:r>
              <a:rPr lang="en-US" altLang="zh-CN" dirty="0">
                <a:effectLst/>
                <a:latin typeface="Google Sans Text"/>
              </a:rPr>
              <a:t>CUDA </a:t>
            </a:r>
            <a:r>
              <a:rPr lang="zh-CN" altLang="en-US" dirty="0">
                <a:effectLst/>
                <a:latin typeface="Google Sans Text"/>
              </a:rPr>
              <a:t>的强依赖成为了生态扩张的瓶颈。</a:t>
            </a:r>
            <a:r>
              <a:rPr lang="en-US" altLang="zh-CN" dirty="0" err="1">
                <a:effectLst/>
                <a:latin typeface="Google Sans Text"/>
              </a:rPr>
              <a:t>vLLM</a:t>
            </a:r>
            <a:r>
              <a:rPr lang="en-US" altLang="zh-CN" dirty="0">
                <a:effectLst/>
                <a:latin typeface="Google Sans Text"/>
              </a:rPr>
              <a:t>-Plugin-FL </a:t>
            </a:r>
            <a:r>
              <a:rPr lang="zh-CN" altLang="en-US" dirty="0">
                <a:effectLst/>
                <a:latin typeface="Google Sans Text"/>
              </a:rPr>
              <a:t>的初衷是基于 </a:t>
            </a:r>
            <a:r>
              <a:rPr lang="en-US" altLang="zh-CN" dirty="0" err="1">
                <a:effectLst/>
                <a:latin typeface="Google Sans Text"/>
              </a:rPr>
              <a:t>FlagOS</a:t>
            </a:r>
            <a:r>
              <a:rPr lang="en-US" altLang="zh-CN" dirty="0">
                <a:effectLst/>
                <a:latin typeface="Google Sans Text"/>
              </a:rPr>
              <a:t> </a:t>
            </a:r>
            <a:r>
              <a:rPr lang="zh-CN" altLang="en-US" dirty="0">
                <a:effectLst/>
                <a:latin typeface="Google Sans Text"/>
              </a:rPr>
              <a:t>的统一后端，为 </a:t>
            </a:r>
            <a:r>
              <a:rPr lang="en-US" altLang="zh-CN" dirty="0" err="1">
                <a:effectLst/>
                <a:latin typeface="Google Sans Text"/>
              </a:rPr>
              <a:t>vLLM</a:t>
            </a:r>
            <a:r>
              <a:rPr lang="en-US" altLang="zh-CN" dirty="0">
                <a:effectLst/>
                <a:latin typeface="Google Sans Text"/>
              </a:rPr>
              <a:t> </a:t>
            </a:r>
            <a:r>
              <a:rPr lang="zh-CN" altLang="en-US" dirty="0">
                <a:effectLst/>
                <a:latin typeface="Google Sans Text"/>
              </a:rPr>
              <a:t>提供一个非侵入式的多芯片支持层 。通过该插件，同样的 </a:t>
            </a:r>
            <a:r>
              <a:rPr lang="en-US" altLang="zh-CN" dirty="0" err="1">
                <a:effectLst/>
                <a:latin typeface="Google Sans Text"/>
              </a:rPr>
              <a:t>vllm</a:t>
            </a:r>
            <a:r>
              <a:rPr lang="en-US" altLang="zh-CN" dirty="0">
                <a:effectLst/>
                <a:latin typeface="Google Sans Text"/>
              </a:rPr>
              <a:t> serve </a:t>
            </a:r>
            <a:r>
              <a:rPr lang="zh-CN" altLang="en-US" dirty="0">
                <a:effectLst/>
                <a:latin typeface="Google Sans Text"/>
              </a:rPr>
              <a:t>命令可以在 </a:t>
            </a:r>
            <a:r>
              <a:rPr lang="en-US" altLang="zh-CN" dirty="0">
                <a:effectLst/>
                <a:latin typeface="Google Sans Text"/>
              </a:rPr>
              <a:t>NVIDIA</a:t>
            </a:r>
            <a:r>
              <a:rPr lang="zh-CN" altLang="en-US" dirty="0">
                <a:effectLst/>
                <a:latin typeface="Google Sans Text"/>
              </a:rPr>
              <a:t>、平头哥（</a:t>
            </a:r>
            <a:r>
              <a:rPr lang="en-US" altLang="zh-CN" dirty="0" err="1">
                <a:effectLst/>
                <a:latin typeface="Google Sans Text"/>
              </a:rPr>
              <a:t>Pingtouge-Zhenwu</a:t>
            </a:r>
            <a:r>
              <a:rPr lang="zh-CN" altLang="en-US" dirty="0">
                <a:effectLst/>
                <a:latin typeface="Google Sans Text"/>
              </a:rPr>
              <a:t>）、昇腾（</a:t>
            </a:r>
            <a:r>
              <a:rPr lang="en-US" altLang="zh-CN" dirty="0">
                <a:effectLst/>
                <a:latin typeface="Google Sans Text"/>
              </a:rPr>
              <a:t>Ascend</a:t>
            </a:r>
            <a:r>
              <a:rPr lang="zh-CN" altLang="en-US" dirty="0">
                <a:effectLst/>
                <a:latin typeface="Google Sans Text"/>
              </a:rPr>
              <a:t>）、寒武纪（</a:t>
            </a:r>
            <a:r>
              <a:rPr lang="en-US" altLang="zh-CN" dirty="0" err="1">
                <a:effectLst/>
                <a:latin typeface="Google Sans Text"/>
              </a:rPr>
              <a:t>Cambricon</a:t>
            </a:r>
            <a:r>
              <a:rPr lang="zh-CN" altLang="en-US" dirty="0">
                <a:effectLst/>
                <a:latin typeface="Google Sans Text"/>
              </a:rPr>
              <a:t>）等多种芯片上运行，而无需修改核心代码 。</a:t>
            </a:r>
            <a:endParaRPr lang="zh-CN" altLang="en-US" dirty="0">
              <a:effectLst/>
              <a:latin typeface="Google Sans Text"/>
            </a:endParaRP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effectLst/>
                <a:latin typeface="Google Sans"/>
              </a:rPr>
              <a:t>深度整合：</a:t>
            </a:r>
            <a:r>
              <a:rPr lang="en-US" altLang="zh-CN" b="1" dirty="0" err="1">
                <a:effectLst/>
                <a:latin typeface="Google Sans"/>
              </a:rPr>
              <a:t>vLLM</a:t>
            </a:r>
            <a:r>
              <a:rPr lang="en-US" altLang="zh-CN" b="1" dirty="0">
                <a:effectLst/>
                <a:latin typeface="Google Sans"/>
              </a:rPr>
              <a:t>-Plugin-FL + </a:t>
            </a:r>
            <a:r>
              <a:rPr lang="en-US" altLang="zh-CN" b="1" dirty="0" err="1">
                <a:effectLst/>
                <a:latin typeface="Google Sans"/>
              </a:rPr>
              <a:t>FlagGems</a:t>
            </a:r>
            <a:r>
              <a:rPr lang="en-US" altLang="zh-CN" b="1" dirty="0">
                <a:effectLst/>
                <a:latin typeface="Google Sans"/>
              </a:rPr>
              <a:t> + </a:t>
            </a:r>
            <a:r>
              <a:rPr lang="en-US" altLang="zh-CN" b="1" dirty="0" err="1">
                <a:effectLst/>
                <a:latin typeface="Google Sans"/>
              </a:rPr>
              <a:t>FlagTree</a:t>
            </a:r>
            <a:endParaRPr lang="en-US" altLang="zh-CN" b="1" dirty="0">
              <a:effectLst/>
              <a:latin typeface="Google Sans"/>
            </a:endParaRPr>
          </a:p>
          <a:p>
            <a:r>
              <a:rPr lang="zh-CN" altLang="en-US" dirty="0">
                <a:effectLst/>
                <a:latin typeface="Google Sans Text"/>
              </a:rPr>
              <a:t>这三个组件构成了 </a:t>
            </a:r>
            <a:r>
              <a:rPr lang="en-US" altLang="zh-CN" dirty="0" err="1">
                <a:effectLst/>
                <a:latin typeface="Google Sans Text"/>
              </a:rPr>
              <a:t>FlagOS</a:t>
            </a:r>
            <a:r>
              <a:rPr lang="en-US" altLang="zh-CN" dirty="0">
                <a:effectLst/>
                <a:latin typeface="Google Sans Text"/>
              </a:rPr>
              <a:t> </a:t>
            </a:r>
            <a:r>
              <a:rPr lang="zh-CN" altLang="en-US" dirty="0">
                <a:effectLst/>
                <a:latin typeface="Google Sans Text"/>
              </a:rPr>
              <a:t>智算底座的“铁三角”，实现了从算子级到系统级的全面打通。</a:t>
            </a:r>
            <a:endParaRPr lang="zh-CN" altLang="en-US" dirty="0">
              <a:effectLst/>
              <a:latin typeface="Google Sans Text"/>
            </a:endParaRPr>
          </a:p>
          <a:p>
            <a:r>
              <a:rPr lang="zh-CN" altLang="en-US" b="1" dirty="0">
                <a:effectLst/>
                <a:latin typeface="Google Sans"/>
              </a:rPr>
              <a:t>组件协同机制：从算子到系统的闭环</a:t>
            </a:r>
            <a:endParaRPr lang="zh-CN" altLang="en-US" b="1" dirty="0">
              <a:effectLst/>
              <a:latin typeface="Google Sans"/>
            </a:endParaRPr>
          </a:p>
          <a:p>
            <a:r>
              <a:rPr lang="zh-CN" altLang="en-US" dirty="0">
                <a:effectLst/>
                <a:latin typeface="Google Sans Text"/>
              </a:rPr>
              <a:t>协同机制可以描述为以下流程：</a:t>
            </a:r>
            <a:r>
              <a:rPr lang="en-US" altLang="zh-CN" dirty="0" err="1">
                <a:effectLst/>
                <a:latin typeface="Google Sans Text"/>
              </a:rPr>
              <a:t>vLLM</a:t>
            </a:r>
            <a:r>
              <a:rPr lang="en-US" altLang="zh-CN" dirty="0">
                <a:effectLst/>
                <a:latin typeface="Google Sans Text"/>
              </a:rPr>
              <a:t> </a:t>
            </a:r>
            <a:r>
              <a:rPr lang="zh-CN" altLang="en-US" dirty="0">
                <a:effectLst/>
                <a:latin typeface="Google Sans Text"/>
              </a:rPr>
              <a:t>负责全局的请求调度与批处理逻辑；当计算图执行到具体的算子（如 </a:t>
            </a:r>
            <a:r>
              <a:rPr lang="en-US" altLang="zh-CN" dirty="0" err="1">
                <a:effectLst/>
                <a:latin typeface="Google Sans Text"/>
              </a:rPr>
              <a:t>RMSNorm</a:t>
            </a:r>
            <a:r>
              <a:rPr lang="en-US" altLang="zh-CN" dirty="0">
                <a:effectLst/>
                <a:latin typeface="Google Sans Text"/>
              </a:rPr>
              <a:t> </a:t>
            </a:r>
            <a:r>
              <a:rPr lang="zh-CN" altLang="en-US" dirty="0">
                <a:effectLst/>
                <a:latin typeface="Google Sans Text"/>
              </a:rPr>
              <a:t>或 </a:t>
            </a:r>
            <a:r>
              <a:rPr lang="en-US" altLang="zh-CN" dirty="0">
                <a:effectLst/>
                <a:latin typeface="Google Sans Text"/>
              </a:rPr>
              <a:t>Linear</a:t>
            </a:r>
            <a:r>
              <a:rPr lang="zh-CN" altLang="en-US" dirty="0">
                <a:effectLst/>
                <a:latin typeface="Google Sans Text"/>
              </a:rPr>
              <a:t>）时，</a:t>
            </a:r>
            <a:r>
              <a:rPr lang="en-US" altLang="zh-CN" dirty="0" err="1">
                <a:effectLst/>
                <a:latin typeface="Google Sans Text"/>
              </a:rPr>
              <a:t>vLLM</a:t>
            </a:r>
            <a:r>
              <a:rPr lang="en-US" altLang="zh-CN" dirty="0">
                <a:effectLst/>
                <a:latin typeface="Google Sans Text"/>
              </a:rPr>
              <a:t>-Plugin-FL </a:t>
            </a:r>
            <a:r>
              <a:rPr lang="zh-CN" altLang="en-US" dirty="0">
                <a:effectLst/>
                <a:latin typeface="Google Sans Text"/>
              </a:rPr>
              <a:t>通过派发机制调用 </a:t>
            </a:r>
            <a:r>
              <a:rPr lang="en-US" altLang="zh-CN" dirty="0" err="1">
                <a:effectLst/>
                <a:latin typeface="Google Sans Text"/>
              </a:rPr>
              <a:t>FlagGems</a:t>
            </a:r>
            <a:r>
              <a:rPr lang="en-US" altLang="zh-CN" dirty="0">
                <a:effectLst/>
                <a:latin typeface="Google Sans Text"/>
              </a:rPr>
              <a:t> </a:t>
            </a:r>
            <a:r>
              <a:rPr lang="zh-CN" altLang="en-US" dirty="0">
                <a:effectLst/>
                <a:latin typeface="Google Sans Text"/>
              </a:rPr>
              <a:t>提供的预编译 </a:t>
            </a:r>
            <a:r>
              <a:rPr lang="en-US" altLang="zh-CN" dirty="0">
                <a:effectLst/>
                <a:latin typeface="Google Sans Text"/>
              </a:rPr>
              <a:t>Kernel </a:t>
            </a:r>
            <a:r>
              <a:rPr lang="zh-CN" altLang="en-US" dirty="0">
                <a:effectLst/>
                <a:latin typeface="Google Sans Text"/>
              </a:rPr>
              <a:t>。如果面临全新的、未经调优的算子需求，</a:t>
            </a:r>
            <a:r>
              <a:rPr lang="en-US" altLang="zh-CN" dirty="0" err="1">
                <a:effectLst/>
                <a:latin typeface="Google Sans Text"/>
              </a:rPr>
              <a:t>FlagTree</a:t>
            </a:r>
            <a:r>
              <a:rPr lang="en-US" altLang="zh-CN" dirty="0">
                <a:effectLst/>
                <a:latin typeface="Google Sans Text"/>
              </a:rPr>
              <a:t> </a:t>
            </a:r>
            <a:r>
              <a:rPr lang="zh-CN" altLang="en-US" dirty="0">
                <a:effectLst/>
                <a:latin typeface="Google Sans Text"/>
              </a:rPr>
              <a:t>编译器则负责即时（</a:t>
            </a:r>
            <a:r>
              <a:rPr lang="en-US" altLang="zh-CN" dirty="0">
                <a:effectLst/>
                <a:latin typeface="Google Sans Text"/>
              </a:rPr>
              <a:t>JIT</a:t>
            </a:r>
            <a:r>
              <a:rPr lang="zh-CN" altLang="en-US" dirty="0">
                <a:effectLst/>
                <a:latin typeface="Google Sans Text"/>
              </a:rPr>
              <a:t>）生成适配目标芯片的代码 。这种分层协作确保了系统既有预置算子的高性能，又有应对模型快速迭代的灵活性 。</a:t>
            </a:r>
            <a:endParaRPr lang="zh-CN" altLang="en-US" dirty="0">
              <a:effectLst/>
              <a:latin typeface="Google Sans Text"/>
            </a:endParaRP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1988820" y="5448300"/>
            <a:ext cx="9664065" cy="447675"/>
          </a:xfrm>
          <a:prstGeom prst="rect">
            <a:avLst/>
          </a:prstGeom>
        </p:spPr>
        <p:txBody>
          <a:bodyPr/>
          <a:lstStyle>
            <a:lvl1pPr algn="ctr">
              <a:defRPr lang="zh-CN" altLang="en-US" sz="2400" b="0" i="0" kern="1200" baseline="0" smtClean="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defRPr>
            </a:lvl1pPr>
          </a:lstStyle>
          <a:p>
            <a:endParaRPr lang="en-US" dirty="0"/>
          </a:p>
        </p:txBody>
      </p:sp>
      <p:sp>
        <p:nvSpPr>
          <p:cNvPr id="4" name="页脚占位符 3"/>
          <p:cNvSpPr>
            <a:spLocks noGrp="1"/>
          </p:cNvSpPr>
          <p:nvPr>
            <p:ph type="ftr" sz="quarter" idx="11"/>
          </p:nvPr>
        </p:nvSpPr>
        <p:spPr>
          <a:xfrm>
            <a:off x="2450465" y="6356350"/>
            <a:ext cx="9202420" cy="365125"/>
          </a:xfrm>
          <a:prstGeom prst="rect">
            <a:avLst/>
          </a:prstGeom>
        </p:spPr>
        <p:txBody>
          <a:bodyPr/>
          <a:lstStyle/>
          <a:p>
            <a:endParaRPr lang="zh-CN" altLang="en-US" dirty="0"/>
          </a:p>
        </p:txBody>
      </p:sp>
      <p:sp>
        <p:nvSpPr>
          <p:cNvPr id="5"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2009140" y="4846320"/>
            <a:ext cx="9643110"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4"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sp>
        <p:nvSpPr>
          <p:cNvPr id="6" name="内容占位符 3"/>
          <p:cNvSpPr>
            <a:spLocks noGrp="1"/>
          </p:cNvSpPr>
          <p:nvPr>
            <p:ph sz="quarter" idx="13" hasCustomPrompt="1"/>
          </p:nvPr>
        </p:nvSpPr>
        <p:spPr>
          <a:xfrm>
            <a:off x="523874" y="1323975"/>
            <a:ext cx="11277601" cy="4852988"/>
          </a:xfrm>
        </p:spPr>
        <p:txBody>
          <a:bodyPr anchor="t"/>
          <a:lstStyle>
            <a:lvl1pPr algn="l">
              <a:buClr>
                <a:srgbClr val="8B0012"/>
              </a:buClr>
              <a:buSzTx/>
              <a:buFontTx/>
              <a:buChar char="•"/>
              <a:defRPr/>
            </a:lvl1pPr>
            <a:lvl2pPr algn="l">
              <a:buClr>
                <a:srgbClr val="8B0012"/>
              </a:buClr>
              <a:buSzPct val="75000"/>
              <a:buFontTx/>
              <a:buChar char="◦"/>
              <a:defRPr/>
            </a:lvl2pPr>
            <a:lvl3pPr algn="l">
              <a:buClr>
                <a:srgbClr val="8B0012"/>
              </a:buClr>
              <a:buSzTx/>
              <a:buFontTx/>
              <a:buChar char="-"/>
              <a:defRPr/>
            </a:lvl3pPr>
            <a:lvl4pPr algn="l">
              <a:buClr>
                <a:srgbClr val="8B0012"/>
              </a:buClr>
              <a:buSzTx/>
              <a:buFontTx/>
              <a:buChar char="-"/>
              <a:defRPr/>
            </a:lvl4pPr>
            <a:lvl5pPr>
              <a:buClr>
                <a:srgbClr val="8B0012"/>
              </a:buClr>
              <a:buSzTx/>
              <a:buFontTx/>
              <a:buChar char="-"/>
              <a:defRPr/>
            </a:lvl5pPr>
            <a:lvl6pPr>
              <a:buClr>
                <a:srgbClr val="8B0012"/>
              </a:buClr>
              <a:buSzTx/>
              <a:buFontTx/>
              <a:buChar char="-"/>
              <a:defRPr/>
            </a:lvl6pPr>
            <a:lvl7pPr>
              <a:buClr>
                <a:srgbClr val="8B0012"/>
              </a:buClr>
              <a:buSzTx/>
              <a:buFontTx/>
              <a:buChar char="-"/>
              <a:defRPr/>
            </a:lvl7pPr>
            <a:lvl8pPr>
              <a:buClr>
                <a:srgbClr val="8B0012"/>
              </a:buClr>
              <a:buSzTx/>
              <a:buFontTx/>
              <a:buChar char="-"/>
              <a:defRPr/>
            </a:lvl8pPr>
            <a:lvl9pPr>
              <a:buClr>
                <a:srgbClr val="8B0012"/>
              </a:buClr>
              <a:buSzTx/>
              <a:buFontTx/>
              <a:buChar char="-"/>
              <a:defRPr/>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sp>
        <p:nvSpPr>
          <p:cNvPr id="8" name="内容占位符 3"/>
          <p:cNvSpPr>
            <a:spLocks noGrp="1"/>
          </p:cNvSpPr>
          <p:nvPr>
            <p:ph sz="quarter" idx="13" hasCustomPrompt="1"/>
          </p:nvPr>
        </p:nvSpPr>
        <p:spPr>
          <a:xfrm>
            <a:off x="523873" y="1323976"/>
            <a:ext cx="5591177" cy="4852988"/>
          </a:xfrm>
        </p:spPr>
        <p:txBody>
          <a:bodyPr anchor="t"/>
          <a:lstStyle>
            <a:lvl1pPr algn="l">
              <a:buClr>
                <a:srgbClr val="8B0012"/>
              </a:buClr>
              <a:buSzTx/>
              <a:buFontTx/>
              <a:buChar char="•"/>
              <a:defRPr/>
            </a:lvl1pPr>
            <a:lvl2pPr algn="l">
              <a:buClr>
                <a:srgbClr val="8B0012"/>
              </a:buClr>
              <a:buSzPct val="75000"/>
              <a:buFontTx/>
              <a:buChar char="◦"/>
              <a:defRPr/>
            </a:lvl2pPr>
            <a:lvl3pPr algn="l">
              <a:buClr>
                <a:srgbClr val="8B0012"/>
              </a:buClr>
              <a:buSzTx/>
              <a:buFontTx/>
              <a:buChar char="-"/>
              <a:defRPr/>
            </a:lvl3pPr>
            <a:lvl4pPr algn="l">
              <a:buClr>
                <a:srgbClr val="8B0012"/>
              </a:buClr>
              <a:buSzTx/>
              <a:buFontTx/>
              <a:buChar char="-"/>
              <a:defRPr/>
            </a:lvl4pPr>
            <a:lvl5pPr>
              <a:buClr>
                <a:srgbClr val="8B0012"/>
              </a:buClr>
              <a:buSzTx/>
              <a:buFontTx/>
              <a:buChar char="-"/>
              <a:defRPr/>
            </a:lvl5pPr>
            <a:lvl6pPr>
              <a:buClr>
                <a:srgbClr val="8B0012"/>
              </a:buClr>
              <a:buSzTx/>
              <a:buFontTx/>
              <a:buChar char="-"/>
              <a:defRPr/>
            </a:lvl6pPr>
            <a:lvl7pPr>
              <a:buClr>
                <a:srgbClr val="8B0012"/>
              </a:buClr>
              <a:buSzTx/>
              <a:buFontTx/>
              <a:buChar char="-"/>
              <a:defRPr/>
            </a:lvl7pPr>
            <a:lvl8pPr>
              <a:buClr>
                <a:srgbClr val="8B0012"/>
              </a:buClr>
              <a:buSzTx/>
              <a:buFontTx/>
              <a:buChar char="-"/>
              <a:defRPr/>
            </a:lvl8pPr>
            <a:lvl9pPr>
              <a:buClr>
                <a:srgbClr val="8B0012"/>
              </a:buClr>
              <a:buSzTx/>
              <a:buFontTx/>
              <a:buChar char="-"/>
              <a:defRPr/>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10"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1" name="内容占位符 3"/>
          <p:cNvSpPr>
            <a:spLocks noGrp="1"/>
          </p:cNvSpPr>
          <p:nvPr>
            <p:ph sz="quarter" idx="14" hasCustomPrompt="1"/>
          </p:nvPr>
        </p:nvSpPr>
        <p:spPr>
          <a:xfrm>
            <a:off x="6210297" y="1323977"/>
            <a:ext cx="5591177" cy="4856162"/>
          </a:xfrm>
        </p:spPr>
        <p:txBody>
          <a:bodyPr anchor="t"/>
          <a:lstStyle>
            <a:lvl1pPr algn="l">
              <a:buClr>
                <a:srgbClr val="8B0012"/>
              </a:buClr>
              <a:buSzTx/>
              <a:buFontTx/>
              <a:buChar char="•"/>
              <a:defRPr/>
            </a:lvl1pPr>
            <a:lvl2pPr algn="l">
              <a:buClr>
                <a:srgbClr val="8B0012"/>
              </a:buClr>
              <a:buSzPct val="75000"/>
              <a:buFontTx/>
              <a:buChar char="◦"/>
              <a:defRPr/>
            </a:lvl2pPr>
            <a:lvl3pPr algn="l">
              <a:buClr>
                <a:srgbClr val="8B0012"/>
              </a:buClr>
              <a:buSzTx/>
              <a:buFontTx/>
              <a:buChar char="-"/>
              <a:defRPr/>
            </a:lvl3pPr>
            <a:lvl4pPr algn="l">
              <a:buClr>
                <a:srgbClr val="8B0012"/>
              </a:buClr>
              <a:buSzTx/>
              <a:buFontTx/>
              <a:buChar char="-"/>
              <a:defRPr/>
            </a:lvl4pPr>
            <a:lvl5pPr>
              <a:buClr>
                <a:srgbClr val="8B0012"/>
              </a:buClr>
              <a:buSzTx/>
              <a:buFontTx/>
              <a:buChar char="-"/>
              <a:defRPr/>
            </a:lvl5pPr>
            <a:lvl6pPr>
              <a:buClr>
                <a:srgbClr val="8B0012"/>
              </a:buClr>
              <a:buSzTx/>
              <a:buFontTx/>
              <a:buChar char="-"/>
              <a:defRPr/>
            </a:lvl6pPr>
            <a:lvl7pPr>
              <a:buClr>
                <a:srgbClr val="8B0012"/>
              </a:buClr>
              <a:buSzTx/>
              <a:buFontTx/>
              <a:buChar char="-"/>
              <a:defRPr/>
            </a:lvl7pPr>
            <a:lvl8pPr>
              <a:buClr>
                <a:srgbClr val="8B0012"/>
              </a:buClr>
              <a:buSzTx/>
              <a:buFontTx/>
              <a:buChar char="-"/>
              <a:defRPr/>
            </a:lvl8pPr>
            <a:lvl9pPr>
              <a:buClr>
                <a:srgbClr val="8B0012"/>
              </a:buClr>
              <a:buSzTx/>
              <a:buFontTx/>
              <a:buChar char="-"/>
              <a:defRPr/>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2" name="标题 1"/>
          <p:cNvSpPr>
            <a:spLocks noGrp="1"/>
          </p:cNvSpPr>
          <p:nvPr>
            <p:ph type="title"/>
          </p:nvPr>
        </p:nvSpPr>
        <p:spPr>
          <a:xfrm>
            <a:off x="666749" y="457201"/>
            <a:ext cx="2771775" cy="5719762"/>
          </a:xfrm>
        </p:spPr>
        <p:txBody>
          <a:bodyPr/>
          <a:lstStyle/>
          <a:p>
            <a:r>
              <a:rPr kumimoji="1" lang="zh-CN" altLang="en-US" dirty="0"/>
              <a:t>单击此处编辑母版标题样式</a:t>
            </a:r>
            <a:endParaRPr kumimoji="1" lang="zh-CN" altLang="en-US" dirty="0"/>
          </a:p>
        </p:txBody>
      </p:sp>
      <p:sp>
        <p:nvSpPr>
          <p:cNvPr id="4" name="幻灯片编号占位符 3"/>
          <p:cNvSpPr>
            <a:spLocks noGrp="1"/>
          </p:cNvSpPr>
          <p:nvPr>
            <p:ph type="sldNum" sz="quarter" idx="11"/>
          </p:nvPr>
        </p:nvSpPr>
        <p:spPr/>
        <p:txBody>
          <a:bodyPr/>
          <a:lstStyle/>
          <a:p>
            <a:fld id="{B33F7469-D28B-482F-B1B6-3B8E7CF51519}" type="slidenum">
              <a:rPr lang="zh-CN" altLang="en-US" smtClean="0"/>
            </a:fld>
            <a:endParaRPr lang="zh-CN" altLang="en-US" dirty="0"/>
          </a:p>
        </p:txBody>
      </p:sp>
      <p:sp>
        <p:nvSpPr>
          <p:cNvPr id="6" name="内容占位符 3"/>
          <p:cNvSpPr>
            <a:spLocks noGrp="1"/>
          </p:cNvSpPr>
          <p:nvPr>
            <p:ph sz="quarter" idx="14" hasCustomPrompt="1"/>
          </p:nvPr>
        </p:nvSpPr>
        <p:spPr>
          <a:xfrm>
            <a:off x="3657600" y="457201"/>
            <a:ext cx="8001000" cy="5719763"/>
          </a:xfrm>
        </p:spPr>
        <p:txBody>
          <a:bodyPr anchor="t"/>
          <a:lstStyle>
            <a:lvl1pPr algn="l">
              <a:buClr>
                <a:srgbClr val="8B0012"/>
              </a:buClr>
              <a:buSzTx/>
              <a:buFontTx/>
              <a:buChar char="•"/>
              <a:defRPr/>
            </a:lvl1pPr>
            <a:lvl2pPr algn="l">
              <a:buClr>
                <a:srgbClr val="8B0012"/>
              </a:buClr>
              <a:buSzTx/>
              <a:buFontTx/>
              <a:buChar char="◦"/>
              <a:defRPr/>
            </a:lvl2pPr>
            <a:lvl3pPr algn="l">
              <a:buClr>
                <a:srgbClr val="8B0012"/>
              </a:buClr>
              <a:buSzTx/>
              <a:buFontTx/>
              <a:buChar char="-"/>
              <a:defRPr/>
            </a:lvl3pPr>
            <a:lvl4pPr algn="l">
              <a:buClr>
                <a:srgbClr val="8B0012"/>
              </a:buClr>
              <a:buSzTx/>
              <a:buFontTx/>
              <a:buChar char="-"/>
              <a:defRPr/>
            </a:lvl4pPr>
            <a:lvl5pPr>
              <a:buClr>
                <a:srgbClr val="8B0012"/>
              </a:buClr>
              <a:buSzTx/>
              <a:buFontTx/>
              <a:buChar char="-"/>
              <a:defRPr/>
            </a:lvl5pPr>
            <a:lvl6pPr>
              <a:buClr>
                <a:srgbClr val="8B0012"/>
              </a:buClr>
              <a:buSzTx/>
              <a:buFontTx/>
              <a:buChar char="-"/>
              <a:defRPr/>
            </a:lvl6pPr>
            <a:lvl7pPr>
              <a:buClr>
                <a:srgbClr val="8B0012"/>
              </a:buClr>
              <a:buSzTx/>
              <a:buFontTx/>
              <a:buChar char="-"/>
              <a:defRPr/>
            </a:lvl7pPr>
            <a:lvl8pPr>
              <a:buClr>
                <a:srgbClr val="8B0012"/>
              </a:buClr>
              <a:buSzTx/>
              <a:buFontTx/>
              <a:buChar char="-"/>
              <a:defRPr/>
            </a:lvl8pPr>
            <a:lvl9pPr>
              <a:buClr>
                <a:srgbClr val="8B0012"/>
              </a:buClr>
              <a:buSzTx/>
              <a:buFontTx/>
              <a:buChar char="-"/>
              <a:defRPr/>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8"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大纲">
    <p:spTree>
      <p:nvGrpSpPr>
        <p:cNvPr id="1" name=""/>
        <p:cNvGrpSpPr/>
        <p:nvPr/>
      </p:nvGrpSpPr>
      <p:grpSpPr>
        <a:xfrm>
          <a:off x="0" y="0"/>
          <a:ext cx="0" cy="0"/>
          <a:chOff x="0" y="0"/>
          <a:chExt cx="0" cy="0"/>
        </a:xfrm>
      </p:grpSpPr>
      <p:sp>
        <p:nvSpPr>
          <p:cNvPr id="3" name="内容占位符 2"/>
          <p:cNvSpPr>
            <a:spLocks noGrp="1"/>
          </p:cNvSpPr>
          <p:nvPr>
            <p:ph sz="quarter" idx="10" hasCustomPrompt="1"/>
            <p:custDataLst>
              <p:tags r:id="rId2"/>
            </p:custDataLst>
          </p:nvPr>
        </p:nvSpPr>
        <p:spPr>
          <a:xfrm>
            <a:off x="5452216" y="0"/>
            <a:ext cx="6110447" cy="6858000"/>
          </a:xfrm>
        </p:spPr>
        <p:txBody>
          <a:bodyPr anchor="ctr"/>
          <a:lstStyle>
            <a:lvl1pPr algn="l">
              <a:lnSpc>
                <a:spcPct val="100000"/>
              </a:lnSpc>
              <a:spcBef>
                <a:spcPts val="3000"/>
              </a:spcBef>
              <a:buClr>
                <a:srgbClr val="8B0012"/>
              </a:buClr>
              <a:buSzTx/>
              <a:buFontTx/>
              <a:buChar char="•"/>
              <a:defRPr sz="2800" baseline="0">
                <a:latin typeface="Arial" panose="020B0604020202020204" pitchFamily="34" charset="0"/>
              </a:defRPr>
            </a:lvl1pPr>
            <a:lvl2pPr algn="l">
              <a:lnSpc>
                <a:spcPct val="100000"/>
              </a:lnSpc>
              <a:buClr>
                <a:srgbClr val="8B0012"/>
              </a:buClr>
              <a:buSzTx/>
              <a:buFontTx/>
              <a:buChar char="◦"/>
              <a:defRPr sz="2400" baseline="0">
                <a:latin typeface="Arial" panose="020B0604020202020204" pitchFamily="34" charset="0"/>
              </a:defRPr>
            </a:lvl2pPr>
            <a:lvl3pPr algn="l">
              <a:lnSpc>
                <a:spcPct val="100000"/>
              </a:lnSpc>
              <a:buClr>
                <a:srgbClr val="8B0012"/>
              </a:buClr>
              <a:buSzTx/>
              <a:buFontTx/>
              <a:buChar char="-"/>
              <a:defRPr sz="2000" baseline="0">
                <a:latin typeface="Arial" panose="020B0604020202020204" pitchFamily="34" charset="0"/>
              </a:defRPr>
            </a:lvl3pPr>
            <a:lvl4pPr algn="l">
              <a:lnSpc>
                <a:spcPct val="100000"/>
              </a:lnSpc>
              <a:buClr>
                <a:srgbClr val="8B0012"/>
              </a:buClr>
              <a:buSzTx/>
              <a:buFontTx/>
              <a:buChar char="-"/>
              <a:defRPr sz="1600" baseline="0">
                <a:latin typeface="Arial" panose="020B0604020202020204" pitchFamily="34" charset="0"/>
              </a:defRPr>
            </a:lvl4pPr>
            <a:lvl5pPr>
              <a:buClr>
                <a:srgbClr val="8B0012"/>
              </a:buClr>
              <a:buSzTx/>
              <a:buFontTx/>
              <a:buChar char="-"/>
              <a:defRPr/>
            </a:lvl5pPr>
            <a:lvl6pPr>
              <a:buClr>
                <a:srgbClr val="8B0012"/>
              </a:buClr>
              <a:buSzTx/>
              <a:buFontTx/>
              <a:buChar char="-"/>
              <a:defRPr/>
            </a:lvl6pPr>
            <a:lvl7pPr>
              <a:buClr>
                <a:srgbClr val="8B0012"/>
              </a:buClr>
              <a:buSzTx/>
              <a:buFontTx/>
              <a:buChar char="-"/>
              <a:defRPr/>
            </a:lvl7pPr>
            <a:lvl8pPr>
              <a:buClr>
                <a:srgbClr val="8B0012"/>
              </a:buClr>
              <a:buSzTx/>
              <a:buFontTx/>
              <a:buChar char="-"/>
              <a:defRPr/>
            </a:lvl8pPr>
            <a:lvl9pPr>
              <a:buClr>
                <a:srgbClr val="8B0012"/>
              </a:buClr>
              <a:buSzTx/>
              <a:buFontTx/>
              <a:buChar char="-"/>
              <a:defRPr/>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grpSp>
        <p:nvGrpSpPr>
          <p:cNvPr id="14" name="Group 7"/>
          <p:cNvGrpSpPr/>
          <p:nvPr userDrawn="1"/>
        </p:nvGrpSpPr>
        <p:grpSpPr>
          <a:xfrm>
            <a:off x="3057633" y="31667"/>
            <a:ext cx="9134367" cy="6838951"/>
            <a:chOff x="-4763" y="9525"/>
            <a:chExt cx="9032249" cy="6838951"/>
          </a:xfrm>
          <a:solidFill>
            <a:srgbClr val="8B0012"/>
          </a:solidFill>
        </p:grpSpPr>
        <p:sp>
          <p:nvSpPr>
            <p:cNvPr id="15"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sp>
        <p:grpSp>
          <p:nvGrpSpPr>
            <p:cNvPr id="16" name="Group 9"/>
            <p:cNvGrpSpPr/>
            <p:nvPr/>
          </p:nvGrpSpPr>
          <p:grpSpPr>
            <a:xfrm>
              <a:off x="8428998" y="4867275"/>
              <a:ext cx="598488" cy="1981201"/>
              <a:chOff x="11441112" y="4867275"/>
              <a:chExt cx="598488" cy="1981201"/>
            </a:xfrm>
            <a:grpFill/>
          </p:grpSpPr>
          <p:sp>
            <p:nvSpPr>
              <p:cNvPr id="17"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8"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9"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20"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21"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22" name="Rectangle 41"/>
              <p:cNvSpPr>
                <a:spLocks noChangeArrowheads="1"/>
              </p:cNvSpPr>
              <p:nvPr>
                <p:custDataLst>
                  <p:tags r:id="rId9"/>
                </p:custDataLst>
              </p:nvPr>
            </p:nvSpPr>
            <p:spPr bwMode="auto">
              <a:xfrm>
                <a:off x="11939587" y="6596063"/>
                <a:ext cx="23813" cy="252413"/>
              </a:xfrm>
              <a:prstGeom prst="rect">
                <a:avLst/>
              </a:prstGeom>
              <a:grpFill/>
              <a:ln>
                <a:noFill/>
              </a:ln>
            </p:spPr>
          </p:sp>
        </p:grpSp>
      </p:grpSp>
      <p:sp>
        <p:nvSpPr>
          <p:cNvPr id="23" name="内容占位符 22"/>
          <p:cNvSpPr>
            <a:spLocks noGrp="1"/>
          </p:cNvSpPr>
          <p:nvPr>
            <p:ph sz="quarter" idx="11" hasCustomPrompt="1"/>
            <p:custDataLst>
              <p:tags r:id="rId10"/>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dirty="0"/>
          </a:p>
        </p:txBody>
      </p:sp>
      <p:sp>
        <p:nvSpPr>
          <p:cNvPr id="4" name="灯片编号占位符 3"/>
          <p:cNvSpPr>
            <a:spLocks noGrp="1"/>
          </p:cNvSpPr>
          <p:nvPr>
            <p:ph type="sldNum" sz="quarter" idx="11"/>
          </p:nvPr>
        </p:nvSpPr>
        <p:spPr>
          <a:xfrm>
            <a:off x="1" y="593458"/>
            <a:ext cx="419099" cy="365125"/>
          </a:xfrm>
          <a:prstGeom prst="rect">
            <a:avLst/>
          </a:prstGeom>
        </p:spPr>
        <p:txBody>
          <a:bodyPr/>
          <a:lstStyle/>
          <a:p>
            <a:fld id="{B33F7469-D28B-482F-B1B6-3B8E7CF51519}" type="slidenum">
              <a:rPr lang="zh-CN" altLang="en-US" smtClean="0"/>
            </a:fld>
            <a:endParaRPr lang="zh-CN" alt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image" Target="../media/image3.png"/><Relationship Id="rId7" Type="http://schemas.openxmlformats.org/officeDocument/2006/relationships/image" Target="../media/image2.png"/><Relationship Id="rId6" Type="http://schemas.openxmlformats.org/officeDocument/2006/relationships/image" Target="../media/image1.png"/><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62" name="Group 65"/>
          <p:cNvGrpSpPr/>
          <p:nvPr userDrawn="1"/>
        </p:nvGrpSpPr>
        <p:grpSpPr>
          <a:xfrm>
            <a:off x="0" y="0"/>
            <a:ext cx="2212199" cy="6858001"/>
            <a:chOff x="0" y="0"/>
            <a:chExt cx="2305051" cy="6858001"/>
          </a:xfrm>
          <a:solidFill>
            <a:srgbClr val="8B0012"/>
          </a:solidFill>
        </p:grpSpPr>
        <p:sp>
          <p:nvSpPr>
            <p:cNvPr id="67" name="Rectangle 5"/>
            <p:cNvSpPr>
              <a:spLocks noChangeArrowheads="1"/>
            </p:cNvSpPr>
            <p:nvPr/>
          </p:nvSpPr>
          <p:spPr bwMode="auto">
            <a:xfrm>
              <a:off x="1209675" y="4763"/>
              <a:ext cx="23813" cy="2181225"/>
            </a:xfrm>
            <a:prstGeom prst="rect">
              <a:avLst/>
            </a:prstGeom>
            <a:grpFill/>
            <a:ln>
              <a:noFill/>
            </a:ln>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70" name="Rectangle 8"/>
            <p:cNvSpPr>
              <a:spLocks noChangeArrowheads="1"/>
            </p:cNvSpPr>
            <p:nvPr/>
          </p:nvSpPr>
          <p:spPr bwMode="auto">
            <a:xfrm>
              <a:off x="414338" y="9525"/>
              <a:ext cx="28575" cy="4481513"/>
            </a:xfrm>
            <a:prstGeom prst="rect">
              <a:avLst/>
            </a:prstGeom>
            <a:grpFill/>
            <a:ln>
              <a:noFill/>
            </a:ln>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95" name="Rectangle 33"/>
            <p:cNvSpPr>
              <a:spLocks noChangeArrowheads="1"/>
            </p:cNvSpPr>
            <p:nvPr/>
          </p:nvSpPr>
          <p:spPr bwMode="auto">
            <a:xfrm>
              <a:off x="642938" y="6610350"/>
              <a:ext cx="23813" cy="242888"/>
            </a:xfrm>
            <a:prstGeom prst="rect">
              <a:avLst/>
            </a:prstGeom>
            <a:grpFill/>
            <a:ln>
              <a:noFill/>
            </a:ln>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7" name="Rectangle 45"/>
            <p:cNvSpPr>
              <a:spLocks noChangeArrowheads="1"/>
            </p:cNvSpPr>
            <p:nvPr/>
          </p:nvSpPr>
          <p:spPr bwMode="auto">
            <a:xfrm>
              <a:off x="1228725" y="4662488"/>
              <a:ext cx="23813" cy="2181225"/>
            </a:xfrm>
            <a:prstGeom prst="rect">
              <a:avLst/>
            </a:prstGeom>
            <a:grpFill/>
            <a:ln>
              <a:noFill/>
            </a:ln>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169"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70"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71"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sp>
        <p:sp>
          <p:nvSpPr>
            <p:cNvPr id="172"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sp>
          <p:nvSpPr>
            <p:cNvPr id="173"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sp>
        <p:sp>
          <p:nvSpPr>
            <p:cNvPr id="174"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sp>
      </p:grpSp>
      <p:grpSp>
        <p:nvGrpSpPr>
          <p:cNvPr id="6" name="Group 2"/>
          <p:cNvGrpSpPr/>
          <p:nvPr userDrawn="1"/>
        </p:nvGrpSpPr>
        <p:grpSpPr>
          <a:xfrm>
            <a:off x="9489385" y="488041"/>
            <a:ext cx="2580450" cy="547850"/>
            <a:chOff x="9221415" y="158476"/>
            <a:chExt cx="2580450" cy="547850"/>
          </a:xfrm>
        </p:grpSpPr>
        <p:pic>
          <p:nvPicPr>
            <p:cNvPr id="9" name="Picture 3"/>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10" name="Picture 4"/>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 bg1="lt1" tx1="dk1" bg2="lt2" tx2="dk2" accent1="accent1" accent2="accent2" accent3="accent3" accent4="accent4" accent5="accent5" accent6="accent6" hlink="hlink" folHlink="folHlink"/>
  <p:sldLayoutIdLst>
    <p:sldLayoutId id="2147483649" r:id="rId1"/>
  </p:sldLayoutIdLst>
  <p:transition>
    <p:fade/>
  </p:transition>
  <p:hf hdr="0" dt="0"/>
  <p:txStyles>
    <p:titleStyle>
      <a:lvl1pPr algn="l" defTabSz="342900" rtl="0" eaLnBrk="1" latinLnBrk="0" hangingPunct="1">
        <a:spcBef>
          <a:spcPct val="0"/>
        </a:spcBef>
        <a:buNone/>
        <a:defRPr sz="3600" b="0" i="0" kern="1200" baseline="0">
          <a:solidFill>
            <a:schemeClr val="tx1">
              <a:lumMod val="85000"/>
              <a:lumOff val="15000"/>
            </a:schemeClr>
          </a:solidFill>
          <a:latin typeface="Calibri" panose="020F0502020204030204" charset="0"/>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Tx/>
        <a:buChar char="•"/>
        <a:defRPr lang="zh-CN" altLang="en-US" sz="2400" b="0" i="0" kern="1200" baseline="0" dirty="0" smtClean="0">
          <a:solidFill>
            <a:schemeClr val="tx1">
              <a:lumMod val="75000"/>
              <a:lumOff val="25000"/>
            </a:schemeClr>
          </a:solidFill>
          <a:latin typeface="Calibri" panose="020F0502020204030204" charset="0"/>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Tx/>
        <a:buFontTx/>
        <a:buChar char="◦"/>
        <a:defRPr lang="zh-CN" altLang="en-US" sz="2000" b="0" i="0" kern="1200" baseline="0" dirty="0" smtClean="0">
          <a:solidFill>
            <a:schemeClr val="tx1">
              <a:lumMod val="75000"/>
              <a:lumOff val="25000"/>
            </a:schemeClr>
          </a:solidFill>
          <a:latin typeface="Calibri" panose="020F050202020403020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lang="zh-CN" altLang="en-US" sz="1600" kern="1200" baseline="0" dirty="0" smtClean="0">
          <a:solidFill>
            <a:schemeClr val="tx1">
              <a:lumMod val="75000"/>
              <a:lumOff val="25000"/>
            </a:schemeClr>
          </a:solidFill>
          <a:latin typeface="Calibri" panose="020F050202020403020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lang="zh-CN" altLang="en-US" sz="1200" kern="1200" baseline="0" dirty="0" smtClean="0">
          <a:solidFill>
            <a:schemeClr val="tx1">
              <a:lumMod val="75000"/>
              <a:lumOff val="25000"/>
            </a:schemeClr>
          </a:solidFill>
          <a:latin typeface="Calibri" panose="020F050202020403020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2" name="标题占位符 1"/>
          <p:cNvSpPr>
            <a:spLocks noGrp="1"/>
          </p:cNvSpPr>
          <p:nvPr>
            <p:ph type="title"/>
          </p:nvPr>
        </p:nvSpPr>
        <p:spPr>
          <a:xfrm>
            <a:off x="741680" y="431800"/>
            <a:ext cx="8620760" cy="701040"/>
          </a:xfrm>
          <a:prstGeom prst="rect">
            <a:avLst/>
          </a:prstGeom>
        </p:spPr>
        <p:txBody>
          <a:bodyPr vert="horz" lIns="91440" tIns="45720" rIns="91440" bIns="45720" rtlCol="0" anchor="ctr">
            <a:noAutofit/>
          </a:bodyPr>
          <a:lstStyle/>
          <a:p>
            <a:r>
              <a:rPr lang="zh-CN" altLang="en-US" dirty="0"/>
              <a:t>单击此处编辑母版标题样式</a:t>
            </a:r>
            <a:endParaRPr lang="zh-CN" altLang="en-US" dirty="0"/>
          </a:p>
        </p:txBody>
      </p:sp>
      <p:sp>
        <p:nvSpPr>
          <p:cNvPr id="5"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rgbClr val="666666"/>
                </a:solidFill>
                <a:latin typeface="Arial" panose="020B0604020202020204" pitchFamily="34" charset="0"/>
                <a:ea typeface="微软雅黑" panose="020B0503020204020204" pitchFamily="34" charset="-122"/>
              </a:defRPr>
            </a:lvl1pPr>
          </a:lstStyle>
          <a:p>
            <a:endParaRPr lang="zh-CN" altLang="en-US" dirty="0"/>
          </a:p>
        </p:txBody>
      </p:sp>
      <p:sp>
        <p:nvSpPr>
          <p:cNvPr id="44" name="Freeform 5"/>
          <p:cNvSpPr/>
          <p:nvPr userDrawn="1"/>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6"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Arial" panose="020B0604020202020204" pitchFamily="34" charset="0"/>
                <a:ea typeface="微软雅黑" panose="020B0503020204020204" pitchFamily="34" charset="-122"/>
                <a:cs typeface="Calibri" panose="020F0502020204030204" charset="0"/>
              </a:defRPr>
            </a:lvl1pPr>
          </a:lstStyle>
          <a:p>
            <a:fld id="{B33F7469-D28B-482F-B1B6-3B8E7CF51519}" type="slidenum">
              <a:rPr lang="zh-CN" altLang="en-US" smtClean="0"/>
            </a:fld>
            <a:endParaRPr lang="zh-CN" altLang="en-US" dirty="0"/>
          </a:p>
        </p:txBody>
      </p:sp>
      <p:grpSp>
        <p:nvGrpSpPr>
          <p:cNvPr id="4" name="Group 2"/>
          <p:cNvGrpSpPr/>
          <p:nvPr userDrawn="1"/>
        </p:nvGrpSpPr>
        <p:grpSpPr>
          <a:xfrm>
            <a:off x="9489385" y="488041"/>
            <a:ext cx="2580450" cy="547850"/>
            <a:chOff x="9221415" y="158476"/>
            <a:chExt cx="2580450" cy="547850"/>
          </a:xfrm>
        </p:grpSpPr>
        <p:pic>
          <p:nvPicPr>
            <p:cNvPr id="7" name="Picture 3"/>
            <p:cNvPicPr>
              <a:picLocks noChangeAspect="1"/>
            </p:cNvPicPr>
            <p:nvPr/>
          </p:nvPicPr>
          <p:blipFill>
            <a:blip r:embed="rId7"/>
            <a:srcRect/>
            <a:stretch>
              <a:fillRect/>
            </a:stretch>
          </p:blipFill>
          <p:spPr>
            <a:xfrm>
              <a:off x="9221415" y="260529"/>
              <a:ext cx="1096400" cy="336123"/>
            </a:xfrm>
            <a:prstGeom prst="rect">
              <a:avLst/>
            </a:prstGeom>
            <a:ln w="12700">
              <a:noFill/>
              <a:prstDash val="solid"/>
            </a:ln>
          </p:spPr>
        </p:pic>
        <p:pic>
          <p:nvPicPr>
            <p:cNvPr id="8" name="Picture 4"/>
            <p:cNvPicPr>
              <a:picLocks noChangeAspect="1"/>
            </p:cNvPicPr>
            <p:nvPr/>
          </p:nvPicPr>
          <p:blipFill>
            <a:blip r:embed="rId8"/>
            <a:srcRect l="13229" t="29812" r="10430" b="29795"/>
            <a:stretch>
              <a:fillRect/>
            </a:stretch>
          </p:blipFill>
          <p:spPr>
            <a:xfrm>
              <a:off x="10527164" y="158476"/>
              <a:ext cx="1274701" cy="547850"/>
            </a:xfrm>
            <a:prstGeom prst="rect">
              <a:avLst/>
            </a:prstGeom>
            <a:ln w="12700">
              <a:noFill/>
              <a:prstDash val="solid"/>
            </a:ln>
          </p:spPr>
        </p:pic>
      </p:gr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Tx/>
        <a:buChar char="•"/>
        <a:defRPr sz="2400" b="0" i="0" kern="1200" baseline="0">
          <a:solidFill>
            <a:schemeClr val="tx1">
              <a:lumMod val="75000"/>
              <a:lumOff val="25000"/>
            </a:schemeClr>
          </a:solidFill>
          <a:latin typeface="Calibri" panose="020F0502020204030204" charset="0"/>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Tx/>
        <a:buChar char="◦"/>
        <a:defRPr sz="2000" kern="1200" baseline="0">
          <a:solidFill>
            <a:schemeClr val="tx1">
              <a:lumMod val="75000"/>
              <a:lumOff val="25000"/>
            </a:schemeClr>
          </a:solidFill>
          <a:latin typeface="Calibri" panose="020F050202020403020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sz="1600" kern="1200" baseline="0">
          <a:solidFill>
            <a:schemeClr val="tx1">
              <a:lumMod val="75000"/>
              <a:lumOff val="25000"/>
            </a:schemeClr>
          </a:solidFill>
          <a:latin typeface="Calibri" panose="020F050202020403020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sz="1200" kern="1200" baseline="0">
          <a:solidFill>
            <a:schemeClr val="tx1">
              <a:lumMod val="75000"/>
              <a:lumOff val="25000"/>
            </a:schemeClr>
          </a:solidFill>
          <a:latin typeface="Calibri" panose="020F050202020403020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5.GIF"/></Relationships>
</file>

<file path=ppt/slides/_rels/slide6.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3" Type="http://schemas.openxmlformats.org/officeDocument/2006/relationships/notesSlide" Target="../notesSlides/notesSlide4.xml"/><Relationship Id="rId12" Type="http://schemas.openxmlformats.org/officeDocument/2006/relationships/slideLayout" Target="../slideLayouts/slideLayout6.xml"/><Relationship Id="rId11" Type="http://schemas.openxmlformats.org/officeDocument/2006/relationships/image" Target="../media/image7.jpeg"/><Relationship Id="rId10" Type="http://schemas.openxmlformats.org/officeDocument/2006/relationships/image" Target="../media/image6.png"/><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6.xml"/><Relationship Id="rId2" Type="http://schemas.openxmlformats.org/officeDocument/2006/relationships/image" Target="../media/image9.png"/><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6.xml"/><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0" Type="http://schemas.openxmlformats.org/officeDocument/2006/relationships/notesSlide" Target="../notesSlides/notesSlide7.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tags" Target="../tags/tag3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4.jpeg"/><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9.jpeg"/><Relationship Id="rId1" Type="http://schemas.openxmlformats.org/officeDocument/2006/relationships/image" Target="../media/image28.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26.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image" Target="../media/image33.svg"/><Relationship Id="rId3" Type="http://schemas.openxmlformats.org/officeDocument/2006/relationships/image" Target="../media/image32.png"/><Relationship Id="rId20" Type="http://schemas.openxmlformats.org/officeDocument/2006/relationships/slideLayout" Target="../slideLayouts/slideLayout3.xml"/><Relationship Id="rId2" Type="http://schemas.openxmlformats.org/officeDocument/2006/relationships/tags" Target="../tags/tag36.xml"/><Relationship Id="rId19" Type="http://schemas.openxmlformats.org/officeDocument/2006/relationships/image" Target="../media/image38.png"/><Relationship Id="rId18" Type="http://schemas.openxmlformats.org/officeDocument/2006/relationships/tags" Target="../tags/tag46.xml"/><Relationship Id="rId17" Type="http://schemas.openxmlformats.org/officeDocument/2006/relationships/tags" Target="../tags/tag45.xml"/><Relationship Id="rId16" Type="http://schemas.openxmlformats.org/officeDocument/2006/relationships/image" Target="../media/image37.svg"/><Relationship Id="rId15" Type="http://schemas.openxmlformats.org/officeDocument/2006/relationships/image" Target="../media/image36.png"/><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image" Target="../media/image35.svg"/><Relationship Id="rId1" Type="http://schemas.openxmlformats.org/officeDocument/2006/relationships/tags" Target="../tags/tag3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tags" Target="../tags/tag48.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9.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a:t>Performance Engineering for AI Systems</a:t>
            </a:r>
            <a:endParaRPr lang="en-US" altLang="zh-CN"/>
          </a:p>
        </p:txBody>
      </p:sp>
      <p:sp>
        <p:nvSpPr>
          <p:cNvPr id="3" name="副标题 2"/>
          <p:cNvSpPr>
            <a:spLocks noGrp="1"/>
          </p:cNvSpPr>
          <p:nvPr>
            <p:ph type="subTitle" idx="1"/>
          </p:nvPr>
        </p:nvSpPr>
        <p:spPr/>
        <p:txBody>
          <a:bodyPr/>
          <a:p>
            <a:r>
              <a:rPr lang="en-US" altLang="zh-CN">
                <a:sym typeface="+mn-ea"/>
              </a:rPr>
              <a:t>Guojie Luo</a:t>
            </a:r>
            <a:endParaRPr lang="zh-CN" altLang="en-US"/>
          </a:p>
        </p:txBody>
      </p:sp>
      <p:sp>
        <p:nvSpPr>
          <p:cNvPr id="4" name="页脚占位符 3"/>
          <p:cNvSpPr>
            <a:spLocks noGrp="1"/>
          </p:cNvSpPr>
          <p:nvPr>
            <p:ph type="ftr" sz="quarter" idx="11"/>
          </p:nvPr>
        </p:nvSpPr>
        <p:spPr/>
        <p:txBody>
          <a:bodyPr/>
          <a:p>
            <a:endParaRPr lang="zh-CN" altLang="en-US"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1"/>
          </p:nvPr>
        </p:nvSpPr>
        <p:spPr/>
        <p:txBody>
          <a:bodyPr/>
          <a:p>
            <a:endParaRPr lang="zh-CN" altLang="en-US"/>
          </a:p>
        </p:txBody>
      </p:sp>
      <p:sp>
        <p:nvSpPr>
          <p:cNvPr id="4" name="内容占位符 1"/>
          <p:cNvSpPr>
            <a:spLocks noGrp="1"/>
          </p:cNvSpPr>
          <p:nvPr>
            <p:custDataLst>
              <p:tags r:id="rId1"/>
            </p:custDataLst>
          </p:nvPr>
        </p:nvSpPr>
        <p:spPr>
          <a:xfrm>
            <a:off x="5579216" y="127000"/>
            <a:ext cx="6110447" cy="6858000"/>
          </a:xfrm>
          <a:prstGeom prst="rect">
            <a:avLst/>
          </a:prstGeom>
        </p:spPr>
        <p:txBody>
          <a:bodyPr vert="horz" lIns="91440" tIns="45720" rIns="91440" bIns="45720" rtlCol="0" anchor="ctr">
            <a:normAutofit/>
          </a:bodyPr>
          <a:lstStyle>
            <a:lvl1pPr marL="360045" marR="0" indent="-360045" algn="l" defTabSz="342900" rtl="0" eaLnBrk="1" fontAlgn="auto" latinLnBrk="0" hangingPunct="1">
              <a:lnSpc>
                <a:spcPct val="100000"/>
              </a:lnSpc>
              <a:spcBef>
                <a:spcPts val="3000"/>
              </a:spcBef>
              <a:spcAft>
                <a:spcPts val="0"/>
              </a:spcAft>
              <a:buClr>
                <a:srgbClr val="8B0012"/>
              </a:buClr>
              <a:buSzTx/>
              <a:buFontTx/>
              <a:buChar char="•"/>
              <a:defRPr sz="2800" b="0" i="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Tx/>
              <a:buFontTx/>
              <a:buChar char="◦"/>
              <a:defRPr sz="24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sz="20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sz="16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a:lstStyle>
          <a:p>
            <a:r>
              <a:rPr lang="en-US" altLang="zh-CN" b="1">
                <a:solidFill>
                  <a:srgbClr val="C00000"/>
                </a:solidFill>
                <a:cs typeface="Arial" panose="020B0604020202020204" pitchFamily="34" charset="0"/>
              </a:rPr>
              <a:t>Benchmarking &amp; Performance Metrics</a:t>
            </a:r>
            <a:endParaRPr lang="en-US" altLang="zh-CN" b="1">
              <a:solidFill>
                <a:srgbClr val="C00000"/>
              </a:solidFill>
              <a:cs typeface="Arial" panose="020B0604020202020204" pitchFamily="34" charset="0"/>
            </a:endParaRPr>
          </a:p>
          <a:p>
            <a:r>
              <a:rPr lang="en-US" altLang="zh-CN"/>
              <a:t>Profiling &amp; Roofline Analysis</a:t>
            </a:r>
            <a:endParaRPr lang="en-US" altLang="zh-CN"/>
          </a:p>
          <a:p>
            <a:r>
              <a:rPr lang="en-US" altLang="zh-CN"/>
              <a:t>Auto-Tuning &amp; KernelGen</a:t>
            </a:r>
            <a:endParaRPr lang="en-US" altLang="zh-CN"/>
          </a:p>
          <a:p>
            <a:r>
              <a:rPr lang="en-US" altLang="zh-CN"/>
              <a:t>End-to-End Optimization</a:t>
            </a:r>
            <a:endParaRPr lang="en-US" altLang="zh-CN"/>
          </a:p>
          <a:p>
            <a:r>
              <a:rPr lang="en-US" altLang="zh-CN"/>
              <a:t>Lab: Performance Analysis in Practice</a:t>
            </a:r>
            <a:endParaRPr lang="en-US" altLang="zh-CN"/>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1878" y="628223"/>
            <a:ext cx="11601450" cy="381000"/>
          </a:xfrm>
          <a:prstGeom prst="rect">
            <a:avLst/>
          </a:prstGeom>
          <a:noFill/>
        </p:spPr>
        <p:txBody>
          <a:bodyPr wrap="square" lIns="0" tIns="0" rIns="0" bIns="0" rtlCol="0" anchor="ctr"/>
          <a:lstStyle/>
          <a:p>
            <a:pPr>
              <a:lnSpc>
                <a:spcPct val="90000"/>
              </a:lnSpc>
            </a:pPr>
            <a:r>
              <a:rPr lang="en-US" sz="27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Why Do We Need Performance Metrics?</a:t>
            </a:r>
            <a:endParaRPr lang="en-US" sz="1600" dirty="0"/>
          </a:p>
        </p:txBody>
      </p:sp>
      <p:sp>
        <p:nvSpPr>
          <p:cNvPr id="3" name="Text 1"/>
          <p:cNvSpPr/>
          <p:nvPr/>
        </p:nvSpPr>
        <p:spPr>
          <a:xfrm>
            <a:off x="380956" y="1206068"/>
            <a:ext cx="5676900" cy="304800"/>
          </a:xfrm>
          <a:prstGeom prst="rect">
            <a:avLst/>
          </a:prstGeom>
          <a:noFill/>
        </p:spPr>
        <p:txBody>
          <a:bodyPr wrap="square" lIns="0" tIns="0" rIns="0" bIns="0" rtlCol="0" anchor="ctr"/>
          <a:lstStyle/>
          <a:p>
            <a:pPr>
              <a:lnSpc>
                <a:spcPct val="110000"/>
              </a:lnSpc>
            </a:pPr>
            <a:r>
              <a:rPr lang="en-US" sz="18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In High-Performance Computing (HPC) and system optimization,</a:t>
            </a:r>
            <a:endParaRPr lang="en-US" sz="1600" dirty="0"/>
          </a:p>
        </p:txBody>
      </p:sp>
      <p:sp>
        <p:nvSpPr>
          <p:cNvPr id="4" name="Text 2"/>
          <p:cNvSpPr/>
          <p:nvPr/>
        </p:nvSpPr>
        <p:spPr>
          <a:xfrm>
            <a:off x="380956" y="1575916"/>
            <a:ext cx="5657850" cy="996079"/>
          </a:xfrm>
          <a:prstGeom prst="rect">
            <a:avLst/>
          </a:prstGeom>
          <a:noFill/>
        </p:spPr>
        <p:txBody>
          <a:bodyPr wrap="square" lIns="0" tIns="0" rIns="0" bIns="0" rtlCol="0" anchor="ctr"/>
          <a:lstStyle/>
          <a:p>
            <a:pPr>
              <a:lnSpc>
                <a:spcPct val="140000"/>
              </a:lnSpc>
            </a:pPr>
            <a:r>
              <a:rPr lang="en-US" sz="15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we need to </a:t>
            </a:r>
            <a:r>
              <a:rPr lang="en-US" sz="15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quantify </a:t>
            </a:r>
            <a:r>
              <a:rPr lang="en-US" sz="15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program and hardware performance — different metrics reveal bottlenecks at different levels</a:t>
            </a:r>
            <a:endParaRPr lang="en-US" sz="1600" dirty="0"/>
          </a:p>
        </p:txBody>
      </p:sp>
      <p:sp>
        <p:nvSpPr>
          <p:cNvPr id="5" name="Shape 3"/>
          <p:cNvSpPr/>
          <p:nvPr/>
        </p:nvSpPr>
        <p:spPr>
          <a:xfrm>
            <a:off x="380956" y="3124280"/>
            <a:ext cx="5562600" cy="2895600"/>
          </a:xfrm>
          <a:custGeom>
            <a:avLst/>
            <a:gdLst/>
            <a:ahLst/>
            <a:cxnLst/>
            <a:rect l="l" t="t" r="r" b="b"/>
            <a:pathLst>
              <a:path w="5562600" h="2895600">
                <a:moveTo>
                  <a:pt x="76212" y="0"/>
                </a:moveTo>
                <a:lnTo>
                  <a:pt x="5486388" y="0"/>
                </a:lnTo>
                <a:cubicBezTo>
                  <a:pt x="5528479" y="0"/>
                  <a:pt x="5562600" y="34121"/>
                  <a:pt x="5562600" y="76212"/>
                </a:cubicBezTo>
                <a:lnTo>
                  <a:pt x="5562600" y="2819388"/>
                </a:lnTo>
                <a:cubicBezTo>
                  <a:pt x="5562600" y="2861479"/>
                  <a:pt x="5528479" y="2895600"/>
                  <a:pt x="5486388" y="2895600"/>
                </a:cubicBezTo>
                <a:lnTo>
                  <a:pt x="76212" y="2895600"/>
                </a:lnTo>
                <a:cubicBezTo>
                  <a:pt x="34121" y="2895600"/>
                  <a:pt x="0" y="2861479"/>
                  <a:pt x="0" y="2819388"/>
                </a:cubicBezTo>
                <a:lnTo>
                  <a:pt x="0" y="76212"/>
                </a:lnTo>
                <a:cubicBezTo>
                  <a:pt x="0" y="34150"/>
                  <a:pt x="34150" y="0"/>
                  <a:pt x="76212" y="0"/>
                </a:cubicBezTo>
                <a:close/>
              </a:path>
            </a:pathLst>
          </a:custGeom>
          <a:solidFill>
            <a:srgbClr val="F9FAFB"/>
          </a:solidFill>
        </p:spPr>
      </p:sp>
      <p:sp>
        <p:nvSpPr>
          <p:cNvPr id="6" name="Text 4"/>
          <p:cNvSpPr/>
          <p:nvPr/>
        </p:nvSpPr>
        <p:spPr>
          <a:xfrm>
            <a:off x="609529" y="3352853"/>
            <a:ext cx="5200650" cy="266700"/>
          </a:xfrm>
          <a:prstGeom prst="rect">
            <a:avLst/>
          </a:prstGeom>
          <a:noFill/>
        </p:spPr>
        <p:txBody>
          <a:bodyPr wrap="square" lIns="0" tIns="0" rIns="0" bIns="0" rtlCol="0" anchor="ctr"/>
          <a:lstStyle/>
          <a:p>
            <a:pPr>
              <a:lnSpc>
                <a:spcPct val="120000"/>
              </a:lnSpc>
            </a:pPr>
            <a:r>
              <a:rPr lang="en-US" sz="15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Common Performance Metrics</a:t>
            </a:r>
            <a:endParaRPr lang="en-US" sz="1600" dirty="0"/>
          </a:p>
        </p:txBody>
      </p:sp>
      <p:sp>
        <p:nvSpPr>
          <p:cNvPr id="7" name="Shape 5"/>
          <p:cNvSpPr/>
          <p:nvPr/>
        </p:nvSpPr>
        <p:spPr>
          <a:xfrm>
            <a:off x="609529" y="382910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solidFill>
        </p:spPr>
      </p:sp>
      <p:sp>
        <p:nvSpPr>
          <p:cNvPr id="8" name="Shape 6"/>
          <p:cNvSpPr/>
          <p:nvPr/>
        </p:nvSpPr>
        <p:spPr>
          <a:xfrm>
            <a:off x="733309" y="3933801"/>
            <a:ext cx="128588" cy="171450"/>
          </a:xfrm>
          <a:custGeom>
            <a:avLst/>
            <a:gdLst/>
            <a:ahLst/>
            <a:cxnLst/>
            <a:rect l="l" t="t" r="r" b="b"/>
            <a:pathLst>
              <a:path w="128588" h="171450">
                <a:moveTo>
                  <a:pt x="21431" y="0"/>
                </a:moveTo>
                <a:cubicBezTo>
                  <a:pt x="9611" y="0"/>
                  <a:pt x="0" y="9611"/>
                  <a:pt x="0" y="21431"/>
                </a:cubicBezTo>
                <a:lnTo>
                  <a:pt x="0" y="150019"/>
                </a:lnTo>
                <a:cubicBezTo>
                  <a:pt x="0" y="161839"/>
                  <a:pt x="9611" y="171450"/>
                  <a:pt x="21431" y="171450"/>
                </a:cubicBezTo>
                <a:lnTo>
                  <a:pt x="107156" y="171450"/>
                </a:lnTo>
                <a:cubicBezTo>
                  <a:pt x="118977" y="171450"/>
                  <a:pt x="128588" y="161839"/>
                  <a:pt x="128588" y="150019"/>
                </a:cubicBezTo>
                <a:lnTo>
                  <a:pt x="128588" y="21431"/>
                </a:lnTo>
                <a:cubicBezTo>
                  <a:pt x="128588" y="9611"/>
                  <a:pt x="118977" y="0"/>
                  <a:pt x="107156" y="0"/>
                </a:cubicBezTo>
                <a:lnTo>
                  <a:pt x="21431" y="0"/>
                </a:lnTo>
                <a:close/>
                <a:moveTo>
                  <a:pt x="32147" y="21431"/>
                </a:moveTo>
                <a:lnTo>
                  <a:pt x="96441" y="21431"/>
                </a:lnTo>
                <a:cubicBezTo>
                  <a:pt x="102368" y="21431"/>
                  <a:pt x="107156" y="26220"/>
                  <a:pt x="107156" y="32147"/>
                </a:cubicBezTo>
                <a:lnTo>
                  <a:pt x="107156" y="42863"/>
                </a:lnTo>
                <a:cubicBezTo>
                  <a:pt x="107156" y="48790"/>
                  <a:pt x="102368" y="53578"/>
                  <a:pt x="96441" y="53578"/>
                </a:cubicBezTo>
                <a:lnTo>
                  <a:pt x="32147" y="53578"/>
                </a:lnTo>
                <a:cubicBezTo>
                  <a:pt x="26220" y="53578"/>
                  <a:pt x="21431" y="48790"/>
                  <a:pt x="21431" y="42863"/>
                </a:cubicBezTo>
                <a:lnTo>
                  <a:pt x="21431" y="32147"/>
                </a:lnTo>
                <a:cubicBezTo>
                  <a:pt x="21431" y="26220"/>
                  <a:pt x="26220" y="21431"/>
                  <a:pt x="32147" y="21431"/>
                </a:cubicBezTo>
                <a:close/>
                <a:moveTo>
                  <a:pt x="37505" y="77688"/>
                </a:moveTo>
                <a:cubicBezTo>
                  <a:pt x="37505" y="82124"/>
                  <a:pt x="33904" y="85725"/>
                  <a:pt x="29468" y="85725"/>
                </a:cubicBezTo>
                <a:cubicBezTo>
                  <a:pt x="25032" y="85725"/>
                  <a:pt x="21431" y="82124"/>
                  <a:pt x="21431" y="77688"/>
                </a:cubicBezTo>
                <a:cubicBezTo>
                  <a:pt x="21431" y="73253"/>
                  <a:pt x="25032" y="69652"/>
                  <a:pt x="29468" y="69652"/>
                </a:cubicBezTo>
                <a:cubicBezTo>
                  <a:pt x="33904" y="69652"/>
                  <a:pt x="37505" y="73253"/>
                  <a:pt x="37505" y="77688"/>
                </a:cubicBezTo>
                <a:close/>
                <a:moveTo>
                  <a:pt x="64294" y="85725"/>
                </a:moveTo>
                <a:cubicBezTo>
                  <a:pt x="59858" y="85725"/>
                  <a:pt x="56257" y="82124"/>
                  <a:pt x="56257" y="77688"/>
                </a:cubicBezTo>
                <a:cubicBezTo>
                  <a:pt x="56257" y="73253"/>
                  <a:pt x="59858" y="69652"/>
                  <a:pt x="64294" y="69652"/>
                </a:cubicBezTo>
                <a:cubicBezTo>
                  <a:pt x="68729" y="69652"/>
                  <a:pt x="72330" y="73253"/>
                  <a:pt x="72330" y="77688"/>
                </a:cubicBezTo>
                <a:cubicBezTo>
                  <a:pt x="72330" y="82124"/>
                  <a:pt x="68729" y="85725"/>
                  <a:pt x="64294" y="85725"/>
                </a:cubicBezTo>
                <a:close/>
                <a:moveTo>
                  <a:pt x="107156" y="77688"/>
                </a:moveTo>
                <a:cubicBezTo>
                  <a:pt x="107156" y="82124"/>
                  <a:pt x="103555" y="85725"/>
                  <a:pt x="99120" y="85725"/>
                </a:cubicBezTo>
                <a:cubicBezTo>
                  <a:pt x="94684" y="85725"/>
                  <a:pt x="91083" y="82124"/>
                  <a:pt x="91083" y="77688"/>
                </a:cubicBezTo>
                <a:cubicBezTo>
                  <a:pt x="91083" y="73253"/>
                  <a:pt x="94684" y="69652"/>
                  <a:pt x="99120" y="69652"/>
                </a:cubicBezTo>
                <a:cubicBezTo>
                  <a:pt x="103555" y="69652"/>
                  <a:pt x="107156" y="73253"/>
                  <a:pt x="107156" y="77688"/>
                </a:cubicBezTo>
                <a:close/>
                <a:moveTo>
                  <a:pt x="29468" y="117872"/>
                </a:moveTo>
                <a:cubicBezTo>
                  <a:pt x="25032" y="117872"/>
                  <a:pt x="21431" y="114271"/>
                  <a:pt x="21431" y="109835"/>
                </a:cubicBezTo>
                <a:cubicBezTo>
                  <a:pt x="21431" y="105400"/>
                  <a:pt x="25032" y="101798"/>
                  <a:pt x="29468" y="101798"/>
                </a:cubicBezTo>
                <a:cubicBezTo>
                  <a:pt x="33904" y="101798"/>
                  <a:pt x="37505" y="105400"/>
                  <a:pt x="37505" y="109835"/>
                </a:cubicBezTo>
                <a:cubicBezTo>
                  <a:pt x="37505" y="114271"/>
                  <a:pt x="33904" y="117872"/>
                  <a:pt x="29468" y="117872"/>
                </a:cubicBezTo>
                <a:close/>
                <a:moveTo>
                  <a:pt x="72330" y="109835"/>
                </a:moveTo>
                <a:cubicBezTo>
                  <a:pt x="72330" y="114271"/>
                  <a:pt x="68729" y="117872"/>
                  <a:pt x="64294" y="117872"/>
                </a:cubicBezTo>
                <a:cubicBezTo>
                  <a:pt x="59858" y="117872"/>
                  <a:pt x="56257" y="114271"/>
                  <a:pt x="56257" y="109835"/>
                </a:cubicBezTo>
                <a:cubicBezTo>
                  <a:pt x="56257" y="105400"/>
                  <a:pt x="59858" y="101798"/>
                  <a:pt x="64294" y="101798"/>
                </a:cubicBezTo>
                <a:cubicBezTo>
                  <a:pt x="68729" y="101798"/>
                  <a:pt x="72330" y="105400"/>
                  <a:pt x="72330" y="109835"/>
                </a:cubicBezTo>
                <a:close/>
                <a:moveTo>
                  <a:pt x="99120" y="117872"/>
                </a:moveTo>
                <a:cubicBezTo>
                  <a:pt x="94684" y="117872"/>
                  <a:pt x="91083" y="114271"/>
                  <a:pt x="91083" y="109835"/>
                </a:cubicBezTo>
                <a:cubicBezTo>
                  <a:pt x="91083" y="105400"/>
                  <a:pt x="94684" y="101798"/>
                  <a:pt x="99120" y="101798"/>
                </a:cubicBezTo>
                <a:cubicBezTo>
                  <a:pt x="103555" y="101798"/>
                  <a:pt x="107156" y="105400"/>
                  <a:pt x="107156" y="109835"/>
                </a:cubicBezTo>
                <a:cubicBezTo>
                  <a:pt x="107156" y="114271"/>
                  <a:pt x="103555" y="117872"/>
                  <a:pt x="99120" y="117872"/>
                </a:cubicBezTo>
                <a:close/>
                <a:moveTo>
                  <a:pt x="21431" y="141982"/>
                </a:moveTo>
                <a:cubicBezTo>
                  <a:pt x="21431" y="137528"/>
                  <a:pt x="25014" y="133945"/>
                  <a:pt x="29468" y="133945"/>
                </a:cubicBezTo>
                <a:lnTo>
                  <a:pt x="66973" y="133945"/>
                </a:lnTo>
                <a:cubicBezTo>
                  <a:pt x="71426" y="133945"/>
                  <a:pt x="75009" y="137528"/>
                  <a:pt x="75009" y="141982"/>
                </a:cubicBezTo>
                <a:cubicBezTo>
                  <a:pt x="75009" y="146436"/>
                  <a:pt x="71426" y="150019"/>
                  <a:pt x="66973" y="150019"/>
                </a:cubicBezTo>
                <a:lnTo>
                  <a:pt x="29468" y="150019"/>
                </a:lnTo>
                <a:cubicBezTo>
                  <a:pt x="25014" y="150019"/>
                  <a:pt x="21431" y="146436"/>
                  <a:pt x="21431" y="141982"/>
                </a:cubicBezTo>
                <a:close/>
                <a:moveTo>
                  <a:pt x="99120" y="133945"/>
                </a:moveTo>
                <a:cubicBezTo>
                  <a:pt x="103573" y="133945"/>
                  <a:pt x="107156" y="137528"/>
                  <a:pt x="107156" y="141982"/>
                </a:cubicBezTo>
                <a:cubicBezTo>
                  <a:pt x="107156" y="146436"/>
                  <a:pt x="103573" y="150019"/>
                  <a:pt x="99120" y="150019"/>
                </a:cubicBezTo>
                <a:cubicBezTo>
                  <a:pt x="94666" y="150019"/>
                  <a:pt x="91083" y="146436"/>
                  <a:pt x="91083" y="141982"/>
                </a:cubicBezTo>
                <a:cubicBezTo>
                  <a:pt x="91083" y="137528"/>
                  <a:pt x="94666" y="133945"/>
                  <a:pt x="99120" y="133945"/>
                </a:cubicBezTo>
                <a:close/>
              </a:path>
            </a:pathLst>
          </a:custGeom>
          <a:solidFill>
            <a:srgbClr val="FFFFFF"/>
          </a:solidFill>
        </p:spPr>
      </p:sp>
      <p:sp>
        <p:nvSpPr>
          <p:cNvPr id="9" name="Text 7"/>
          <p:cNvSpPr/>
          <p:nvPr/>
        </p:nvSpPr>
        <p:spPr>
          <a:xfrm>
            <a:off x="1104734" y="3771941"/>
            <a:ext cx="695325" cy="266700"/>
          </a:xfrm>
          <a:prstGeom prst="rect">
            <a:avLst/>
          </a:prstGeom>
          <a:noFill/>
        </p:spPr>
        <p:txBody>
          <a:bodyPr wrap="square" lIns="0" tIns="0" rIns="0" bIns="0" rtlCol="0" anchor="ctr"/>
          <a:lstStyle/>
          <a:p>
            <a:pPr>
              <a:lnSpc>
                <a:spcPct val="130000"/>
              </a:lnSpc>
            </a:pPr>
            <a:r>
              <a:rPr lang="en-US" sz="1350" b="1" dirty="0">
                <a:solidFill>
                  <a:srgbClr val="000000"/>
                </a:solidFill>
                <a:latin typeface="MiSans" pitchFamily="34" charset="0"/>
                <a:ea typeface="MiSans" pitchFamily="34" charset="-122"/>
                <a:cs typeface="MiSans" pitchFamily="34" charset="-120"/>
              </a:rPr>
              <a:t>FLOPS</a:t>
            </a:r>
            <a:endParaRPr lang="en-US" sz="1600" dirty="0"/>
          </a:p>
        </p:txBody>
      </p:sp>
      <p:sp>
        <p:nvSpPr>
          <p:cNvPr id="10" name="Text 8"/>
          <p:cNvSpPr/>
          <p:nvPr/>
        </p:nvSpPr>
        <p:spPr>
          <a:xfrm>
            <a:off x="1104733" y="4038647"/>
            <a:ext cx="1374697" cy="228600"/>
          </a:xfrm>
          <a:prstGeom prst="rect">
            <a:avLst/>
          </a:prstGeom>
          <a:noFill/>
        </p:spPr>
        <p:txBody>
          <a:bodyPr wrap="square" lIns="0" tIns="0" rIns="0" bIns="0" rtlCol="0" anchor="ctr"/>
          <a:lstStyle/>
          <a:p>
            <a:pPr>
              <a:lnSpc>
                <a:spcPct val="130000"/>
              </a:lnSpc>
            </a:pPr>
            <a:r>
              <a:rPr lang="en-US" sz="1200" dirty="0">
                <a:solidFill>
                  <a:srgbClr val="4A5565"/>
                </a:solidFill>
                <a:latin typeface="MiSans" pitchFamily="34" charset="0"/>
                <a:ea typeface="MiSans" pitchFamily="34" charset="-122"/>
                <a:cs typeface="MiSans" pitchFamily="34" charset="-120"/>
              </a:rPr>
              <a:t>Compute Capacity</a:t>
            </a:r>
            <a:endParaRPr lang="en-US" sz="1600" dirty="0"/>
          </a:p>
        </p:txBody>
      </p:sp>
      <p:sp>
        <p:nvSpPr>
          <p:cNvPr id="11" name="Shape 9"/>
          <p:cNvSpPr/>
          <p:nvPr/>
        </p:nvSpPr>
        <p:spPr>
          <a:xfrm>
            <a:off x="3238456" y="382910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solidFill>
        </p:spPr>
      </p:sp>
      <p:sp>
        <p:nvSpPr>
          <p:cNvPr id="12" name="Shape 10"/>
          <p:cNvSpPr/>
          <p:nvPr/>
        </p:nvSpPr>
        <p:spPr>
          <a:xfrm>
            <a:off x="3340805" y="3933801"/>
            <a:ext cx="171450" cy="171450"/>
          </a:xfrm>
          <a:custGeom>
            <a:avLst/>
            <a:gdLst/>
            <a:ahLst/>
            <a:cxnLst/>
            <a:rect l="l" t="t" r="r" b="b"/>
            <a:pathLst>
              <a:path w="171450" h="171450">
                <a:moveTo>
                  <a:pt x="0" y="85725"/>
                </a:moveTo>
                <a:cubicBezTo>
                  <a:pt x="0" y="38412"/>
                  <a:pt x="38412" y="0"/>
                  <a:pt x="85725" y="0"/>
                </a:cubicBezTo>
                <a:cubicBezTo>
                  <a:pt x="133038" y="0"/>
                  <a:pt x="171450" y="38412"/>
                  <a:pt x="171450" y="85725"/>
                </a:cubicBezTo>
                <a:cubicBezTo>
                  <a:pt x="171450" y="133038"/>
                  <a:pt x="133038" y="171450"/>
                  <a:pt x="85725" y="171450"/>
                </a:cubicBezTo>
                <a:cubicBezTo>
                  <a:pt x="38412" y="171450"/>
                  <a:pt x="0" y="133038"/>
                  <a:pt x="0" y="85725"/>
                </a:cubicBezTo>
                <a:close/>
                <a:moveTo>
                  <a:pt x="96441" y="32147"/>
                </a:moveTo>
                <a:cubicBezTo>
                  <a:pt x="96441" y="26233"/>
                  <a:pt x="91639" y="21431"/>
                  <a:pt x="85725" y="21431"/>
                </a:cubicBezTo>
                <a:cubicBezTo>
                  <a:pt x="79811" y="21431"/>
                  <a:pt x="75009" y="26233"/>
                  <a:pt x="75009" y="32147"/>
                </a:cubicBezTo>
                <a:cubicBezTo>
                  <a:pt x="75009" y="38061"/>
                  <a:pt x="79811" y="42863"/>
                  <a:pt x="85725" y="42863"/>
                </a:cubicBezTo>
                <a:cubicBezTo>
                  <a:pt x="91639" y="42863"/>
                  <a:pt x="96441" y="38061"/>
                  <a:pt x="96441" y="32147"/>
                </a:cubicBezTo>
                <a:close/>
                <a:moveTo>
                  <a:pt x="85725" y="139303"/>
                </a:moveTo>
                <a:cubicBezTo>
                  <a:pt x="97546" y="139303"/>
                  <a:pt x="107156" y="129693"/>
                  <a:pt x="107156" y="117872"/>
                </a:cubicBezTo>
                <a:cubicBezTo>
                  <a:pt x="107156" y="112447"/>
                  <a:pt x="105147" y="107458"/>
                  <a:pt x="101798" y="103707"/>
                </a:cubicBezTo>
                <a:lnTo>
                  <a:pt x="125071" y="57195"/>
                </a:lnTo>
                <a:cubicBezTo>
                  <a:pt x="127047" y="53210"/>
                  <a:pt x="125440" y="48388"/>
                  <a:pt x="121488" y="46412"/>
                </a:cubicBezTo>
                <a:cubicBezTo>
                  <a:pt x="117537" y="44436"/>
                  <a:pt x="112681" y="46044"/>
                  <a:pt x="110706" y="49995"/>
                </a:cubicBezTo>
                <a:lnTo>
                  <a:pt x="87433" y="96508"/>
                </a:lnTo>
                <a:cubicBezTo>
                  <a:pt x="86864" y="96474"/>
                  <a:pt x="86294" y="96441"/>
                  <a:pt x="85725" y="96441"/>
                </a:cubicBezTo>
                <a:cubicBezTo>
                  <a:pt x="73904" y="96441"/>
                  <a:pt x="64294" y="106051"/>
                  <a:pt x="64294" y="117872"/>
                </a:cubicBezTo>
                <a:cubicBezTo>
                  <a:pt x="64294" y="129693"/>
                  <a:pt x="73904" y="139303"/>
                  <a:pt x="85725" y="139303"/>
                </a:cubicBezTo>
                <a:close/>
                <a:moveTo>
                  <a:pt x="58936" y="48220"/>
                </a:moveTo>
                <a:cubicBezTo>
                  <a:pt x="58936" y="42306"/>
                  <a:pt x="54134" y="37505"/>
                  <a:pt x="48220" y="37505"/>
                </a:cubicBezTo>
                <a:cubicBezTo>
                  <a:pt x="42306" y="37505"/>
                  <a:pt x="37505" y="42306"/>
                  <a:pt x="37505" y="48220"/>
                </a:cubicBezTo>
                <a:cubicBezTo>
                  <a:pt x="37505" y="54134"/>
                  <a:pt x="42306" y="58936"/>
                  <a:pt x="48220" y="58936"/>
                </a:cubicBezTo>
                <a:cubicBezTo>
                  <a:pt x="54134" y="58936"/>
                  <a:pt x="58936" y="54134"/>
                  <a:pt x="58936" y="48220"/>
                </a:cubicBezTo>
                <a:close/>
                <a:moveTo>
                  <a:pt x="32147" y="96441"/>
                </a:moveTo>
                <a:cubicBezTo>
                  <a:pt x="38061" y="96441"/>
                  <a:pt x="42863" y="91639"/>
                  <a:pt x="42863" y="85725"/>
                </a:cubicBezTo>
                <a:cubicBezTo>
                  <a:pt x="42863" y="79811"/>
                  <a:pt x="38061" y="75009"/>
                  <a:pt x="32147" y="75009"/>
                </a:cubicBezTo>
                <a:cubicBezTo>
                  <a:pt x="26233" y="75009"/>
                  <a:pt x="21431" y="79811"/>
                  <a:pt x="21431" y="85725"/>
                </a:cubicBezTo>
                <a:cubicBezTo>
                  <a:pt x="21431" y="91639"/>
                  <a:pt x="26233" y="96441"/>
                  <a:pt x="32147" y="96441"/>
                </a:cubicBezTo>
                <a:close/>
                <a:moveTo>
                  <a:pt x="150019" y="85725"/>
                </a:moveTo>
                <a:cubicBezTo>
                  <a:pt x="150019" y="79811"/>
                  <a:pt x="145217" y="75009"/>
                  <a:pt x="139303" y="75009"/>
                </a:cubicBezTo>
                <a:cubicBezTo>
                  <a:pt x="133389" y="75009"/>
                  <a:pt x="128588" y="79811"/>
                  <a:pt x="128588" y="85725"/>
                </a:cubicBezTo>
                <a:cubicBezTo>
                  <a:pt x="128588" y="91639"/>
                  <a:pt x="133389" y="96441"/>
                  <a:pt x="139303" y="96441"/>
                </a:cubicBezTo>
                <a:cubicBezTo>
                  <a:pt x="145217" y="96441"/>
                  <a:pt x="150019" y="91639"/>
                  <a:pt x="150019" y="85725"/>
                </a:cubicBezTo>
                <a:close/>
              </a:path>
            </a:pathLst>
          </a:custGeom>
          <a:solidFill>
            <a:srgbClr val="FFFFFF"/>
          </a:solidFill>
        </p:spPr>
      </p:sp>
      <p:sp>
        <p:nvSpPr>
          <p:cNvPr id="13" name="Text 11"/>
          <p:cNvSpPr/>
          <p:nvPr/>
        </p:nvSpPr>
        <p:spPr>
          <a:xfrm>
            <a:off x="3733661" y="3771941"/>
            <a:ext cx="1019175" cy="266700"/>
          </a:xfrm>
          <a:prstGeom prst="rect">
            <a:avLst/>
          </a:prstGeom>
          <a:noFill/>
        </p:spPr>
        <p:txBody>
          <a:bodyPr wrap="square" lIns="0" tIns="0" rIns="0" bIns="0" rtlCol="0" anchor="ctr"/>
          <a:lstStyle/>
          <a:p>
            <a:pPr>
              <a:lnSpc>
                <a:spcPct val="130000"/>
              </a:lnSpc>
            </a:pPr>
            <a:r>
              <a:rPr lang="en-US" sz="1350" b="1" dirty="0">
                <a:solidFill>
                  <a:srgbClr val="000000"/>
                </a:solidFill>
                <a:latin typeface="MiSans" pitchFamily="34" charset="0"/>
                <a:ea typeface="MiSans" pitchFamily="34" charset="-122"/>
                <a:cs typeface="MiSans" pitchFamily="34" charset="-120"/>
              </a:rPr>
              <a:t>Bandwidth</a:t>
            </a:r>
            <a:endParaRPr lang="en-US" sz="1600" dirty="0"/>
          </a:p>
        </p:txBody>
      </p:sp>
      <p:sp>
        <p:nvSpPr>
          <p:cNvPr id="14" name="Text 12"/>
          <p:cNvSpPr/>
          <p:nvPr/>
        </p:nvSpPr>
        <p:spPr>
          <a:xfrm>
            <a:off x="3733661" y="4038647"/>
            <a:ext cx="1009650" cy="228600"/>
          </a:xfrm>
          <a:prstGeom prst="rect">
            <a:avLst/>
          </a:prstGeom>
          <a:noFill/>
        </p:spPr>
        <p:txBody>
          <a:bodyPr wrap="square" lIns="0" tIns="0" rIns="0" bIns="0" rtlCol="0" anchor="ctr"/>
          <a:lstStyle/>
          <a:p>
            <a:pPr>
              <a:lnSpc>
                <a:spcPct val="130000"/>
              </a:lnSpc>
            </a:pPr>
            <a:r>
              <a:rPr lang="en-US" sz="1200" dirty="0">
                <a:solidFill>
                  <a:srgbClr val="4A5565"/>
                </a:solidFill>
                <a:latin typeface="MiSans" pitchFamily="34" charset="0"/>
                <a:ea typeface="MiSans" pitchFamily="34" charset="-122"/>
                <a:cs typeface="MiSans" pitchFamily="34" charset="-120"/>
              </a:rPr>
              <a:t>Bandwidth</a:t>
            </a:r>
            <a:endParaRPr lang="en-US" sz="1600" dirty="0"/>
          </a:p>
        </p:txBody>
      </p:sp>
      <p:sp>
        <p:nvSpPr>
          <p:cNvPr id="15" name="Shape 13"/>
          <p:cNvSpPr/>
          <p:nvPr/>
        </p:nvSpPr>
        <p:spPr>
          <a:xfrm>
            <a:off x="609529" y="447676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solidFill>
        </p:spPr>
      </p:sp>
      <p:sp>
        <p:nvSpPr>
          <p:cNvPr id="16" name="Shape 14"/>
          <p:cNvSpPr/>
          <p:nvPr/>
        </p:nvSpPr>
        <p:spPr>
          <a:xfrm>
            <a:off x="711878" y="4581463"/>
            <a:ext cx="171450" cy="171450"/>
          </a:xfrm>
          <a:custGeom>
            <a:avLst/>
            <a:gdLst/>
            <a:ahLst/>
            <a:cxnLst/>
            <a:rect l="l" t="t" r="r" b="b"/>
            <a:pathLst>
              <a:path w="171450" h="171450">
                <a:moveTo>
                  <a:pt x="85725" y="0"/>
                </a:moveTo>
                <a:cubicBezTo>
                  <a:pt x="133038" y="0"/>
                  <a:pt x="171450" y="38412"/>
                  <a:pt x="171450" y="85725"/>
                </a:cubicBezTo>
                <a:cubicBezTo>
                  <a:pt x="171450" y="133038"/>
                  <a:pt x="133038" y="171450"/>
                  <a:pt x="85725" y="171450"/>
                </a:cubicBezTo>
                <a:cubicBezTo>
                  <a:pt x="38412" y="171450"/>
                  <a:pt x="0" y="133038"/>
                  <a:pt x="0" y="85725"/>
                </a:cubicBezTo>
                <a:cubicBezTo>
                  <a:pt x="0" y="38412"/>
                  <a:pt x="38412" y="0"/>
                  <a:pt x="85725" y="0"/>
                </a:cubicBezTo>
                <a:close/>
                <a:moveTo>
                  <a:pt x="77688" y="40184"/>
                </a:moveTo>
                <a:lnTo>
                  <a:pt x="77688" y="85725"/>
                </a:lnTo>
                <a:cubicBezTo>
                  <a:pt x="77688" y="88404"/>
                  <a:pt x="79028" y="90915"/>
                  <a:pt x="81271" y="92422"/>
                </a:cubicBezTo>
                <a:lnTo>
                  <a:pt x="113418" y="113854"/>
                </a:lnTo>
                <a:cubicBezTo>
                  <a:pt x="117102" y="116332"/>
                  <a:pt x="122091" y="115327"/>
                  <a:pt x="124569" y="111610"/>
                </a:cubicBezTo>
                <a:cubicBezTo>
                  <a:pt x="127047" y="107893"/>
                  <a:pt x="126043" y="102937"/>
                  <a:pt x="122326" y="100459"/>
                </a:cubicBezTo>
                <a:lnTo>
                  <a:pt x="93762" y="81439"/>
                </a:lnTo>
                <a:lnTo>
                  <a:pt x="93762" y="40184"/>
                </a:lnTo>
                <a:cubicBezTo>
                  <a:pt x="93762" y="35730"/>
                  <a:pt x="90179" y="32147"/>
                  <a:pt x="85725" y="32147"/>
                </a:cubicBezTo>
                <a:cubicBezTo>
                  <a:pt x="81271" y="32147"/>
                  <a:pt x="77688" y="35730"/>
                  <a:pt x="77688" y="40184"/>
                </a:cubicBezTo>
                <a:close/>
              </a:path>
            </a:pathLst>
          </a:custGeom>
          <a:solidFill>
            <a:srgbClr val="FFFFFF"/>
          </a:solidFill>
        </p:spPr>
      </p:sp>
      <p:sp>
        <p:nvSpPr>
          <p:cNvPr id="17" name="Text 15"/>
          <p:cNvSpPr/>
          <p:nvPr/>
        </p:nvSpPr>
        <p:spPr>
          <a:xfrm>
            <a:off x="1104734" y="4419603"/>
            <a:ext cx="742950" cy="266700"/>
          </a:xfrm>
          <a:prstGeom prst="rect">
            <a:avLst/>
          </a:prstGeom>
          <a:noFill/>
        </p:spPr>
        <p:txBody>
          <a:bodyPr wrap="square" lIns="0" tIns="0" rIns="0" bIns="0" rtlCol="0" anchor="ctr"/>
          <a:lstStyle/>
          <a:p>
            <a:pPr>
              <a:lnSpc>
                <a:spcPct val="130000"/>
              </a:lnSpc>
            </a:pPr>
            <a:r>
              <a:rPr lang="en-US" sz="1350" b="1" dirty="0">
                <a:solidFill>
                  <a:srgbClr val="000000"/>
                </a:solidFill>
                <a:latin typeface="MiSans" pitchFamily="34" charset="0"/>
                <a:ea typeface="MiSans" pitchFamily="34" charset="-122"/>
                <a:cs typeface="MiSans" pitchFamily="34" charset="-120"/>
              </a:rPr>
              <a:t>Latency</a:t>
            </a:r>
            <a:endParaRPr lang="en-US" sz="1600" dirty="0"/>
          </a:p>
        </p:txBody>
      </p:sp>
      <p:sp>
        <p:nvSpPr>
          <p:cNvPr id="18" name="Text 16"/>
          <p:cNvSpPr/>
          <p:nvPr/>
        </p:nvSpPr>
        <p:spPr>
          <a:xfrm>
            <a:off x="1104734" y="4686309"/>
            <a:ext cx="733425" cy="228600"/>
          </a:xfrm>
          <a:prstGeom prst="rect">
            <a:avLst/>
          </a:prstGeom>
          <a:noFill/>
        </p:spPr>
        <p:txBody>
          <a:bodyPr wrap="square" lIns="0" tIns="0" rIns="0" bIns="0" rtlCol="0" anchor="ctr"/>
          <a:lstStyle/>
          <a:p>
            <a:pPr>
              <a:lnSpc>
                <a:spcPct val="130000"/>
              </a:lnSpc>
            </a:pPr>
            <a:r>
              <a:rPr lang="en-US" sz="1200" dirty="0">
                <a:solidFill>
                  <a:srgbClr val="4A5565"/>
                </a:solidFill>
                <a:latin typeface="MiSans" pitchFamily="34" charset="0"/>
                <a:ea typeface="MiSans" pitchFamily="34" charset="-122"/>
                <a:cs typeface="MiSans" pitchFamily="34" charset="-120"/>
              </a:rPr>
              <a:t>Latency</a:t>
            </a:r>
            <a:endParaRPr lang="en-US" sz="1600" dirty="0"/>
          </a:p>
        </p:txBody>
      </p:sp>
      <p:sp>
        <p:nvSpPr>
          <p:cNvPr id="19" name="Shape 17"/>
          <p:cNvSpPr/>
          <p:nvPr/>
        </p:nvSpPr>
        <p:spPr>
          <a:xfrm>
            <a:off x="3238456" y="447676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solidFill>
        </p:spPr>
      </p:sp>
      <p:sp>
        <p:nvSpPr>
          <p:cNvPr id="20" name="Shape 18"/>
          <p:cNvSpPr/>
          <p:nvPr/>
        </p:nvSpPr>
        <p:spPr>
          <a:xfrm>
            <a:off x="3340805" y="4581463"/>
            <a:ext cx="171450" cy="171450"/>
          </a:xfrm>
          <a:custGeom>
            <a:avLst/>
            <a:gdLst/>
            <a:ahLst/>
            <a:cxnLst/>
            <a:rect l="l" t="t" r="r" b="b"/>
            <a:pathLst>
              <a:path w="171450" h="171450">
                <a:moveTo>
                  <a:pt x="21431" y="21431"/>
                </a:moveTo>
                <a:cubicBezTo>
                  <a:pt x="21431" y="15504"/>
                  <a:pt x="16643" y="10716"/>
                  <a:pt x="10716" y="10716"/>
                </a:cubicBezTo>
                <a:cubicBezTo>
                  <a:pt x="4789" y="10716"/>
                  <a:pt x="0" y="15504"/>
                  <a:pt x="0" y="21431"/>
                </a:cubicBezTo>
                <a:lnTo>
                  <a:pt x="0" y="133945"/>
                </a:lnTo>
                <a:cubicBezTo>
                  <a:pt x="0" y="148746"/>
                  <a:pt x="11988" y="160734"/>
                  <a:pt x="26789" y="160734"/>
                </a:cubicBezTo>
                <a:lnTo>
                  <a:pt x="160734" y="160734"/>
                </a:lnTo>
                <a:cubicBezTo>
                  <a:pt x="166661" y="160734"/>
                  <a:pt x="171450" y="155946"/>
                  <a:pt x="171450" y="150019"/>
                </a:cubicBezTo>
                <a:cubicBezTo>
                  <a:pt x="171450" y="144092"/>
                  <a:pt x="166661" y="139303"/>
                  <a:pt x="160734" y="139303"/>
                </a:cubicBezTo>
                <a:lnTo>
                  <a:pt x="26789" y="139303"/>
                </a:lnTo>
                <a:cubicBezTo>
                  <a:pt x="23842" y="139303"/>
                  <a:pt x="21431" y="136892"/>
                  <a:pt x="21431" y="133945"/>
                </a:cubicBezTo>
                <a:lnTo>
                  <a:pt x="21431" y="21431"/>
                </a:lnTo>
                <a:close/>
                <a:moveTo>
                  <a:pt x="157587" y="50430"/>
                </a:moveTo>
                <a:cubicBezTo>
                  <a:pt x="161772" y="46245"/>
                  <a:pt x="161772" y="39447"/>
                  <a:pt x="157587" y="35261"/>
                </a:cubicBezTo>
                <a:cubicBezTo>
                  <a:pt x="153401" y="31075"/>
                  <a:pt x="146603" y="31075"/>
                  <a:pt x="142417" y="35261"/>
                </a:cubicBezTo>
                <a:lnTo>
                  <a:pt x="107156" y="70556"/>
                </a:lnTo>
                <a:lnTo>
                  <a:pt x="87935" y="51368"/>
                </a:lnTo>
                <a:cubicBezTo>
                  <a:pt x="83749" y="47182"/>
                  <a:pt x="76952" y="47182"/>
                  <a:pt x="72766" y="51368"/>
                </a:cubicBezTo>
                <a:lnTo>
                  <a:pt x="40619" y="83515"/>
                </a:lnTo>
                <a:cubicBezTo>
                  <a:pt x="36433" y="87701"/>
                  <a:pt x="36433" y="94498"/>
                  <a:pt x="40619" y="98684"/>
                </a:cubicBezTo>
                <a:cubicBezTo>
                  <a:pt x="44805" y="102870"/>
                  <a:pt x="51602" y="102870"/>
                  <a:pt x="55788" y="98684"/>
                </a:cubicBezTo>
                <a:lnTo>
                  <a:pt x="80367" y="74105"/>
                </a:lnTo>
                <a:lnTo>
                  <a:pt x="99588" y="93326"/>
                </a:lnTo>
                <a:cubicBezTo>
                  <a:pt x="103774" y="97512"/>
                  <a:pt x="110572" y="97512"/>
                  <a:pt x="114758" y="93326"/>
                </a:cubicBezTo>
                <a:lnTo>
                  <a:pt x="157620" y="50464"/>
                </a:lnTo>
                <a:close/>
              </a:path>
            </a:pathLst>
          </a:custGeom>
          <a:solidFill>
            <a:srgbClr val="FFFFFF"/>
          </a:solidFill>
        </p:spPr>
      </p:sp>
      <p:sp>
        <p:nvSpPr>
          <p:cNvPr id="21" name="Text 19"/>
          <p:cNvSpPr/>
          <p:nvPr/>
        </p:nvSpPr>
        <p:spPr>
          <a:xfrm>
            <a:off x="3733661" y="4419603"/>
            <a:ext cx="971550" cy="266700"/>
          </a:xfrm>
          <a:prstGeom prst="rect">
            <a:avLst/>
          </a:prstGeom>
          <a:noFill/>
        </p:spPr>
        <p:txBody>
          <a:bodyPr wrap="square" lIns="0" tIns="0" rIns="0" bIns="0" rtlCol="0" anchor="ctr"/>
          <a:lstStyle/>
          <a:p>
            <a:pPr>
              <a:lnSpc>
                <a:spcPct val="130000"/>
              </a:lnSpc>
            </a:pPr>
            <a:r>
              <a:rPr lang="en-US" sz="1350" b="1" dirty="0">
                <a:solidFill>
                  <a:srgbClr val="000000"/>
                </a:solidFill>
                <a:latin typeface="MiSans" pitchFamily="34" charset="0"/>
                <a:ea typeface="MiSans" pitchFamily="34" charset="-122"/>
                <a:cs typeface="MiSans" pitchFamily="34" charset="-120"/>
              </a:rPr>
              <a:t>Utilization</a:t>
            </a:r>
            <a:endParaRPr lang="en-US" sz="1600" dirty="0"/>
          </a:p>
        </p:txBody>
      </p:sp>
      <p:sp>
        <p:nvSpPr>
          <p:cNvPr id="22" name="Text 20"/>
          <p:cNvSpPr/>
          <p:nvPr/>
        </p:nvSpPr>
        <p:spPr>
          <a:xfrm>
            <a:off x="3733661" y="4686309"/>
            <a:ext cx="1981078" cy="266611"/>
          </a:xfrm>
          <a:prstGeom prst="rect">
            <a:avLst/>
          </a:prstGeom>
          <a:noFill/>
        </p:spPr>
        <p:txBody>
          <a:bodyPr wrap="square" lIns="0" tIns="0" rIns="0" bIns="0" rtlCol="0" anchor="ctr"/>
          <a:lstStyle/>
          <a:p>
            <a:pPr>
              <a:lnSpc>
                <a:spcPct val="130000"/>
              </a:lnSpc>
            </a:pPr>
            <a:r>
              <a:rPr lang="en-US" sz="1200" dirty="0">
                <a:solidFill>
                  <a:srgbClr val="4A5565"/>
                </a:solidFill>
                <a:latin typeface="MiSans" pitchFamily="34" charset="0"/>
                <a:ea typeface="MiSans" pitchFamily="34" charset="-122"/>
                <a:cs typeface="MiSans" pitchFamily="34" charset="-120"/>
              </a:rPr>
              <a:t>Resource Utilization</a:t>
            </a:r>
            <a:endParaRPr lang="en-US" sz="1600" dirty="0"/>
          </a:p>
        </p:txBody>
      </p:sp>
      <p:sp>
        <p:nvSpPr>
          <p:cNvPr id="23" name="Shape 21"/>
          <p:cNvSpPr/>
          <p:nvPr/>
        </p:nvSpPr>
        <p:spPr>
          <a:xfrm>
            <a:off x="628484" y="5067265"/>
            <a:ext cx="5086255" cy="723900"/>
          </a:xfrm>
          <a:custGeom>
            <a:avLst/>
            <a:gdLst/>
            <a:ahLst/>
            <a:cxnLst/>
            <a:rect l="l" t="t" r="r" b="b"/>
            <a:pathLst>
              <a:path w="5086255" h="723900">
                <a:moveTo>
                  <a:pt x="37910" y="0"/>
                </a:moveTo>
                <a:lnTo>
                  <a:pt x="5048156" y="0"/>
                </a:lnTo>
                <a:cubicBezTo>
                  <a:pt x="5069184" y="0"/>
                  <a:pt x="5086255" y="17072"/>
                  <a:pt x="5086255" y="38099"/>
                </a:cubicBezTo>
                <a:lnTo>
                  <a:pt x="5086255" y="685801"/>
                </a:lnTo>
                <a:cubicBezTo>
                  <a:pt x="5086255" y="706828"/>
                  <a:pt x="5069184" y="723900"/>
                  <a:pt x="5048156" y="723900"/>
                </a:cubicBezTo>
                <a:lnTo>
                  <a:pt x="37910" y="723900"/>
                </a:lnTo>
                <a:cubicBezTo>
                  <a:pt x="16973" y="723900"/>
                  <a:pt x="0" y="706927"/>
                  <a:pt x="0" y="685990"/>
                </a:cubicBezTo>
                <a:lnTo>
                  <a:pt x="0" y="37910"/>
                </a:lnTo>
                <a:cubicBezTo>
                  <a:pt x="0" y="16987"/>
                  <a:pt x="16987" y="0"/>
                  <a:pt x="37910" y="0"/>
                </a:cubicBezTo>
                <a:close/>
              </a:path>
            </a:pathLst>
          </a:custGeom>
          <a:solidFill>
            <a:srgbClr val="FFFFFF"/>
          </a:solidFill>
        </p:spPr>
      </p:sp>
      <p:sp>
        <p:nvSpPr>
          <p:cNvPr id="24" name="Shape 22"/>
          <p:cNvSpPr/>
          <p:nvPr/>
        </p:nvSpPr>
        <p:spPr>
          <a:xfrm>
            <a:off x="628484" y="5067265"/>
            <a:ext cx="37910" cy="723900"/>
          </a:xfrm>
          <a:custGeom>
            <a:avLst/>
            <a:gdLst/>
            <a:ahLst/>
            <a:cxnLst/>
            <a:rect l="l" t="t" r="r" b="b"/>
            <a:pathLst>
              <a:path w="37910" h="723900">
                <a:moveTo>
                  <a:pt x="37910" y="0"/>
                </a:moveTo>
                <a:lnTo>
                  <a:pt x="37910" y="0"/>
                </a:lnTo>
                <a:lnTo>
                  <a:pt x="37910" y="723900"/>
                </a:lnTo>
                <a:lnTo>
                  <a:pt x="37910" y="723900"/>
                </a:lnTo>
                <a:cubicBezTo>
                  <a:pt x="16973" y="723900"/>
                  <a:pt x="0" y="706927"/>
                  <a:pt x="0" y="685990"/>
                </a:cubicBezTo>
                <a:lnTo>
                  <a:pt x="0" y="37910"/>
                </a:lnTo>
                <a:cubicBezTo>
                  <a:pt x="0" y="16987"/>
                  <a:pt x="16987" y="0"/>
                  <a:pt x="37910" y="0"/>
                </a:cubicBezTo>
                <a:close/>
              </a:path>
            </a:pathLst>
          </a:custGeom>
          <a:solidFill>
            <a:srgbClr val="8B0000"/>
          </a:solidFill>
        </p:spPr>
      </p:sp>
      <p:sp>
        <p:nvSpPr>
          <p:cNvPr id="25" name="Text 23"/>
          <p:cNvSpPr/>
          <p:nvPr/>
        </p:nvSpPr>
        <p:spPr>
          <a:xfrm>
            <a:off x="761689" y="5181514"/>
            <a:ext cx="4924425" cy="266700"/>
          </a:xfrm>
          <a:prstGeom prst="rect">
            <a:avLst/>
          </a:prstGeom>
          <a:noFill/>
        </p:spPr>
        <p:txBody>
          <a:bodyPr wrap="square" lIns="0" tIns="0" rIns="0" bIns="0" rtlCol="0" anchor="ctr"/>
          <a:lstStyle/>
          <a:p>
            <a:pPr>
              <a:lnSpc>
                <a:spcPct val="130000"/>
              </a:lnSpc>
            </a:pPr>
            <a:r>
              <a:rPr lang="en-US" sz="1350" b="1" dirty="0">
                <a:solidFill>
                  <a:srgbClr val="000000"/>
                </a:solidFill>
                <a:latin typeface="MiSans" pitchFamily="34" charset="0"/>
                <a:ea typeface="MiSans" pitchFamily="34" charset="-122"/>
                <a:cs typeface="MiSans" pitchFamily="34" charset="-120"/>
              </a:rPr>
              <a:t>Roofline Model</a:t>
            </a:r>
            <a:endParaRPr lang="en-US" sz="1600" dirty="0"/>
          </a:p>
        </p:txBody>
      </p:sp>
      <p:sp>
        <p:nvSpPr>
          <p:cNvPr id="26" name="Text 24"/>
          <p:cNvSpPr/>
          <p:nvPr/>
        </p:nvSpPr>
        <p:spPr>
          <a:xfrm>
            <a:off x="761689" y="5448220"/>
            <a:ext cx="4914900" cy="228600"/>
          </a:xfrm>
          <a:prstGeom prst="rect">
            <a:avLst/>
          </a:prstGeom>
          <a:noFill/>
        </p:spPr>
        <p:txBody>
          <a:bodyPr wrap="square" lIns="0" tIns="0" rIns="0" bIns="0" rtlCol="0" anchor="ctr"/>
          <a:lstStyle/>
          <a:p>
            <a:pPr>
              <a:lnSpc>
                <a:spcPct val="130000"/>
              </a:lnSpc>
            </a:pPr>
            <a:r>
              <a:rPr lang="en-US" sz="1200" dirty="0">
                <a:solidFill>
                  <a:srgbClr val="4A5565"/>
                </a:solidFill>
                <a:latin typeface="MiSans" pitchFamily="34" charset="0"/>
                <a:ea typeface="MiSans" pitchFamily="34" charset="-122"/>
                <a:cs typeface="MiSans" pitchFamily="34" charset="-120"/>
              </a:rPr>
              <a:t>Performance Ceiling Model</a:t>
            </a:r>
            <a:endParaRPr lang="en-US" sz="1600" dirty="0"/>
          </a:p>
        </p:txBody>
      </p:sp>
      <p:sp>
        <p:nvSpPr>
          <p:cNvPr id="27" name="Shape 25"/>
          <p:cNvSpPr/>
          <p:nvPr/>
        </p:nvSpPr>
        <p:spPr>
          <a:xfrm>
            <a:off x="6248338" y="1066676"/>
            <a:ext cx="5562600" cy="4648200"/>
          </a:xfrm>
          <a:custGeom>
            <a:avLst/>
            <a:gdLst/>
            <a:ahLst/>
            <a:cxnLst/>
            <a:rect l="l" t="t" r="r" b="b"/>
            <a:pathLst>
              <a:path w="5562600" h="4648200">
                <a:moveTo>
                  <a:pt x="76184" y="0"/>
                </a:moveTo>
                <a:lnTo>
                  <a:pt x="5486416" y="0"/>
                </a:lnTo>
                <a:cubicBezTo>
                  <a:pt x="5528463" y="0"/>
                  <a:pt x="5562600" y="34137"/>
                  <a:pt x="5562600" y="76184"/>
                </a:cubicBezTo>
                <a:lnTo>
                  <a:pt x="5562600" y="4572016"/>
                </a:lnTo>
                <a:cubicBezTo>
                  <a:pt x="5562600" y="4614091"/>
                  <a:pt x="5528491" y="4648200"/>
                  <a:pt x="5486416" y="4648200"/>
                </a:cubicBezTo>
                <a:lnTo>
                  <a:pt x="76184" y="4648200"/>
                </a:lnTo>
                <a:cubicBezTo>
                  <a:pt x="34137" y="4648200"/>
                  <a:pt x="0" y="4614063"/>
                  <a:pt x="0" y="4572016"/>
                </a:cubicBezTo>
                <a:lnTo>
                  <a:pt x="0" y="76184"/>
                </a:lnTo>
                <a:cubicBezTo>
                  <a:pt x="0" y="34109"/>
                  <a:pt x="34109" y="0"/>
                  <a:pt x="76184" y="0"/>
                </a:cubicBezTo>
                <a:close/>
              </a:path>
            </a:pathLst>
          </a:custGeom>
          <a:solidFill>
            <a:srgbClr val="F9FAFB"/>
          </a:solidFill>
        </p:spPr>
      </p:sp>
      <p:pic>
        <p:nvPicPr>
          <p:cNvPr id="28" name="Image 0" descr="https://kimi-web-img.moonshot.cn/img/miro.medium.com/a15ef6b081afbbe850cb766edfee97f4e0fe1f9b"/>
          <p:cNvPicPr>
            <a:picLocks noChangeAspect="1"/>
          </p:cNvPicPr>
          <p:nvPr/>
        </p:nvPicPr>
        <p:blipFill>
          <a:blip r:embed="rId1"/>
          <a:srcRect t="5" b="5"/>
          <a:stretch>
            <a:fillRect/>
          </a:stretch>
        </p:blipFill>
        <p:spPr>
          <a:xfrm>
            <a:off x="6400720" y="1771351"/>
            <a:ext cx="5257800" cy="3238500"/>
          </a:xfrm>
          <a:prstGeom prst="roundRect">
            <a:avLst>
              <a:gd name="adj" fmla="val 0"/>
            </a:avLst>
          </a:prstGeom>
        </p:spPr>
      </p:pic>
      <p:sp>
        <p:nvSpPr>
          <p:cNvPr id="29" name="Text 26"/>
          <p:cNvSpPr/>
          <p:nvPr/>
        </p:nvSpPr>
        <p:spPr>
          <a:xfrm>
            <a:off x="6210238" y="5791043"/>
            <a:ext cx="5638800" cy="228600"/>
          </a:xfrm>
          <a:prstGeom prst="rect">
            <a:avLst/>
          </a:prstGeom>
          <a:noFill/>
        </p:spPr>
        <p:txBody>
          <a:bodyPr wrap="square" lIns="0" tIns="0" rIns="0" bIns="0" rtlCol="0" anchor="ctr"/>
          <a:lstStyle/>
          <a:p>
            <a:pPr algn="ctr">
              <a:lnSpc>
                <a:spcPct val="130000"/>
              </a:lnSpc>
            </a:pPr>
            <a:r>
              <a:rPr lang="en-US" sz="1200" dirty="0">
                <a:solidFill>
                  <a:srgbClr val="6A7282"/>
                </a:solidFill>
                <a:latin typeface="MiSans" pitchFamily="34" charset="0"/>
                <a:ea typeface="MiSans" pitchFamily="34" charset="-122"/>
                <a:cs typeface="MiSans" pitchFamily="34" charset="-120"/>
              </a:rPr>
              <a:t>Image source: Medium - CPU vs GPU Architecture</a:t>
            </a:r>
            <a:endParaRPr lang="en-US" sz="1600" dirty="0"/>
          </a:p>
        </p:txBody>
      </p:sp>
      <p:sp>
        <p:nvSpPr>
          <p:cNvPr id="37" name="灯片编号占位符 36"/>
          <p:cNvSpPr>
            <a:spLocks noGrp="1"/>
          </p:cNvSpPr>
          <p:nvPr>
            <p:ph type="sldNum" sz="quarter" idx="11"/>
          </p:nvPr>
        </p:nvSpPr>
        <p:spPr/>
        <p:txBody>
          <a:bodyPr/>
          <a:lstStyle/>
          <a:p>
            <a:fld id="{B33F7469-D28B-482F-B1B6-3B8E7CF51519}" type="slidenum">
              <a:rPr lang="zh-CN" altLang="en-US" smtClean="0"/>
            </a:fld>
            <a:endParaRPr lang="zh-CN" altLang="en-US"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6233" y="607604"/>
            <a:ext cx="11629571" cy="362857"/>
          </a:xfrm>
          <a:prstGeom prst="rect">
            <a:avLst/>
          </a:prstGeom>
          <a:noFill/>
        </p:spPr>
        <p:txBody>
          <a:bodyPr wrap="square" lIns="0" tIns="0" rIns="0" bIns="0" rtlCol="0" anchor="ctr"/>
          <a:lstStyle/>
          <a:p>
            <a:pPr>
              <a:lnSpc>
                <a:spcPct val="90000"/>
              </a:lnSpc>
            </a:pPr>
            <a:r>
              <a:rPr lang="en-US" sz="26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Classification of Performance Metrics</a:t>
            </a:r>
            <a:endParaRPr lang="en-US" sz="2600" dirty="0"/>
          </a:p>
        </p:txBody>
      </p:sp>
      <p:sp>
        <p:nvSpPr>
          <p:cNvPr id="3" name="Shape 1"/>
          <p:cNvSpPr/>
          <p:nvPr/>
        </p:nvSpPr>
        <p:spPr>
          <a:xfrm>
            <a:off x="371841" y="1194893"/>
            <a:ext cx="5569767" cy="4698910"/>
          </a:xfrm>
          <a:custGeom>
            <a:avLst/>
            <a:gdLst/>
            <a:ahLst/>
            <a:cxnLst/>
            <a:rect l="l" t="t" r="r" b="b"/>
            <a:pathLst>
              <a:path w="5569767" h="4698910">
                <a:moveTo>
                  <a:pt x="108874" y="0"/>
                </a:moveTo>
                <a:lnTo>
                  <a:pt x="5460893" y="0"/>
                </a:lnTo>
                <a:cubicBezTo>
                  <a:pt x="5521022" y="0"/>
                  <a:pt x="5569767" y="48744"/>
                  <a:pt x="5569767" y="108874"/>
                </a:cubicBezTo>
                <a:lnTo>
                  <a:pt x="5569767" y="4590036"/>
                </a:lnTo>
                <a:cubicBezTo>
                  <a:pt x="5569767" y="4650165"/>
                  <a:pt x="5521022" y="4698910"/>
                  <a:pt x="5460893" y="4698910"/>
                </a:cubicBezTo>
                <a:lnTo>
                  <a:pt x="108874" y="4698910"/>
                </a:lnTo>
                <a:cubicBezTo>
                  <a:pt x="48744" y="4698910"/>
                  <a:pt x="0" y="4650165"/>
                  <a:pt x="0" y="4590036"/>
                </a:cubicBezTo>
                <a:lnTo>
                  <a:pt x="0" y="108874"/>
                </a:lnTo>
                <a:cubicBezTo>
                  <a:pt x="0" y="48785"/>
                  <a:pt x="48785" y="0"/>
                  <a:pt x="108874" y="0"/>
                </a:cubicBezTo>
                <a:close/>
              </a:path>
            </a:pathLst>
          </a:custGeom>
          <a:gradFill flip="none" rotWithShape="1">
            <a:gsLst>
              <a:gs pos="0">
                <a:srgbClr val="F9FAFB"/>
              </a:gs>
              <a:gs pos="100000">
                <a:srgbClr val="FFFFFF"/>
              </a:gs>
            </a:gsLst>
            <a:lin ang="2700000" scaled="1"/>
          </a:gradFill>
          <a:ln w="25274">
            <a:solidFill>
              <a:srgbClr val="E5E7EB"/>
            </a:solidFill>
            <a:prstDash val="solid"/>
          </a:ln>
        </p:spPr>
      </p:sp>
      <p:sp>
        <p:nvSpPr>
          <p:cNvPr id="4" name="Shape 2"/>
          <p:cNvSpPr/>
          <p:nvPr/>
        </p:nvSpPr>
        <p:spPr>
          <a:xfrm>
            <a:off x="598556" y="1421608"/>
            <a:ext cx="580571" cy="580571"/>
          </a:xfrm>
          <a:custGeom>
            <a:avLst/>
            <a:gdLst/>
            <a:ahLst/>
            <a:cxnLst/>
            <a:rect l="l" t="t" r="r" b="b"/>
            <a:pathLst>
              <a:path w="580571" h="580571">
                <a:moveTo>
                  <a:pt x="108857" y="0"/>
                </a:moveTo>
                <a:lnTo>
                  <a:pt x="471714" y="0"/>
                </a:lnTo>
                <a:cubicBezTo>
                  <a:pt x="531834" y="0"/>
                  <a:pt x="580571" y="48737"/>
                  <a:pt x="580571" y="108857"/>
                </a:cubicBezTo>
                <a:lnTo>
                  <a:pt x="580571" y="471714"/>
                </a:lnTo>
                <a:cubicBezTo>
                  <a:pt x="580571" y="531834"/>
                  <a:pt x="531834" y="580571"/>
                  <a:pt x="471714" y="580571"/>
                </a:cubicBezTo>
                <a:lnTo>
                  <a:pt x="108857" y="580571"/>
                </a:lnTo>
                <a:cubicBezTo>
                  <a:pt x="48737" y="580571"/>
                  <a:pt x="0" y="531834"/>
                  <a:pt x="0" y="471714"/>
                </a:cubicBezTo>
                <a:lnTo>
                  <a:pt x="0" y="108857"/>
                </a:lnTo>
                <a:cubicBezTo>
                  <a:pt x="0" y="48777"/>
                  <a:pt x="48777" y="0"/>
                  <a:pt x="108857" y="0"/>
                </a:cubicBezTo>
                <a:close/>
              </a:path>
            </a:pathLst>
          </a:custGeom>
          <a:solidFill>
            <a:srgbClr val="8B0000"/>
          </a:solidFill>
          <a:effectLst>
            <a:outerShdw blurRad="136071" dist="90714" dir="5400000" algn="bl" rotWithShape="0">
              <a:srgbClr val="000000">
                <a:alpha val="10196"/>
              </a:srgbClr>
            </a:outerShdw>
          </a:effectLst>
        </p:spPr>
      </p:sp>
      <p:sp>
        <p:nvSpPr>
          <p:cNvPr id="5" name="Shape 3"/>
          <p:cNvSpPr/>
          <p:nvPr/>
        </p:nvSpPr>
        <p:spPr>
          <a:xfrm>
            <a:off x="755005" y="1575760"/>
            <a:ext cx="272143" cy="272143"/>
          </a:xfrm>
          <a:custGeom>
            <a:avLst/>
            <a:gdLst/>
            <a:ahLst/>
            <a:cxnLst/>
            <a:rect l="l" t="t" r="r" b="b"/>
            <a:pathLst>
              <a:path w="272143" h="272143">
                <a:moveTo>
                  <a:pt x="93549" y="12757"/>
                </a:moveTo>
                <a:cubicBezTo>
                  <a:pt x="93549" y="5687"/>
                  <a:pt x="87862" y="0"/>
                  <a:pt x="80792" y="0"/>
                </a:cubicBezTo>
                <a:cubicBezTo>
                  <a:pt x="73723" y="0"/>
                  <a:pt x="68036" y="5687"/>
                  <a:pt x="68036" y="12757"/>
                </a:cubicBezTo>
                <a:lnTo>
                  <a:pt x="68036" y="34018"/>
                </a:lnTo>
                <a:cubicBezTo>
                  <a:pt x="49273" y="34018"/>
                  <a:pt x="34018" y="49273"/>
                  <a:pt x="34018" y="68036"/>
                </a:cubicBezTo>
                <a:lnTo>
                  <a:pt x="12757" y="68036"/>
                </a:lnTo>
                <a:cubicBezTo>
                  <a:pt x="5687" y="68036"/>
                  <a:pt x="0" y="73723"/>
                  <a:pt x="0" y="80792"/>
                </a:cubicBezTo>
                <a:cubicBezTo>
                  <a:pt x="0" y="87862"/>
                  <a:pt x="5687" y="93549"/>
                  <a:pt x="12757" y="93549"/>
                </a:cubicBezTo>
                <a:lnTo>
                  <a:pt x="34018" y="93549"/>
                </a:lnTo>
                <a:lnTo>
                  <a:pt x="34018" y="123315"/>
                </a:lnTo>
                <a:lnTo>
                  <a:pt x="12757" y="123315"/>
                </a:lnTo>
                <a:cubicBezTo>
                  <a:pt x="5687" y="123315"/>
                  <a:pt x="0" y="129002"/>
                  <a:pt x="0" y="136071"/>
                </a:cubicBezTo>
                <a:cubicBezTo>
                  <a:pt x="0" y="143141"/>
                  <a:pt x="5687" y="148828"/>
                  <a:pt x="12757" y="148828"/>
                </a:cubicBezTo>
                <a:lnTo>
                  <a:pt x="34018" y="148828"/>
                </a:lnTo>
                <a:lnTo>
                  <a:pt x="34018" y="178594"/>
                </a:lnTo>
                <a:lnTo>
                  <a:pt x="12757" y="178594"/>
                </a:lnTo>
                <a:cubicBezTo>
                  <a:pt x="5687" y="178594"/>
                  <a:pt x="0" y="184281"/>
                  <a:pt x="0" y="191350"/>
                </a:cubicBezTo>
                <a:cubicBezTo>
                  <a:pt x="0" y="198420"/>
                  <a:pt x="5687" y="204107"/>
                  <a:pt x="12757" y="204107"/>
                </a:cubicBezTo>
                <a:lnTo>
                  <a:pt x="34018" y="204107"/>
                </a:lnTo>
                <a:cubicBezTo>
                  <a:pt x="34018" y="222870"/>
                  <a:pt x="49273" y="238125"/>
                  <a:pt x="68036" y="238125"/>
                </a:cubicBezTo>
                <a:lnTo>
                  <a:pt x="68036" y="259386"/>
                </a:lnTo>
                <a:cubicBezTo>
                  <a:pt x="68036" y="266455"/>
                  <a:pt x="73723" y="272143"/>
                  <a:pt x="80792" y="272143"/>
                </a:cubicBezTo>
                <a:cubicBezTo>
                  <a:pt x="87862" y="272143"/>
                  <a:pt x="93549" y="266455"/>
                  <a:pt x="93549" y="259386"/>
                </a:cubicBezTo>
                <a:lnTo>
                  <a:pt x="93549" y="238125"/>
                </a:lnTo>
                <a:lnTo>
                  <a:pt x="123315" y="238125"/>
                </a:lnTo>
                <a:lnTo>
                  <a:pt x="123315" y="259386"/>
                </a:lnTo>
                <a:cubicBezTo>
                  <a:pt x="123315" y="266455"/>
                  <a:pt x="129002" y="272143"/>
                  <a:pt x="136071" y="272143"/>
                </a:cubicBezTo>
                <a:cubicBezTo>
                  <a:pt x="143141" y="272143"/>
                  <a:pt x="148828" y="266455"/>
                  <a:pt x="148828" y="259386"/>
                </a:cubicBezTo>
                <a:lnTo>
                  <a:pt x="148828" y="238125"/>
                </a:lnTo>
                <a:lnTo>
                  <a:pt x="178594" y="238125"/>
                </a:lnTo>
                <a:lnTo>
                  <a:pt x="178594" y="259386"/>
                </a:lnTo>
                <a:cubicBezTo>
                  <a:pt x="178594" y="266455"/>
                  <a:pt x="184281" y="272143"/>
                  <a:pt x="191350" y="272143"/>
                </a:cubicBezTo>
                <a:cubicBezTo>
                  <a:pt x="198420" y="272143"/>
                  <a:pt x="204107" y="266455"/>
                  <a:pt x="204107" y="259386"/>
                </a:cubicBezTo>
                <a:lnTo>
                  <a:pt x="204107" y="238125"/>
                </a:lnTo>
                <a:cubicBezTo>
                  <a:pt x="222870" y="238125"/>
                  <a:pt x="238125" y="222870"/>
                  <a:pt x="238125" y="204107"/>
                </a:cubicBezTo>
                <a:lnTo>
                  <a:pt x="259386" y="204107"/>
                </a:lnTo>
                <a:cubicBezTo>
                  <a:pt x="266455" y="204107"/>
                  <a:pt x="272143" y="198420"/>
                  <a:pt x="272143" y="191350"/>
                </a:cubicBezTo>
                <a:cubicBezTo>
                  <a:pt x="272143" y="184281"/>
                  <a:pt x="266455" y="178594"/>
                  <a:pt x="259386" y="178594"/>
                </a:cubicBezTo>
                <a:lnTo>
                  <a:pt x="238125" y="178594"/>
                </a:lnTo>
                <a:lnTo>
                  <a:pt x="238125" y="148828"/>
                </a:lnTo>
                <a:lnTo>
                  <a:pt x="259386" y="148828"/>
                </a:lnTo>
                <a:cubicBezTo>
                  <a:pt x="266455" y="148828"/>
                  <a:pt x="272143" y="143141"/>
                  <a:pt x="272143" y="136071"/>
                </a:cubicBezTo>
                <a:cubicBezTo>
                  <a:pt x="272143" y="129002"/>
                  <a:pt x="266455" y="123315"/>
                  <a:pt x="259386" y="123315"/>
                </a:cubicBezTo>
                <a:lnTo>
                  <a:pt x="238125" y="123315"/>
                </a:lnTo>
                <a:lnTo>
                  <a:pt x="238125" y="93549"/>
                </a:lnTo>
                <a:lnTo>
                  <a:pt x="259386" y="93549"/>
                </a:lnTo>
                <a:cubicBezTo>
                  <a:pt x="266455" y="93549"/>
                  <a:pt x="272143" y="87862"/>
                  <a:pt x="272143" y="80792"/>
                </a:cubicBezTo>
                <a:cubicBezTo>
                  <a:pt x="272143" y="73723"/>
                  <a:pt x="266455" y="68036"/>
                  <a:pt x="259386" y="68036"/>
                </a:cubicBezTo>
                <a:lnTo>
                  <a:pt x="238125" y="68036"/>
                </a:lnTo>
                <a:cubicBezTo>
                  <a:pt x="238125" y="49273"/>
                  <a:pt x="222870" y="34018"/>
                  <a:pt x="204107" y="34018"/>
                </a:cubicBezTo>
                <a:lnTo>
                  <a:pt x="204107" y="12757"/>
                </a:lnTo>
                <a:cubicBezTo>
                  <a:pt x="204107" y="5687"/>
                  <a:pt x="198420" y="0"/>
                  <a:pt x="191350" y="0"/>
                </a:cubicBezTo>
                <a:cubicBezTo>
                  <a:pt x="184281" y="0"/>
                  <a:pt x="178594" y="5687"/>
                  <a:pt x="178594" y="12757"/>
                </a:cubicBezTo>
                <a:lnTo>
                  <a:pt x="178594" y="34018"/>
                </a:lnTo>
                <a:lnTo>
                  <a:pt x="148828" y="34018"/>
                </a:lnTo>
                <a:lnTo>
                  <a:pt x="148828" y="12757"/>
                </a:lnTo>
                <a:cubicBezTo>
                  <a:pt x="148828" y="5687"/>
                  <a:pt x="143141" y="0"/>
                  <a:pt x="136071" y="0"/>
                </a:cubicBezTo>
                <a:cubicBezTo>
                  <a:pt x="129002" y="0"/>
                  <a:pt x="123315" y="5687"/>
                  <a:pt x="123315" y="12757"/>
                </a:cubicBezTo>
                <a:lnTo>
                  <a:pt x="123315" y="34018"/>
                </a:lnTo>
                <a:lnTo>
                  <a:pt x="93549" y="34018"/>
                </a:lnTo>
                <a:lnTo>
                  <a:pt x="93549" y="12757"/>
                </a:lnTo>
                <a:close/>
                <a:moveTo>
                  <a:pt x="85045" y="68036"/>
                </a:moveTo>
                <a:lnTo>
                  <a:pt x="187098" y="68036"/>
                </a:lnTo>
                <a:cubicBezTo>
                  <a:pt x="196506" y="68036"/>
                  <a:pt x="204107" y="75637"/>
                  <a:pt x="204107" y="85045"/>
                </a:cubicBezTo>
                <a:lnTo>
                  <a:pt x="204107" y="187098"/>
                </a:lnTo>
                <a:cubicBezTo>
                  <a:pt x="204107" y="196506"/>
                  <a:pt x="196506" y="204107"/>
                  <a:pt x="187098" y="204107"/>
                </a:cubicBezTo>
                <a:lnTo>
                  <a:pt x="85045" y="204107"/>
                </a:lnTo>
                <a:cubicBezTo>
                  <a:pt x="75637" y="204107"/>
                  <a:pt x="68036" y="196506"/>
                  <a:pt x="68036" y="187098"/>
                </a:cubicBezTo>
                <a:lnTo>
                  <a:pt x="68036" y="85045"/>
                </a:lnTo>
                <a:cubicBezTo>
                  <a:pt x="68036" y="75637"/>
                  <a:pt x="75637" y="68036"/>
                  <a:pt x="85045" y="68036"/>
                </a:cubicBezTo>
                <a:close/>
                <a:moveTo>
                  <a:pt x="93549" y="93549"/>
                </a:moveTo>
                <a:lnTo>
                  <a:pt x="93549" y="178594"/>
                </a:lnTo>
                <a:lnTo>
                  <a:pt x="178594" y="178594"/>
                </a:lnTo>
                <a:lnTo>
                  <a:pt x="178594" y="93549"/>
                </a:lnTo>
                <a:lnTo>
                  <a:pt x="93549" y="93549"/>
                </a:lnTo>
                <a:close/>
              </a:path>
            </a:pathLst>
          </a:custGeom>
          <a:solidFill>
            <a:srgbClr val="FFFFFF"/>
          </a:solidFill>
        </p:spPr>
      </p:sp>
      <p:sp>
        <p:nvSpPr>
          <p:cNvPr id="6" name="Text 4"/>
          <p:cNvSpPr/>
          <p:nvPr/>
        </p:nvSpPr>
        <p:spPr>
          <a:xfrm>
            <a:off x="1324186" y="1439731"/>
            <a:ext cx="2292383" cy="290286"/>
          </a:xfrm>
          <a:prstGeom prst="rect">
            <a:avLst/>
          </a:prstGeom>
          <a:noFill/>
        </p:spPr>
        <p:txBody>
          <a:bodyPr wrap="square" lIns="0" tIns="0" rIns="0" bIns="0" rtlCol="0" anchor="ctr"/>
          <a:lstStyle/>
          <a:p>
            <a:pPr>
              <a:lnSpc>
                <a:spcPct val="110000"/>
              </a:lnSpc>
            </a:pPr>
            <a:r>
              <a:rPr lang="en-US" sz="1715"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Compute Capacity</a:t>
            </a:r>
            <a:endParaRPr lang="en-US" sz="1600" dirty="0"/>
          </a:p>
        </p:txBody>
      </p:sp>
      <p:sp>
        <p:nvSpPr>
          <p:cNvPr id="7" name="Text 5"/>
          <p:cNvSpPr/>
          <p:nvPr/>
        </p:nvSpPr>
        <p:spPr>
          <a:xfrm>
            <a:off x="1324186" y="1729912"/>
            <a:ext cx="1578429" cy="254000"/>
          </a:xfrm>
          <a:prstGeom prst="rect">
            <a:avLst/>
          </a:prstGeom>
          <a:noFill/>
        </p:spPr>
        <p:txBody>
          <a:bodyPr wrap="square" lIns="0" tIns="0" rIns="0" bIns="0" rtlCol="0" anchor="ctr"/>
          <a:lstStyle/>
          <a:p>
            <a:pPr>
              <a:lnSpc>
                <a:spcPct val="120000"/>
              </a:lnSpc>
            </a:pPr>
            <a:r>
              <a:rPr lang="en-US" sz="143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Compute Bound</a:t>
            </a:r>
            <a:endParaRPr lang="en-US" sz="1600" dirty="0"/>
          </a:p>
        </p:txBody>
      </p:sp>
      <p:sp>
        <p:nvSpPr>
          <p:cNvPr id="8" name="Shape 6"/>
          <p:cNvSpPr/>
          <p:nvPr/>
        </p:nvSpPr>
        <p:spPr>
          <a:xfrm>
            <a:off x="616609" y="2505681"/>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8"/>
                  <a:pt x="0" y="1252038"/>
                </a:cubicBezTo>
                <a:lnTo>
                  <a:pt x="0" y="36105"/>
                </a:lnTo>
                <a:cubicBezTo>
                  <a:pt x="0" y="16165"/>
                  <a:pt x="16165" y="0"/>
                  <a:pt x="36105" y="0"/>
                </a:cubicBezTo>
                <a:close/>
              </a:path>
            </a:pathLst>
          </a:custGeom>
          <a:solidFill>
            <a:srgbClr val="FFFFFF"/>
          </a:solidFill>
          <a:effectLst>
            <a:outerShdw blurRad="27214" dist="9071" dir="5400000" algn="bl" rotWithShape="0">
              <a:srgbClr val="000000">
                <a:alpha val="10196"/>
              </a:srgbClr>
            </a:outerShdw>
          </a:effectLst>
        </p:spPr>
      </p:sp>
      <p:sp>
        <p:nvSpPr>
          <p:cNvPr id="9" name="Shape 7"/>
          <p:cNvSpPr/>
          <p:nvPr/>
        </p:nvSpPr>
        <p:spPr>
          <a:xfrm>
            <a:off x="616609" y="2505681"/>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8"/>
                  <a:pt x="0" y="1252038"/>
                </a:cubicBezTo>
                <a:lnTo>
                  <a:pt x="0" y="36105"/>
                </a:lnTo>
                <a:cubicBezTo>
                  <a:pt x="0" y="16165"/>
                  <a:pt x="16165" y="0"/>
                  <a:pt x="36105" y="0"/>
                </a:cubicBezTo>
                <a:close/>
              </a:path>
            </a:pathLst>
          </a:custGeom>
          <a:solidFill>
            <a:srgbClr val="8B0000"/>
          </a:solidFill>
        </p:spPr>
      </p:sp>
      <p:sp>
        <p:nvSpPr>
          <p:cNvPr id="10" name="Shape 8"/>
          <p:cNvSpPr/>
          <p:nvPr/>
        </p:nvSpPr>
        <p:spPr>
          <a:xfrm>
            <a:off x="897708" y="2759615"/>
            <a:ext cx="136071" cy="181429"/>
          </a:xfrm>
          <a:custGeom>
            <a:avLst/>
            <a:gdLst/>
            <a:ahLst/>
            <a:cxnLst/>
            <a:rect l="l" t="t" r="r" b="b"/>
            <a:pathLst>
              <a:path w="136071" h="181429">
                <a:moveTo>
                  <a:pt x="22679" y="0"/>
                </a:moveTo>
                <a:cubicBezTo>
                  <a:pt x="10170" y="0"/>
                  <a:pt x="0" y="10170"/>
                  <a:pt x="0" y="22679"/>
                </a:cubicBezTo>
                <a:lnTo>
                  <a:pt x="0" y="158750"/>
                </a:lnTo>
                <a:cubicBezTo>
                  <a:pt x="0" y="171259"/>
                  <a:pt x="10170" y="181429"/>
                  <a:pt x="22679" y="181429"/>
                </a:cubicBezTo>
                <a:lnTo>
                  <a:pt x="113393" y="181429"/>
                </a:lnTo>
                <a:cubicBezTo>
                  <a:pt x="125902" y="181429"/>
                  <a:pt x="136071" y="171259"/>
                  <a:pt x="136071" y="158750"/>
                </a:cubicBezTo>
                <a:lnTo>
                  <a:pt x="136071" y="22679"/>
                </a:lnTo>
                <a:cubicBezTo>
                  <a:pt x="136071" y="10170"/>
                  <a:pt x="125902" y="0"/>
                  <a:pt x="113393" y="0"/>
                </a:cubicBezTo>
                <a:lnTo>
                  <a:pt x="22679" y="0"/>
                </a:lnTo>
                <a:close/>
                <a:moveTo>
                  <a:pt x="34018" y="22679"/>
                </a:moveTo>
                <a:lnTo>
                  <a:pt x="102054" y="22679"/>
                </a:lnTo>
                <a:cubicBezTo>
                  <a:pt x="108326" y="22679"/>
                  <a:pt x="113393" y="27746"/>
                  <a:pt x="113393" y="34018"/>
                </a:cubicBezTo>
                <a:lnTo>
                  <a:pt x="113393" y="45357"/>
                </a:lnTo>
                <a:cubicBezTo>
                  <a:pt x="113393" y="51629"/>
                  <a:pt x="108326" y="56696"/>
                  <a:pt x="102054" y="56696"/>
                </a:cubicBezTo>
                <a:lnTo>
                  <a:pt x="34018" y="56696"/>
                </a:lnTo>
                <a:cubicBezTo>
                  <a:pt x="27746" y="56696"/>
                  <a:pt x="22679" y="51629"/>
                  <a:pt x="22679" y="45357"/>
                </a:cubicBezTo>
                <a:lnTo>
                  <a:pt x="22679" y="34018"/>
                </a:lnTo>
                <a:cubicBezTo>
                  <a:pt x="22679" y="27746"/>
                  <a:pt x="27746" y="22679"/>
                  <a:pt x="34018" y="22679"/>
                </a:cubicBezTo>
                <a:close/>
                <a:moveTo>
                  <a:pt x="39688" y="82210"/>
                </a:moveTo>
                <a:cubicBezTo>
                  <a:pt x="39688" y="86904"/>
                  <a:pt x="35877" y="90714"/>
                  <a:pt x="31183" y="90714"/>
                </a:cubicBezTo>
                <a:cubicBezTo>
                  <a:pt x="26489" y="90714"/>
                  <a:pt x="22679" y="86904"/>
                  <a:pt x="22679" y="82210"/>
                </a:cubicBezTo>
                <a:cubicBezTo>
                  <a:pt x="22679" y="77516"/>
                  <a:pt x="26489" y="73705"/>
                  <a:pt x="31183" y="73705"/>
                </a:cubicBezTo>
                <a:cubicBezTo>
                  <a:pt x="35877" y="73705"/>
                  <a:pt x="39688" y="77516"/>
                  <a:pt x="39688" y="82210"/>
                </a:cubicBezTo>
                <a:close/>
                <a:moveTo>
                  <a:pt x="68036" y="90714"/>
                </a:moveTo>
                <a:cubicBezTo>
                  <a:pt x="63342" y="90714"/>
                  <a:pt x="59531" y="86904"/>
                  <a:pt x="59531" y="82210"/>
                </a:cubicBezTo>
                <a:cubicBezTo>
                  <a:pt x="59531" y="77516"/>
                  <a:pt x="63342" y="73705"/>
                  <a:pt x="68036" y="73705"/>
                </a:cubicBezTo>
                <a:cubicBezTo>
                  <a:pt x="72729" y="73705"/>
                  <a:pt x="76540" y="77516"/>
                  <a:pt x="76540" y="82210"/>
                </a:cubicBezTo>
                <a:cubicBezTo>
                  <a:pt x="76540" y="86904"/>
                  <a:pt x="72729" y="90714"/>
                  <a:pt x="68036" y="90714"/>
                </a:cubicBezTo>
                <a:close/>
                <a:moveTo>
                  <a:pt x="113393" y="82210"/>
                </a:moveTo>
                <a:cubicBezTo>
                  <a:pt x="113393" y="86904"/>
                  <a:pt x="109582" y="90714"/>
                  <a:pt x="104888" y="90714"/>
                </a:cubicBezTo>
                <a:cubicBezTo>
                  <a:pt x="100195" y="90714"/>
                  <a:pt x="96384" y="86904"/>
                  <a:pt x="96384" y="82210"/>
                </a:cubicBezTo>
                <a:cubicBezTo>
                  <a:pt x="96384" y="77516"/>
                  <a:pt x="100195" y="73705"/>
                  <a:pt x="104888" y="73705"/>
                </a:cubicBezTo>
                <a:cubicBezTo>
                  <a:pt x="109582" y="73705"/>
                  <a:pt x="113393" y="77516"/>
                  <a:pt x="113393" y="82210"/>
                </a:cubicBezTo>
                <a:close/>
                <a:moveTo>
                  <a:pt x="31183" y="124732"/>
                </a:moveTo>
                <a:cubicBezTo>
                  <a:pt x="26489" y="124732"/>
                  <a:pt x="22679" y="120921"/>
                  <a:pt x="22679" y="116228"/>
                </a:cubicBezTo>
                <a:cubicBezTo>
                  <a:pt x="22679" y="111534"/>
                  <a:pt x="26489" y="107723"/>
                  <a:pt x="31183" y="107723"/>
                </a:cubicBezTo>
                <a:cubicBezTo>
                  <a:pt x="35877" y="107723"/>
                  <a:pt x="39688" y="111534"/>
                  <a:pt x="39688" y="116228"/>
                </a:cubicBezTo>
                <a:cubicBezTo>
                  <a:pt x="39688" y="120921"/>
                  <a:pt x="35877" y="124732"/>
                  <a:pt x="31183" y="124732"/>
                </a:cubicBezTo>
                <a:close/>
                <a:moveTo>
                  <a:pt x="76540" y="116228"/>
                </a:moveTo>
                <a:cubicBezTo>
                  <a:pt x="76540" y="120921"/>
                  <a:pt x="72729" y="124732"/>
                  <a:pt x="68036" y="124732"/>
                </a:cubicBezTo>
                <a:cubicBezTo>
                  <a:pt x="63342" y="124732"/>
                  <a:pt x="59531" y="120921"/>
                  <a:pt x="59531" y="116228"/>
                </a:cubicBezTo>
                <a:cubicBezTo>
                  <a:pt x="59531" y="111534"/>
                  <a:pt x="63342" y="107723"/>
                  <a:pt x="68036" y="107723"/>
                </a:cubicBezTo>
                <a:cubicBezTo>
                  <a:pt x="72729" y="107723"/>
                  <a:pt x="76540" y="111534"/>
                  <a:pt x="76540" y="116228"/>
                </a:cubicBezTo>
                <a:close/>
                <a:moveTo>
                  <a:pt x="104888" y="124732"/>
                </a:moveTo>
                <a:cubicBezTo>
                  <a:pt x="100195" y="124732"/>
                  <a:pt x="96384" y="120921"/>
                  <a:pt x="96384" y="116228"/>
                </a:cubicBezTo>
                <a:cubicBezTo>
                  <a:pt x="96384" y="111534"/>
                  <a:pt x="100195" y="107723"/>
                  <a:pt x="104888" y="107723"/>
                </a:cubicBezTo>
                <a:cubicBezTo>
                  <a:pt x="109582" y="107723"/>
                  <a:pt x="113393" y="111534"/>
                  <a:pt x="113393" y="116228"/>
                </a:cubicBezTo>
                <a:cubicBezTo>
                  <a:pt x="113393" y="120921"/>
                  <a:pt x="109582" y="124732"/>
                  <a:pt x="104888" y="124732"/>
                </a:cubicBezTo>
                <a:close/>
                <a:moveTo>
                  <a:pt x="22679" y="150246"/>
                </a:moveTo>
                <a:cubicBezTo>
                  <a:pt x="22679" y="145533"/>
                  <a:pt x="26470" y="141741"/>
                  <a:pt x="31183" y="141741"/>
                </a:cubicBezTo>
                <a:lnTo>
                  <a:pt x="70871" y="141741"/>
                </a:lnTo>
                <a:cubicBezTo>
                  <a:pt x="75583" y="141741"/>
                  <a:pt x="79375" y="145533"/>
                  <a:pt x="79375" y="150246"/>
                </a:cubicBezTo>
                <a:cubicBezTo>
                  <a:pt x="79375" y="154958"/>
                  <a:pt x="75583" y="158750"/>
                  <a:pt x="70871" y="158750"/>
                </a:cubicBezTo>
                <a:lnTo>
                  <a:pt x="31183" y="158750"/>
                </a:lnTo>
                <a:cubicBezTo>
                  <a:pt x="26470" y="158750"/>
                  <a:pt x="22679" y="154958"/>
                  <a:pt x="22679" y="150246"/>
                </a:cubicBezTo>
                <a:close/>
                <a:moveTo>
                  <a:pt x="104888" y="141741"/>
                </a:moveTo>
                <a:cubicBezTo>
                  <a:pt x="109601" y="141741"/>
                  <a:pt x="113393" y="145533"/>
                  <a:pt x="113393" y="150246"/>
                </a:cubicBezTo>
                <a:cubicBezTo>
                  <a:pt x="113393" y="154958"/>
                  <a:pt x="109601" y="158750"/>
                  <a:pt x="104888" y="158750"/>
                </a:cubicBezTo>
                <a:cubicBezTo>
                  <a:pt x="100176" y="158750"/>
                  <a:pt x="96384" y="154958"/>
                  <a:pt x="96384" y="150246"/>
                </a:cubicBezTo>
                <a:cubicBezTo>
                  <a:pt x="96384" y="145533"/>
                  <a:pt x="100176" y="141741"/>
                  <a:pt x="104888" y="141741"/>
                </a:cubicBezTo>
                <a:close/>
              </a:path>
            </a:pathLst>
          </a:custGeom>
          <a:solidFill>
            <a:srgbClr val="8B0000"/>
          </a:solidFill>
        </p:spPr>
      </p:sp>
      <p:sp>
        <p:nvSpPr>
          <p:cNvPr id="11" name="Text 9"/>
          <p:cNvSpPr/>
          <p:nvPr/>
        </p:nvSpPr>
        <p:spPr>
          <a:xfrm>
            <a:off x="1187945" y="2723370"/>
            <a:ext cx="671286" cy="254000"/>
          </a:xfrm>
          <a:prstGeom prst="rect">
            <a:avLst/>
          </a:prstGeom>
          <a:noFill/>
        </p:spPr>
        <p:txBody>
          <a:bodyPr wrap="square" lIns="0" tIns="0" rIns="0" bIns="0" rtlCol="0" anchor="ctr"/>
          <a:lstStyle/>
          <a:p>
            <a:pPr>
              <a:lnSpc>
                <a:spcPct val="120000"/>
              </a:lnSpc>
            </a:pPr>
            <a:r>
              <a:rPr lang="en-US" sz="143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FLOPS</a:t>
            </a:r>
            <a:endParaRPr lang="en-US" sz="1600" dirty="0"/>
          </a:p>
        </p:txBody>
      </p:sp>
      <p:sp>
        <p:nvSpPr>
          <p:cNvPr id="12" name="Text 10"/>
          <p:cNvSpPr/>
          <p:nvPr/>
        </p:nvSpPr>
        <p:spPr>
          <a:xfrm>
            <a:off x="852350" y="3049938"/>
            <a:ext cx="4726214" cy="535214"/>
          </a:xfrm>
          <a:prstGeom prst="rect">
            <a:avLst/>
          </a:prstGeom>
          <a:noFill/>
        </p:spPr>
        <p:txBody>
          <a:bodyPr wrap="square" lIns="0" tIns="0" rIns="0" bIns="0" rtlCol="0" anchor="ctr"/>
          <a:lstStyle/>
          <a:p>
            <a:pPr>
              <a:lnSpc>
                <a:spcPct val="140000"/>
              </a:lnSpc>
            </a:pPr>
            <a:r>
              <a:rPr lang="en-US" sz="1285" dirty="0">
                <a:solidFill>
                  <a:srgbClr val="364153"/>
                </a:solidFill>
                <a:latin typeface="MiSans" pitchFamily="34" charset="0"/>
                <a:ea typeface="MiSans" pitchFamily="34" charset="-122"/>
                <a:cs typeface="MiSans" pitchFamily="34" charset="-120"/>
              </a:rPr>
              <a:t>Measures the number of floating-point operations a processor can execute per second — the core metric for compute-intensive task performance.</a:t>
            </a:r>
            <a:endParaRPr lang="en-US" sz="1600" dirty="0"/>
          </a:p>
        </p:txBody>
      </p:sp>
      <p:sp>
        <p:nvSpPr>
          <p:cNvPr id="13" name="Shape 11"/>
          <p:cNvSpPr/>
          <p:nvPr/>
        </p:nvSpPr>
        <p:spPr>
          <a:xfrm>
            <a:off x="616609" y="4088597"/>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8"/>
                  <a:pt x="0" y="1252038"/>
                </a:cubicBezTo>
                <a:lnTo>
                  <a:pt x="0" y="36105"/>
                </a:lnTo>
                <a:cubicBezTo>
                  <a:pt x="0" y="16165"/>
                  <a:pt x="16165" y="0"/>
                  <a:pt x="36105" y="0"/>
                </a:cubicBezTo>
                <a:close/>
              </a:path>
            </a:pathLst>
          </a:custGeom>
          <a:solidFill>
            <a:srgbClr val="FFFFFF"/>
          </a:solidFill>
          <a:effectLst>
            <a:outerShdw blurRad="27214" dist="9071" dir="5400000" algn="bl" rotWithShape="0">
              <a:srgbClr val="000000">
                <a:alpha val="10196"/>
              </a:srgbClr>
            </a:outerShdw>
          </a:effectLst>
        </p:spPr>
      </p:sp>
      <p:sp>
        <p:nvSpPr>
          <p:cNvPr id="14" name="Shape 12"/>
          <p:cNvSpPr/>
          <p:nvPr/>
        </p:nvSpPr>
        <p:spPr>
          <a:xfrm>
            <a:off x="616609" y="4088597"/>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8"/>
                  <a:pt x="0" y="1252038"/>
                </a:cubicBezTo>
                <a:lnTo>
                  <a:pt x="0" y="36105"/>
                </a:lnTo>
                <a:cubicBezTo>
                  <a:pt x="0" y="16165"/>
                  <a:pt x="16165" y="0"/>
                  <a:pt x="36105" y="0"/>
                </a:cubicBezTo>
                <a:close/>
              </a:path>
            </a:pathLst>
          </a:custGeom>
          <a:solidFill>
            <a:srgbClr val="8B0000"/>
          </a:solidFill>
        </p:spPr>
      </p:sp>
      <p:sp>
        <p:nvSpPr>
          <p:cNvPr id="15" name="Shape 13"/>
          <p:cNvSpPr/>
          <p:nvPr/>
        </p:nvSpPr>
        <p:spPr>
          <a:xfrm>
            <a:off x="875029" y="4342532"/>
            <a:ext cx="181429" cy="181429"/>
          </a:xfrm>
          <a:custGeom>
            <a:avLst/>
            <a:gdLst/>
            <a:ahLst/>
            <a:cxnLst/>
            <a:rect l="l" t="t" r="r" b="b"/>
            <a:pathLst>
              <a:path w="181429" h="181429">
                <a:moveTo>
                  <a:pt x="22679" y="22679"/>
                </a:moveTo>
                <a:cubicBezTo>
                  <a:pt x="22679" y="16407"/>
                  <a:pt x="17611" y="11339"/>
                  <a:pt x="11339" y="11339"/>
                </a:cubicBezTo>
                <a:cubicBezTo>
                  <a:pt x="5067" y="11339"/>
                  <a:pt x="0" y="16407"/>
                  <a:pt x="0" y="22679"/>
                </a:cubicBezTo>
                <a:lnTo>
                  <a:pt x="0" y="141741"/>
                </a:lnTo>
                <a:cubicBezTo>
                  <a:pt x="0" y="157403"/>
                  <a:pt x="12686" y="170089"/>
                  <a:pt x="28348" y="170089"/>
                </a:cubicBezTo>
                <a:lnTo>
                  <a:pt x="170089" y="170089"/>
                </a:lnTo>
                <a:cubicBezTo>
                  <a:pt x="176361" y="170089"/>
                  <a:pt x="181429" y="165022"/>
                  <a:pt x="181429" y="158750"/>
                </a:cubicBezTo>
                <a:cubicBezTo>
                  <a:pt x="181429" y="152478"/>
                  <a:pt x="176361" y="147411"/>
                  <a:pt x="170089" y="147411"/>
                </a:cubicBezTo>
                <a:lnTo>
                  <a:pt x="28348" y="147411"/>
                </a:lnTo>
                <a:cubicBezTo>
                  <a:pt x="25230" y="147411"/>
                  <a:pt x="22679" y="144859"/>
                  <a:pt x="22679" y="141741"/>
                </a:cubicBezTo>
                <a:lnTo>
                  <a:pt x="22679" y="22679"/>
                </a:lnTo>
                <a:close/>
                <a:moveTo>
                  <a:pt x="166758" y="53366"/>
                </a:moveTo>
                <a:cubicBezTo>
                  <a:pt x="171188" y="48936"/>
                  <a:pt x="171188" y="41743"/>
                  <a:pt x="166758" y="37313"/>
                </a:cubicBezTo>
                <a:cubicBezTo>
                  <a:pt x="162329" y="32884"/>
                  <a:pt x="155136" y="32884"/>
                  <a:pt x="150706" y="37313"/>
                </a:cubicBezTo>
                <a:lnTo>
                  <a:pt x="113393" y="74662"/>
                </a:lnTo>
                <a:lnTo>
                  <a:pt x="93053" y="54358"/>
                </a:lnTo>
                <a:cubicBezTo>
                  <a:pt x="88624" y="49928"/>
                  <a:pt x="81430" y="49928"/>
                  <a:pt x="77001" y="54358"/>
                </a:cubicBezTo>
                <a:lnTo>
                  <a:pt x="42983" y="88376"/>
                </a:lnTo>
                <a:cubicBezTo>
                  <a:pt x="38554" y="92805"/>
                  <a:pt x="38554" y="99998"/>
                  <a:pt x="42983" y="104428"/>
                </a:cubicBezTo>
                <a:cubicBezTo>
                  <a:pt x="47412" y="108857"/>
                  <a:pt x="54606" y="108857"/>
                  <a:pt x="59035" y="104428"/>
                </a:cubicBezTo>
                <a:lnTo>
                  <a:pt x="85045" y="78418"/>
                </a:lnTo>
                <a:lnTo>
                  <a:pt x="105384" y="98758"/>
                </a:lnTo>
                <a:cubicBezTo>
                  <a:pt x="109814" y="103188"/>
                  <a:pt x="117007" y="103188"/>
                  <a:pt x="121437" y="98758"/>
                </a:cubicBezTo>
                <a:lnTo>
                  <a:pt x="166794" y="53401"/>
                </a:lnTo>
                <a:close/>
              </a:path>
            </a:pathLst>
          </a:custGeom>
          <a:solidFill>
            <a:srgbClr val="8B0000"/>
          </a:solidFill>
        </p:spPr>
      </p:sp>
      <p:sp>
        <p:nvSpPr>
          <p:cNvPr id="16" name="Text 14"/>
          <p:cNvSpPr/>
          <p:nvPr/>
        </p:nvSpPr>
        <p:spPr>
          <a:xfrm>
            <a:off x="1187945" y="4306286"/>
            <a:ext cx="1034143" cy="254000"/>
          </a:xfrm>
          <a:prstGeom prst="rect">
            <a:avLst/>
          </a:prstGeom>
          <a:noFill/>
        </p:spPr>
        <p:txBody>
          <a:bodyPr wrap="square" lIns="0" tIns="0" rIns="0" bIns="0" rtlCol="0" anchor="ctr"/>
          <a:lstStyle/>
          <a:p>
            <a:pPr>
              <a:lnSpc>
                <a:spcPct val="120000"/>
              </a:lnSpc>
            </a:pPr>
            <a:r>
              <a:rPr lang="en-US" sz="143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Utilization</a:t>
            </a:r>
            <a:endParaRPr lang="en-US" sz="1600" dirty="0"/>
          </a:p>
        </p:txBody>
      </p:sp>
      <p:sp>
        <p:nvSpPr>
          <p:cNvPr id="17" name="Text 15"/>
          <p:cNvSpPr/>
          <p:nvPr/>
        </p:nvSpPr>
        <p:spPr>
          <a:xfrm>
            <a:off x="852350" y="4632854"/>
            <a:ext cx="4726214" cy="535214"/>
          </a:xfrm>
          <a:prstGeom prst="rect">
            <a:avLst/>
          </a:prstGeom>
          <a:noFill/>
        </p:spPr>
        <p:txBody>
          <a:bodyPr wrap="square" lIns="0" tIns="0" rIns="0" bIns="0" rtlCol="0" anchor="ctr"/>
          <a:lstStyle/>
          <a:p>
            <a:pPr>
              <a:lnSpc>
                <a:spcPct val="140000"/>
              </a:lnSpc>
            </a:pPr>
            <a:r>
              <a:rPr lang="en-US" sz="1285" dirty="0">
                <a:solidFill>
                  <a:srgbClr val="364153"/>
                </a:solidFill>
                <a:latin typeface="MiSans" pitchFamily="34" charset="0"/>
                <a:ea typeface="MiSans" pitchFamily="34" charset="-122"/>
                <a:cs typeface="MiSans" pitchFamily="34" charset="-120"/>
              </a:rPr>
              <a:t>Reflects the actual usage efficiency of hardware resources, helping identify whether compute units are fully utilized.</a:t>
            </a:r>
            <a:endParaRPr lang="en-US" sz="1600" dirty="0"/>
          </a:p>
        </p:txBody>
      </p:sp>
      <p:sp>
        <p:nvSpPr>
          <p:cNvPr id="18" name="Shape 16"/>
          <p:cNvSpPr/>
          <p:nvPr/>
        </p:nvSpPr>
        <p:spPr>
          <a:xfrm>
            <a:off x="6250146" y="1194893"/>
            <a:ext cx="5569767" cy="4698910"/>
          </a:xfrm>
          <a:custGeom>
            <a:avLst/>
            <a:gdLst/>
            <a:ahLst/>
            <a:cxnLst/>
            <a:rect l="l" t="t" r="r" b="b"/>
            <a:pathLst>
              <a:path w="5569767" h="4698910">
                <a:moveTo>
                  <a:pt x="108874" y="0"/>
                </a:moveTo>
                <a:lnTo>
                  <a:pt x="5460893" y="0"/>
                </a:lnTo>
                <a:cubicBezTo>
                  <a:pt x="5521022" y="0"/>
                  <a:pt x="5569767" y="48744"/>
                  <a:pt x="5569767" y="108874"/>
                </a:cubicBezTo>
                <a:lnTo>
                  <a:pt x="5569767" y="4590036"/>
                </a:lnTo>
                <a:cubicBezTo>
                  <a:pt x="5569767" y="4650165"/>
                  <a:pt x="5521022" y="4698910"/>
                  <a:pt x="5460893" y="4698910"/>
                </a:cubicBezTo>
                <a:lnTo>
                  <a:pt x="108874" y="4698910"/>
                </a:lnTo>
                <a:cubicBezTo>
                  <a:pt x="48744" y="4698910"/>
                  <a:pt x="0" y="4650165"/>
                  <a:pt x="0" y="4590036"/>
                </a:cubicBezTo>
                <a:lnTo>
                  <a:pt x="0" y="108874"/>
                </a:lnTo>
                <a:cubicBezTo>
                  <a:pt x="0" y="48785"/>
                  <a:pt x="48785" y="0"/>
                  <a:pt x="108874" y="0"/>
                </a:cubicBezTo>
                <a:close/>
              </a:path>
            </a:pathLst>
          </a:custGeom>
          <a:gradFill flip="none" rotWithShape="1">
            <a:gsLst>
              <a:gs pos="0">
                <a:srgbClr val="F9FAFB"/>
              </a:gs>
              <a:gs pos="100000">
                <a:srgbClr val="FFFFFF"/>
              </a:gs>
            </a:gsLst>
            <a:lin ang="2700000" scaled="1"/>
          </a:gradFill>
          <a:ln w="25274">
            <a:solidFill>
              <a:srgbClr val="E5E7EB"/>
            </a:solidFill>
            <a:prstDash val="solid"/>
          </a:ln>
        </p:spPr>
      </p:sp>
      <p:sp>
        <p:nvSpPr>
          <p:cNvPr id="19" name="Shape 17"/>
          <p:cNvSpPr/>
          <p:nvPr/>
        </p:nvSpPr>
        <p:spPr>
          <a:xfrm>
            <a:off x="6476862" y="1421608"/>
            <a:ext cx="580571" cy="580571"/>
          </a:xfrm>
          <a:custGeom>
            <a:avLst/>
            <a:gdLst/>
            <a:ahLst/>
            <a:cxnLst/>
            <a:rect l="l" t="t" r="r" b="b"/>
            <a:pathLst>
              <a:path w="580571" h="580571">
                <a:moveTo>
                  <a:pt x="108857" y="0"/>
                </a:moveTo>
                <a:lnTo>
                  <a:pt x="471714" y="0"/>
                </a:lnTo>
                <a:cubicBezTo>
                  <a:pt x="531834" y="0"/>
                  <a:pt x="580571" y="48737"/>
                  <a:pt x="580571" y="108857"/>
                </a:cubicBezTo>
                <a:lnTo>
                  <a:pt x="580571" y="471714"/>
                </a:lnTo>
                <a:cubicBezTo>
                  <a:pt x="580571" y="531834"/>
                  <a:pt x="531834" y="580571"/>
                  <a:pt x="471714" y="580571"/>
                </a:cubicBezTo>
                <a:lnTo>
                  <a:pt x="108857" y="580571"/>
                </a:lnTo>
                <a:cubicBezTo>
                  <a:pt x="48737" y="580571"/>
                  <a:pt x="0" y="531834"/>
                  <a:pt x="0" y="471714"/>
                </a:cubicBezTo>
                <a:lnTo>
                  <a:pt x="0" y="108857"/>
                </a:lnTo>
                <a:cubicBezTo>
                  <a:pt x="0" y="48777"/>
                  <a:pt x="48777" y="0"/>
                  <a:pt x="108857" y="0"/>
                </a:cubicBezTo>
                <a:close/>
              </a:path>
            </a:pathLst>
          </a:custGeom>
          <a:solidFill>
            <a:srgbClr val="8B0000"/>
          </a:solidFill>
          <a:effectLst>
            <a:outerShdw blurRad="136071" dist="90714" dir="5400000" algn="bl" rotWithShape="0">
              <a:srgbClr val="000000">
                <a:alpha val="10196"/>
              </a:srgbClr>
            </a:outerShdw>
          </a:effectLst>
        </p:spPr>
      </p:sp>
      <p:sp>
        <p:nvSpPr>
          <p:cNvPr id="20" name="Shape 18"/>
          <p:cNvSpPr/>
          <p:nvPr/>
        </p:nvSpPr>
        <p:spPr>
          <a:xfrm>
            <a:off x="6650319" y="1575760"/>
            <a:ext cx="238125" cy="272143"/>
          </a:xfrm>
          <a:custGeom>
            <a:avLst/>
            <a:gdLst/>
            <a:ahLst/>
            <a:cxnLst/>
            <a:rect l="l" t="t" r="r" b="b"/>
            <a:pathLst>
              <a:path w="238125" h="272143">
                <a:moveTo>
                  <a:pt x="238125" y="109389"/>
                </a:moveTo>
                <a:cubicBezTo>
                  <a:pt x="230258" y="114598"/>
                  <a:pt x="221222" y="118797"/>
                  <a:pt x="211814" y="122145"/>
                </a:cubicBezTo>
                <a:cubicBezTo>
                  <a:pt x="186832" y="131075"/>
                  <a:pt x="154037" y="136071"/>
                  <a:pt x="119062" y="136071"/>
                </a:cubicBezTo>
                <a:cubicBezTo>
                  <a:pt x="84088" y="136071"/>
                  <a:pt x="51239" y="131022"/>
                  <a:pt x="26311" y="122145"/>
                </a:cubicBezTo>
                <a:cubicBezTo>
                  <a:pt x="16956" y="118797"/>
                  <a:pt x="7867" y="114598"/>
                  <a:pt x="0" y="109389"/>
                </a:cubicBezTo>
                <a:lnTo>
                  <a:pt x="0" y="153080"/>
                </a:lnTo>
                <a:cubicBezTo>
                  <a:pt x="0" y="176574"/>
                  <a:pt x="53312" y="195603"/>
                  <a:pt x="119062" y="195603"/>
                </a:cubicBezTo>
                <a:cubicBezTo>
                  <a:pt x="184813" y="195603"/>
                  <a:pt x="238125" y="176574"/>
                  <a:pt x="238125" y="153080"/>
                </a:cubicBezTo>
                <a:lnTo>
                  <a:pt x="238125" y="109389"/>
                </a:lnTo>
                <a:close/>
                <a:moveTo>
                  <a:pt x="238125" y="68036"/>
                </a:moveTo>
                <a:lnTo>
                  <a:pt x="238125" y="42522"/>
                </a:lnTo>
                <a:cubicBezTo>
                  <a:pt x="238125" y="19029"/>
                  <a:pt x="184813" y="0"/>
                  <a:pt x="119062" y="0"/>
                </a:cubicBezTo>
                <a:cubicBezTo>
                  <a:pt x="53312" y="0"/>
                  <a:pt x="0" y="19029"/>
                  <a:pt x="0" y="42522"/>
                </a:cubicBezTo>
                <a:lnTo>
                  <a:pt x="0" y="68036"/>
                </a:lnTo>
                <a:cubicBezTo>
                  <a:pt x="0" y="91529"/>
                  <a:pt x="53312" y="110558"/>
                  <a:pt x="119062" y="110558"/>
                </a:cubicBezTo>
                <a:cubicBezTo>
                  <a:pt x="184813" y="110558"/>
                  <a:pt x="238125" y="91529"/>
                  <a:pt x="238125" y="68036"/>
                </a:cubicBezTo>
                <a:close/>
                <a:moveTo>
                  <a:pt x="211814" y="207190"/>
                </a:moveTo>
                <a:cubicBezTo>
                  <a:pt x="186886" y="216067"/>
                  <a:pt x="154090" y="221116"/>
                  <a:pt x="119062" y="221116"/>
                </a:cubicBezTo>
                <a:cubicBezTo>
                  <a:pt x="84035" y="221116"/>
                  <a:pt x="51239" y="216067"/>
                  <a:pt x="26311" y="207190"/>
                </a:cubicBezTo>
                <a:cubicBezTo>
                  <a:pt x="16956" y="203841"/>
                  <a:pt x="7867" y="199642"/>
                  <a:pt x="0" y="194433"/>
                </a:cubicBezTo>
                <a:lnTo>
                  <a:pt x="0" y="229621"/>
                </a:lnTo>
                <a:cubicBezTo>
                  <a:pt x="0" y="253114"/>
                  <a:pt x="53312" y="272143"/>
                  <a:pt x="119062" y="272143"/>
                </a:cubicBezTo>
                <a:cubicBezTo>
                  <a:pt x="184813" y="272143"/>
                  <a:pt x="238125" y="253114"/>
                  <a:pt x="238125" y="229621"/>
                </a:cubicBezTo>
                <a:lnTo>
                  <a:pt x="238125" y="194433"/>
                </a:lnTo>
                <a:cubicBezTo>
                  <a:pt x="230258" y="199642"/>
                  <a:pt x="221222" y="203841"/>
                  <a:pt x="211814" y="207190"/>
                </a:cubicBezTo>
                <a:close/>
              </a:path>
            </a:pathLst>
          </a:custGeom>
          <a:solidFill>
            <a:srgbClr val="FFFFFF"/>
          </a:solidFill>
        </p:spPr>
      </p:sp>
      <p:sp>
        <p:nvSpPr>
          <p:cNvPr id="21" name="Text 19"/>
          <p:cNvSpPr/>
          <p:nvPr/>
        </p:nvSpPr>
        <p:spPr>
          <a:xfrm>
            <a:off x="7202491" y="1439731"/>
            <a:ext cx="2545247" cy="290286"/>
          </a:xfrm>
          <a:prstGeom prst="rect">
            <a:avLst/>
          </a:prstGeom>
          <a:noFill/>
        </p:spPr>
        <p:txBody>
          <a:bodyPr wrap="square" lIns="0" tIns="0" rIns="0" bIns="0" rtlCol="0" anchor="ctr"/>
          <a:lstStyle/>
          <a:p>
            <a:pPr>
              <a:lnSpc>
                <a:spcPct val="110000"/>
              </a:lnSpc>
            </a:pPr>
            <a:r>
              <a:rPr lang="en-US" sz="1715"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Data Access Capability</a:t>
            </a:r>
            <a:endParaRPr lang="en-US" sz="1600" dirty="0"/>
          </a:p>
        </p:txBody>
      </p:sp>
      <p:sp>
        <p:nvSpPr>
          <p:cNvPr id="22" name="Text 20"/>
          <p:cNvSpPr/>
          <p:nvPr/>
        </p:nvSpPr>
        <p:spPr>
          <a:xfrm>
            <a:off x="7202491" y="1729912"/>
            <a:ext cx="1514929" cy="254000"/>
          </a:xfrm>
          <a:prstGeom prst="rect">
            <a:avLst/>
          </a:prstGeom>
          <a:noFill/>
        </p:spPr>
        <p:txBody>
          <a:bodyPr wrap="square" lIns="0" tIns="0" rIns="0" bIns="0" rtlCol="0" anchor="ctr"/>
          <a:lstStyle/>
          <a:p>
            <a:pPr>
              <a:lnSpc>
                <a:spcPct val="120000"/>
              </a:lnSpc>
            </a:pPr>
            <a:r>
              <a:rPr lang="en-US" sz="143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Memory Bound</a:t>
            </a:r>
            <a:endParaRPr lang="en-US" sz="1600" dirty="0"/>
          </a:p>
        </p:txBody>
      </p:sp>
      <p:sp>
        <p:nvSpPr>
          <p:cNvPr id="23" name="Shape 21"/>
          <p:cNvSpPr/>
          <p:nvPr/>
        </p:nvSpPr>
        <p:spPr>
          <a:xfrm>
            <a:off x="6494914" y="2505681"/>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8"/>
                  <a:pt x="0" y="1252038"/>
                </a:cubicBezTo>
                <a:lnTo>
                  <a:pt x="0" y="36105"/>
                </a:lnTo>
                <a:cubicBezTo>
                  <a:pt x="0" y="16165"/>
                  <a:pt x="16165" y="0"/>
                  <a:pt x="36105" y="0"/>
                </a:cubicBezTo>
                <a:close/>
              </a:path>
            </a:pathLst>
          </a:custGeom>
          <a:solidFill>
            <a:srgbClr val="FFFFFF"/>
          </a:solidFill>
          <a:effectLst>
            <a:outerShdw blurRad="27214" dist="9071" dir="5400000" algn="bl" rotWithShape="0">
              <a:srgbClr val="000000">
                <a:alpha val="10196"/>
              </a:srgbClr>
            </a:outerShdw>
          </a:effectLst>
        </p:spPr>
      </p:sp>
      <p:sp>
        <p:nvSpPr>
          <p:cNvPr id="24" name="Shape 22"/>
          <p:cNvSpPr/>
          <p:nvPr/>
        </p:nvSpPr>
        <p:spPr>
          <a:xfrm>
            <a:off x="6494914" y="2505681"/>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8"/>
                  <a:pt x="0" y="1252038"/>
                </a:cubicBezTo>
                <a:lnTo>
                  <a:pt x="0" y="36105"/>
                </a:lnTo>
                <a:cubicBezTo>
                  <a:pt x="0" y="16165"/>
                  <a:pt x="16165" y="0"/>
                  <a:pt x="36105" y="0"/>
                </a:cubicBezTo>
                <a:close/>
              </a:path>
            </a:pathLst>
          </a:custGeom>
          <a:solidFill>
            <a:srgbClr val="8B0000"/>
          </a:solidFill>
        </p:spPr>
      </p:sp>
      <p:sp>
        <p:nvSpPr>
          <p:cNvPr id="25" name="Shape 23"/>
          <p:cNvSpPr/>
          <p:nvPr/>
        </p:nvSpPr>
        <p:spPr>
          <a:xfrm>
            <a:off x="6753334" y="2759615"/>
            <a:ext cx="181429" cy="181429"/>
          </a:xfrm>
          <a:custGeom>
            <a:avLst/>
            <a:gdLst/>
            <a:ahLst/>
            <a:cxnLst/>
            <a:rect l="l" t="t" r="r" b="b"/>
            <a:pathLst>
              <a:path w="181429" h="181429">
                <a:moveTo>
                  <a:pt x="0" y="90714"/>
                </a:moveTo>
                <a:cubicBezTo>
                  <a:pt x="0" y="40648"/>
                  <a:pt x="40648" y="0"/>
                  <a:pt x="90714" y="0"/>
                </a:cubicBezTo>
                <a:cubicBezTo>
                  <a:pt x="140781" y="0"/>
                  <a:pt x="181429" y="40648"/>
                  <a:pt x="181429" y="90714"/>
                </a:cubicBezTo>
                <a:cubicBezTo>
                  <a:pt x="181429" y="140781"/>
                  <a:pt x="140781" y="181429"/>
                  <a:pt x="90714" y="181429"/>
                </a:cubicBezTo>
                <a:cubicBezTo>
                  <a:pt x="40648" y="181429"/>
                  <a:pt x="0" y="140781"/>
                  <a:pt x="0" y="90714"/>
                </a:cubicBezTo>
                <a:close/>
                <a:moveTo>
                  <a:pt x="102054" y="34018"/>
                </a:moveTo>
                <a:cubicBezTo>
                  <a:pt x="102054" y="27760"/>
                  <a:pt x="96973" y="22679"/>
                  <a:pt x="90714" y="22679"/>
                </a:cubicBezTo>
                <a:cubicBezTo>
                  <a:pt x="84456" y="22679"/>
                  <a:pt x="79375" y="27760"/>
                  <a:pt x="79375" y="34018"/>
                </a:cubicBezTo>
                <a:cubicBezTo>
                  <a:pt x="79375" y="40276"/>
                  <a:pt x="84456" y="45357"/>
                  <a:pt x="90714" y="45357"/>
                </a:cubicBezTo>
                <a:cubicBezTo>
                  <a:pt x="96973" y="45357"/>
                  <a:pt x="102054" y="40276"/>
                  <a:pt x="102054" y="34018"/>
                </a:cubicBezTo>
                <a:close/>
                <a:moveTo>
                  <a:pt x="90714" y="147411"/>
                </a:moveTo>
                <a:cubicBezTo>
                  <a:pt x="103223" y="147411"/>
                  <a:pt x="113393" y="137241"/>
                  <a:pt x="113393" y="124732"/>
                </a:cubicBezTo>
                <a:cubicBezTo>
                  <a:pt x="113393" y="118992"/>
                  <a:pt x="111267" y="113712"/>
                  <a:pt x="107723" y="109743"/>
                </a:cubicBezTo>
                <a:lnTo>
                  <a:pt x="132351" y="60523"/>
                </a:lnTo>
                <a:cubicBezTo>
                  <a:pt x="134441" y="56307"/>
                  <a:pt x="132741" y="51204"/>
                  <a:pt x="128559" y="49113"/>
                </a:cubicBezTo>
                <a:cubicBezTo>
                  <a:pt x="124378" y="47023"/>
                  <a:pt x="119240" y="48723"/>
                  <a:pt x="117149" y="52905"/>
                </a:cubicBezTo>
                <a:lnTo>
                  <a:pt x="92521" y="102124"/>
                </a:lnTo>
                <a:cubicBezTo>
                  <a:pt x="91919" y="102089"/>
                  <a:pt x="91317" y="102054"/>
                  <a:pt x="90714" y="102054"/>
                </a:cubicBezTo>
                <a:cubicBezTo>
                  <a:pt x="78206" y="102054"/>
                  <a:pt x="68036" y="112223"/>
                  <a:pt x="68036" y="124732"/>
                </a:cubicBezTo>
                <a:cubicBezTo>
                  <a:pt x="68036" y="137241"/>
                  <a:pt x="78206" y="147411"/>
                  <a:pt x="90714" y="147411"/>
                </a:cubicBezTo>
                <a:close/>
                <a:moveTo>
                  <a:pt x="62366" y="51027"/>
                </a:moveTo>
                <a:cubicBezTo>
                  <a:pt x="62366" y="44768"/>
                  <a:pt x="57285" y="39688"/>
                  <a:pt x="51027" y="39688"/>
                </a:cubicBezTo>
                <a:cubicBezTo>
                  <a:pt x="44768" y="39688"/>
                  <a:pt x="39688" y="44768"/>
                  <a:pt x="39688" y="51027"/>
                </a:cubicBezTo>
                <a:cubicBezTo>
                  <a:pt x="39688" y="57285"/>
                  <a:pt x="44768" y="62366"/>
                  <a:pt x="51027" y="62366"/>
                </a:cubicBezTo>
                <a:cubicBezTo>
                  <a:pt x="57285" y="62366"/>
                  <a:pt x="62366" y="57285"/>
                  <a:pt x="62366" y="51027"/>
                </a:cubicBezTo>
                <a:close/>
                <a:moveTo>
                  <a:pt x="34018" y="102054"/>
                </a:moveTo>
                <a:cubicBezTo>
                  <a:pt x="40276" y="102054"/>
                  <a:pt x="45357" y="96973"/>
                  <a:pt x="45357" y="90714"/>
                </a:cubicBezTo>
                <a:cubicBezTo>
                  <a:pt x="45357" y="84456"/>
                  <a:pt x="40276" y="79375"/>
                  <a:pt x="34018" y="79375"/>
                </a:cubicBezTo>
                <a:cubicBezTo>
                  <a:pt x="27760" y="79375"/>
                  <a:pt x="22679" y="84456"/>
                  <a:pt x="22679" y="90714"/>
                </a:cubicBezTo>
                <a:cubicBezTo>
                  <a:pt x="22679" y="96973"/>
                  <a:pt x="27760" y="102054"/>
                  <a:pt x="34018" y="102054"/>
                </a:cubicBezTo>
                <a:close/>
                <a:moveTo>
                  <a:pt x="158750" y="90714"/>
                </a:moveTo>
                <a:cubicBezTo>
                  <a:pt x="158750" y="84456"/>
                  <a:pt x="153669" y="79375"/>
                  <a:pt x="147411" y="79375"/>
                </a:cubicBezTo>
                <a:cubicBezTo>
                  <a:pt x="141152" y="79375"/>
                  <a:pt x="136071" y="84456"/>
                  <a:pt x="136071" y="90714"/>
                </a:cubicBezTo>
                <a:cubicBezTo>
                  <a:pt x="136071" y="96973"/>
                  <a:pt x="141152" y="102054"/>
                  <a:pt x="147411" y="102054"/>
                </a:cubicBezTo>
                <a:cubicBezTo>
                  <a:pt x="153669" y="102054"/>
                  <a:pt x="158750" y="96973"/>
                  <a:pt x="158750" y="90714"/>
                </a:cubicBezTo>
                <a:close/>
              </a:path>
            </a:pathLst>
          </a:custGeom>
          <a:solidFill>
            <a:srgbClr val="8B0000"/>
          </a:solidFill>
        </p:spPr>
      </p:sp>
      <p:sp>
        <p:nvSpPr>
          <p:cNvPr id="26" name="Text 24"/>
          <p:cNvSpPr/>
          <p:nvPr/>
        </p:nvSpPr>
        <p:spPr>
          <a:xfrm>
            <a:off x="7066251" y="2723370"/>
            <a:ext cx="1079500" cy="254000"/>
          </a:xfrm>
          <a:prstGeom prst="rect">
            <a:avLst/>
          </a:prstGeom>
          <a:noFill/>
        </p:spPr>
        <p:txBody>
          <a:bodyPr wrap="square" lIns="0" tIns="0" rIns="0" bIns="0" rtlCol="0" anchor="ctr"/>
          <a:lstStyle/>
          <a:p>
            <a:pPr>
              <a:lnSpc>
                <a:spcPct val="120000"/>
              </a:lnSpc>
            </a:pPr>
            <a:r>
              <a:rPr lang="en-US" sz="143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Bandwidth</a:t>
            </a:r>
            <a:endParaRPr lang="en-US" sz="1600" dirty="0"/>
          </a:p>
        </p:txBody>
      </p:sp>
      <p:sp>
        <p:nvSpPr>
          <p:cNvPr id="27" name="Text 25"/>
          <p:cNvSpPr/>
          <p:nvPr/>
        </p:nvSpPr>
        <p:spPr>
          <a:xfrm>
            <a:off x="6730656" y="3049938"/>
            <a:ext cx="4726214" cy="535214"/>
          </a:xfrm>
          <a:prstGeom prst="rect">
            <a:avLst/>
          </a:prstGeom>
          <a:noFill/>
        </p:spPr>
        <p:txBody>
          <a:bodyPr wrap="square" lIns="0" tIns="0" rIns="0" bIns="0" rtlCol="0" anchor="ctr"/>
          <a:lstStyle/>
          <a:p>
            <a:pPr>
              <a:lnSpc>
                <a:spcPct val="140000"/>
              </a:lnSpc>
            </a:pPr>
            <a:r>
              <a:rPr lang="en-US" sz="1285" dirty="0">
                <a:solidFill>
                  <a:srgbClr val="364153"/>
                </a:solidFill>
                <a:latin typeface="MiSans" pitchFamily="34" charset="0"/>
                <a:ea typeface="MiSans" pitchFamily="34" charset="-122"/>
                <a:cs typeface="MiSans" pitchFamily="34" charset="-120"/>
              </a:rPr>
              <a:t>Represents the amount of data transferable per unit time, determining throughput capacity for data-intensive applications.</a:t>
            </a:r>
            <a:endParaRPr lang="en-US" sz="1600" dirty="0"/>
          </a:p>
        </p:txBody>
      </p:sp>
      <p:sp>
        <p:nvSpPr>
          <p:cNvPr id="28" name="Shape 26"/>
          <p:cNvSpPr/>
          <p:nvPr/>
        </p:nvSpPr>
        <p:spPr>
          <a:xfrm>
            <a:off x="6494914" y="4088597"/>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8"/>
                  <a:pt x="0" y="1252038"/>
                </a:cubicBezTo>
                <a:lnTo>
                  <a:pt x="0" y="36105"/>
                </a:lnTo>
                <a:cubicBezTo>
                  <a:pt x="0" y="16165"/>
                  <a:pt x="16165" y="0"/>
                  <a:pt x="36105" y="0"/>
                </a:cubicBezTo>
                <a:close/>
              </a:path>
            </a:pathLst>
          </a:custGeom>
          <a:solidFill>
            <a:srgbClr val="FFFFFF"/>
          </a:solidFill>
          <a:effectLst>
            <a:outerShdw blurRad="27214" dist="9071" dir="5400000" algn="bl" rotWithShape="0">
              <a:srgbClr val="000000">
                <a:alpha val="10196"/>
              </a:srgbClr>
            </a:outerShdw>
          </a:effectLst>
        </p:spPr>
      </p:sp>
      <p:sp>
        <p:nvSpPr>
          <p:cNvPr id="29" name="Shape 27"/>
          <p:cNvSpPr/>
          <p:nvPr/>
        </p:nvSpPr>
        <p:spPr>
          <a:xfrm>
            <a:off x="6494914" y="4088597"/>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8"/>
                  <a:pt x="0" y="1252038"/>
                </a:cubicBezTo>
                <a:lnTo>
                  <a:pt x="0" y="36105"/>
                </a:lnTo>
                <a:cubicBezTo>
                  <a:pt x="0" y="16165"/>
                  <a:pt x="16165" y="0"/>
                  <a:pt x="36105" y="0"/>
                </a:cubicBezTo>
                <a:close/>
              </a:path>
            </a:pathLst>
          </a:custGeom>
          <a:solidFill>
            <a:srgbClr val="8B0000"/>
          </a:solidFill>
        </p:spPr>
      </p:sp>
      <p:sp>
        <p:nvSpPr>
          <p:cNvPr id="30" name="Shape 28"/>
          <p:cNvSpPr/>
          <p:nvPr/>
        </p:nvSpPr>
        <p:spPr>
          <a:xfrm>
            <a:off x="6753334" y="4342532"/>
            <a:ext cx="181429" cy="181429"/>
          </a:xfrm>
          <a:custGeom>
            <a:avLst/>
            <a:gdLst/>
            <a:ahLst/>
            <a:cxnLst/>
            <a:rect l="l" t="t" r="r" b="b"/>
            <a:pathLst>
              <a:path w="181429" h="181429">
                <a:moveTo>
                  <a:pt x="90714" y="0"/>
                </a:moveTo>
                <a:cubicBezTo>
                  <a:pt x="140781" y="0"/>
                  <a:pt x="181429" y="40648"/>
                  <a:pt x="181429" y="90714"/>
                </a:cubicBezTo>
                <a:cubicBezTo>
                  <a:pt x="181429" y="140781"/>
                  <a:pt x="140781" y="181429"/>
                  <a:pt x="90714" y="181429"/>
                </a:cubicBezTo>
                <a:cubicBezTo>
                  <a:pt x="40648" y="181429"/>
                  <a:pt x="0" y="140781"/>
                  <a:pt x="0" y="90714"/>
                </a:cubicBezTo>
                <a:cubicBezTo>
                  <a:pt x="0" y="40648"/>
                  <a:pt x="40648" y="0"/>
                  <a:pt x="90714" y="0"/>
                </a:cubicBezTo>
                <a:close/>
                <a:moveTo>
                  <a:pt x="82210" y="42522"/>
                </a:moveTo>
                <a:lnTo>
                  <a:pt x="82210" y="90714"/>
                </a:lnTo>
                <a:cubicBezTo>
                  <a:pt x="82210" y="93549"/>
                  <a:pt x="83627" y="96207"/>
                  <a:pt x="86001" y="97801"/>
                </a:cubicBezTo>
                <a:lnTo>
                  <a:pt x="120019" y="120480"/>
                </a:lnTo>
                <a:cubicBezTo>
                  <a:pt x="123917" y="123102"/>
                  <a:pt x="129197" y="122039"/>
                  <a:pt x="131819" y="118106"/>
                </a:cubicBezTo>
                <a:cubicBezTo>
                  <a:pt x="134441" y="114172"/>
                  <a:pt x="133378" y="108928"/>
                  <a:pt x="129445" y="106306"/>
                </a:cubicBezTo>
                <a:lnTo>
                  <a:pt x="99219" y="86179"/>
                </a:lnTo>
                <a:lnTo>
                  <a:pt x="99219" y="42522"/>
                </a:lnTo>
                <a:cubicBezTo>
                  <a:pt x="99219" y="37809"/>
                  <a:pt x="95427" y="34018"/>
                  <a:pt x="90714" y="34018"/>
                </a:cubicBezTo>
                <a:cubicBezTo>
                  <a:pt x="86001" y="34018"/>
                  <a:pt x="82210" y="37809"/>
                  <a:pt x="82210" y="42522"/>
                </a:cubicBezTo>
                <a:close/>
              </a:path>
            </a:pathLst>
          </a:custGeom>
          <a:solidFill>
            <a:srgbClr val="8B0000"/>
          </a:solidFill>
        </p:spPr>
      </p:sp>
      <p:sp>
        <p:nvSpPr>
          <p:cNvPr id="31" name="Text 29"/>
          <p:cNvSpPr/>
          <p:nvPr/>
        </p:nvSpPr>
        <p:spPr>
          <a:xfrm>
            <a:off x="7066251" y="4306286"/>
            <a:ext cx="789214" cy="254000"/>
          </a:xfrm>
          <a:prstGeom prst="rect">
            <a:avLst/>
          </a:prstGeom>
          <a:noFill/>
        </p:spPr>
        <p:txBody>
          <a:bodyPr wrap="square" lIns="0" tIns="0" rIns="0" bIns="0" rtlCol="0" anchor="ctr"/>
          <a:lstStyle/>
          <a:p>
            <a:pPr>
              <a:lnSpc>
                <a:spcPct val="120000"/>
              </a:lnSpc>
            </a:pPr>
            <a:r>
              <a:rPr lang="en-US" sz="143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Latency</a:t>
            </a:r>
            <a:endParaRPr lang="en-US" sz="1600" dirty="0"/>
          </a:p>
        </p:txBody>
      </p:sp>
      <p:sp>
        <p:nvSpPr>
          <p:cNvPr id="32" name="Text 30"/>
          <p:cNvSpPr/>
          <p:nvPr/>
        </p:nvSpPr>
        <p:spPr>
          <a:xfrm>
            <a:off x="6730656" y="4632854"/>
            <a:ext cx="4726214" cy="535214"/>
          </a:xfrm>
          <a:prstGeom prst="rect">
            <a:avLst/>
          </a:prstGeom>
          <a:noFill/>
        </p:spPr>
        <p:txBody>
          <a:bodyPr wrap="square" lIns="0" tIns="0" rIns="0" bIns="0" rtlCol="0" anchor="ctr"/>
          <a:lstStyle/>
          <a:p>
            <a:pPr>
              <a:lnSpc>
                <a:spcPct val="140000"/>
              </a:lnSpc>
            </a:pPr>
            <a:r>
              <a:rPr lang="en-US" sz="1285" dirty="0">
                <a:solidFill>
                  <a:srgbClr val="364153"/>
                </a:solidFill>
                <a:latin typeface="MiSans" pitchFamily="34" charset="0"/>
                <a:ea typeface="MiSans" pitchFamily="34" charset="-122"/>
                <a:cs typeface="MiSans" pitchFamily="34" charset="-120"/>
              </a:rPr>
              <a:t>Represents the time required to complete one data access, directly affecting program responsiveness and real-time performance.</a:t>
            </a:r>
            <a:endParaRPr lang="en-US" sz="1600" dirty="0"/>
          </a:p>
        </p:txBody>
      </p:sp>
      <p:sp>
        <p:nvSpPr>
          <p:cNvPr id="33" name="Shape 31"/>
          <p:cNvSpPr/>
          <p:nvPr/>
        </p:nvSpPr>
        <p:spPr>
          <a:xfrm>
            <a:off x="380867" y="5950657"/>
            <a:ext cx="11448053" cy="544286"/>
          </a:xfrm>
          <a:custGeom>
            <a:avLst/>
            <a:gdLst/>
            <a:ahLst/>
            <a:cxnLst/>
            <a:rect l="l" t="t" r="r" b="b"/>
            <a:pathLst>
              <a:path w="11448053" h="544286">
                <a:moveTo>
                  <a:pt x="36105" y="0"/>
                </a:moveTo>
                <a:lnTo>
                  <a:pt x="11375483" y="0"/>
                </a:lnTo>
                <a:cubicBezTo>
                  <a:pt x="11415562" y="0"/>
                  <a:pt x="11448053" y="32491"/>
                  <a:pt x="11448053" y="72570"/>
                </a:cubicBezTo>
                <a:lnTo>
                  <a:pt x="11448053" y="471716"/>
                </a:lnTo>
                <a:cubicBezTo>
                  <a:pt x="11448053" y="511795"/>
                  <a:pt x="11415562" y="544286"/>
                  <a:pt x="11375483" y="544286"/>
                </a:cubicBezTo>
                <a:lnTo>
                  <a:pt x="36105" y="544286"/>
                </a:lnTo>
                <a:cubicBezTo>
                  <a:pt x="16165" y="544286"/>
                  <a:pt x="0" y="528121"/>
                  <a:pt x="0" y="508181"/>
                </a:cubicBezTo>
                <a:lnTo>
                  <a:pt x="0" y="36105"/>
                </a:lnTo>
                <a:cubicBezTo>
                  <a:pt x="0" y="16165"/>
                  <a:pt x="16165" y="0"/>
                  <a:pt x="36105" y="0"/>
                </a:cubicBezTo>
                <a:close/>
              </a:path>
            </a:pathLst>
          </a:custGeom>
          <a:solidFill>
            <a:srgbClr val="8B0000">
              <a:alpha val="10196"/>
            </a:srgbClr>
          </a:solidFill>
        </p:spPr>
      </p:sp>
      <p:sp>
        <p:nvSpPr>
          <p:cNvPr id="34" name="Shape 32"/>
          <p:cNvSpPr/>
          <p:nvPr/>
        </p:nvSpPr>
        <p:spPr>
          <a:xfrm>
            <a:off x="380867" y="5950657"/>
            <a:ext cx="36105" cy="544286"/>
          </a:xfrm>
          <a:custGeom>
            <a:avLst/>
            <a:gdLst/>
            <a:ahLst/>
            <a:cxnLst/>
            <a:rect l="l" t="t" r="r" b="b"/>
            <a:pathLst>
              <a:path w="36105" h="544286">
                <a:moveTo>
                  <a:pt x="36105" y="0"/>
                </a:moveTo>
                <a:lnTo>
                  <a:pt x="36105" y="0"/>
                </a:lnTo>
                <a:lnTo>
                  <a:pt x="36105" y="544286"/>
                </a:lnTo>
                <a:lnTo>
                  <a:pt x="36105" y="544286"/>
                </a:lnTo>
                <a:cubicBezTo>
                  <a:pt x="16165" y="544286"/>
                  <a:pt x="0" y="528121"/>
                  <a:pt x="0" y="508181"/>
                </a:cubicBezTo>
                <a:lnTo>
                  <a:pt x="0" y="36105"/>
                </a:lnTo>
                <a:cubicBezTo>
                  <a:pt x="0" y="16165"/>
                  <a:pt x="16165" y="0"/>
                  <a:pt x="36105" y="0"/>
                </a:cubicBezTo>
                <a:close/>
              </a:path>
            </a:pathLst>
          </a:custGeom>
          <a:solidFill>
            <a:srgbClr val="8B0000"/>
          </a:solidFill>
        </p:spPr>
      </p:sp>
      <p:sp>
        <p:nvSpPr>
          <p:cNvPr id="35" name="Text 33"/>
          <p:cNvSpPr/>
          <p:nvPr/>
        </p:nvSpPr>
        <p:spPr>
          <a:xfrm>
            <a:off x="544046" y="6095783"/>
            <a:ext cx="11221357" cy="254000"/>
          </a:xfrm>
          <a:prstGeom prst="rect">
            <a:avLst/>
          </a:prstGeom>
          <a:noFill/>
        </p:spPr>
        <p:txBody>
          <a:bodyPr wrap="square" lIns="0" tIns="0" rIns="0" bIns="0" rtlCol="0" anchor="ctr"/>
          <a:lstStyle/>
          <a:p>
            <a:pPr>
              <a:lnSpc>
                <a:spcPct val="130000"/>
              </a:lnSpc>
            </a:pPr>
            <a:r>
              <a:rPr lang="en-US" sz="1285" b="1" dirty="0">
                <a:solidFill>
                  <a:srgbClr val="000000"/>
                </a:solidFill>
                <a:latin typeface="MiSans" pitchFamily="34" charset="0"/>
                <a:ea typeface="MiSans" pitchFamily="34" charset="-122"/>
                <a:cs typeface="MiSans" pitchFamily="34" charset="-120"/>
              </a:rPr>
              <a:t>Roofline Model</a:t>
            </a:r>
            <a:r>
              <a:rPr lang="en-US" sz="1285" dirty="0">
                <a:solidFill>
                  <a:srgbClr val="000000"/>
                </a:solidFill>
                <a:latin typeface="MiSans" pitchFamily="34" charset="0"/>
                <a:ea typeface="MiSans" pitchFamily="34" charset="-122"/>
                <a:cs typeface="MiSans" pitchFamily="34" charset="-120"/>
              </a:rPr>
              <a:t> used to analyze both bottleneck types, helping determine whether a program is compute-bound or memory-bound</a:t>
            </a:r>
            <a:endParaRPr lang="en-US" sz="1600" dirty="0"/>
          </a:p>
        </p:txBody>
      </p:sp>
      <p:sp>
        <p:nvSpPr>
          <p:cNvPr id="36" name="灯片编号占位符 35"/>
          <p:cNvSpPr>
            <a:spLocks noGrp="1"/>
          </p:cNvSpPr>
          <p:nvPr>
            <p:ph type="sldNum" sz="quarter" idx="11"/>
          </p:nvPr>
        </p:nvSpPr>
        <p:spPr/>
        <p:txBody>
          <a:bodyPr/>
          <a:lstStyle/>
          <a:p>
            <a:fld id="{B33F7469-D28B-482F-B1B6-3B8E7CF51519}" type="slidenum">
              <a:rPr lang="zh-CN" altLang="en-US" smtClean="0"/>
            </a:fld>
            <a:endParaRPr lang="zh-CN" altLang="en-US"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6213" y="599243"/>
            <a:ext cx="11601450" cy="381000"/>
          </a:xfrm>
          <a:prstGeom prst="rect">
            <a:avLst/>
          </a:prstGeom>
          <a:noFill/>
        </p:spPr>
        <p:txBody>
          <a:bodyPr wrap="square" lIns="0" tIns="0" rIns="0" bIns="0" rtlCol="0" anchor="ctr"/>
          <a:lstStyle/>
          <a:p>
            <a:pPr>
              <a:lnSpc>
                <a:spcPct val="90000"/>
              </a:lnSpc>
            </a:pPr>
            <a:r>
              <a:rPr lang="en-US" sz="26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What is FLOPS ?</a:t>
            </a:r>
            <a:endParaRPr lang="en-US" sz="2600" dirty="0"/>
          </a:p>
        </p:txBody>
      </p:sp>
      <p:sp>
        <p:nvSpPr>
          <p:cNvPr id="3" name="Text 1"/>
          <p:cNvSpPr/>
          <p:nvPr/>
        </p:nvSpPr>
        <p:spPr>
          <a:xfrm>
            <a:off x="380956" y="2113077"/>
            <a:ext cx="5676900" cy="304800"/>
          </a:xfrm>
          <a:prstGeom prst="rect">
            <a:avLst/>
          </a:prstGeom>
          <a:noFill/>
        </p:spPr>
        <p:txBody>
          <a:bodyPr wrap="square" lIns="0" tIns="0" rIns="0" bIns="0" rtlCol="0" anchor="ctr"/>
          <a:lstStyle/>
          <a:p>
            <a:pPr>
              <a:lnSpc>
                <a:spcPct val="110000"/>
              </a:lnSpc>
            </a:pPr>
            <a:r>
              <a:rPr lang="en-US" sz="18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Assumed CPU Specs</a:t>
            </a:r>
            <a:endParaRPr lang="en-US" sz="1600" dirty="0"/>
          </a:p>
        </p:txBody>
      </p:sp>
      <p:sp>
        <p:nvSpPr>
          <p:cNvPr id="4" name="Shape 2"/>
          <p:cNvSpPr/>
          <p:nvPr/>
        </p:nvSpPr>
        <p:spPr>
          <a:xfrm>
            <a:off x="419100" y="2687320"/>
            <a:ext cx="2465070" cy="876300"/>
          </a:xfrm>
          <a:custGeom>
            <a:avLst/>
            <a:gdLst/>
            <a:ahLst/>
            <a:cxnLst/>
            <a:rect l="l" t="t" r="r" b="b"/>
            <a:pathLst>
              <a:path w="5562600" h="876300">
                <a:moveTo>
                  <a:pt x="76203" y="0"/>
                </a:moveTo>
                <a:lnTo>
                  <a:pt x="5486397" y="0"/>
                </a:lnTo>
                <a:cubicBezTo>
                  <a:pt x="5528483" y="0"/>
                  <a:pt x="5562600" y="34117"/>
                  <a:pt x="5562600" y="76203"/>
                </a:cubicBezTo>
                <a:lnTo>
                  <a:pt x="5562600" y="800097"/>
                </a:lnTo>
                <a:cubicBezTo>
                  <a:pt x="5562600" y="842183"/>
                  <a:pt x="5528483" y="876300"/>
                  <a:pt x="5486397" y="876300"/>
                </a:cubicBezTo>
                <a:lnTo>
                  <a:pt x="76203" y="876300"/>
                </a:lnTo>
                <a:cubicBezTo>
                  <a:pt x="34117" y="876300"/>
                  <a:pt x="0" y="842183"/>
                  <a:pt x="0" y="800097"/>
                </a:cubicBezTo>
                <a:lnTo>
                  <a:pt x="0" y="76203"/>
                </a:lnTo>
                <a:cubicBezTo>
                  <a:pt x="0" y="34145"/>
                  <a:pt x="34145" y="0"/>
                  <a:pt x="76203" y="0"/>
                </a:cubicBezTo>
                <a:close/>
              </a:path>
            </a:pathLst>
          </a:custGeom>
          <a:solidFill>
            <a:srgbClr val="F9FAFB"/>
          </a:solidFill>
        </p:spPr>
      </p:sp>
      <p:sp>
        <p:nvSpPr>
          <p:cNvPr id="5" name="Shape 3"/>
          <p:cNvSpPr/>
          <p:nvPr/>
        </p:nvSpPr>
        <p:spPr>
          <a:xfrm>
            <a:off x="561913" y="3035686"/>
            <a:ext cx="228600" cy="228600"/>
          </a:xfrm>
          <a:custGeom>
            <a:avLst/>
            <a:gdLst/>
            <a:ahLst/>
            <a:cxnLst/>
            <a:rect l="l" t="t" r="r" b="b"/>
            <a:pathLst>
              <a:path w="228600" h="228600">
                <a:moveTo>
                  <a:pt x="78581" y="10716"/>
                </a:moveTo>
                <a:cubicBezTo>
                  <a:pt x="78581" y="4777"/>
                  <a:pt x="73804" y="0"/>
                  <a:pt x="67866" y="0"/>
                </a:cubicBezTo>
                <a:cubicBezTo>
                  <a:pt x="61927" y="0"/>
                  <a:pt x="57150" y="4777"/>
                  <a:pt x="57150" y="10716"/>
                </a:cubicBezTo>
                <a:lnTo>
                  <a:pt x="57150" y="28575"/>
                </a:lnTo>
                <a:cubicBezTo>
                  <a:pt x="41389" y="28575"/>
                  <a:pt x="28575" y="41389"/>
                  <a:pt x="28575" y="57150"/>
                </a:cubicBezTo>
                <a:lnTo>
                  <a:pt x="10716" y="57150"/>
                </a:lnTo>
                <a:cubicBezTo>
                  <a:pt x="4777" y="57150"/>
                  <a:pt x="0" y="61927"/>
                  <a:pt x="0" y="67866"/>
                </a:cubicBezTo>
                <a:cubicBezTo>
                  <a:pt x="0" y="73804"/>
                  <a:pt x="4777" y="78581"/>
                  <a:pt x="10716" y="78581"/>
                </a:cubicBezTo>
                <a:lnTo>
                  <a:pt x="28575" y="78581"/>
                </a:lnTo>
                <a:lnTo>
                  <a:pt x="28575" y="103584"/>
                </a:lnTo>
                <a:lnTo>
                  <a:pt x="10716" y="103584"/>
                </a:lnTo>
                <a:cubicBezTo>
                  <a:pt x="4777" y="103584"/>
                  <a:pt x="0" y="108362"/>
                  <a:pt x="0" y="114300"/>
                </a:cubicBezTo>
                <a:cubicBezTo>
                  <a:pt x="0" y="120238"/>
                  <a:pt x="4777" y="125016"/>
                  <a:pt x="10716" y="125016"/>
                </a:cubicBezTo>
                <a:lnTo>
                  <a:pt x="28575" y="125016"/>
                </a:lnTo>
                <a:lnTo>
                  <a:pt x="28575" y="150019"/>
                </a:lnTo>
                <a:lnTo>
                  <a:pt x="10716" y="150019"/>
                </a:lnTo>
                <a:cubicBezTo>
                  <a:pt x="4777" y="150019"/>
                  <a:pt x="0" y="154796"/>
                  <a:pt x="0" y="160734"/>
                </a:cubicBezTo>
                <a:cubicBezTo>
                  <a:pt x="0" y="166673"/>
                  <a:pt x="4777" y="171450"/>
                  <a:pt x="10716" y="171450"/>
                </a:cubicBezTo>
                <a:lnTo>
                  <a:pt x="28575" y="171450"/>
                </a:lnTo>
                <a:cubicBezTo>
                  <a:pt x="28575" y="187211"/>
                  <a:pt x="41389" y="200025"/>
                  <a:pt x="57150" y="200025"/>
                </a:cubicBezTo>
                <a:lnTo>
                  <a:pt x="57150" y="217884"/>
                </a:lnTo>
                <a:cubicBezTo>
                  <a:pt x="57150" y="223823"/>
                  <a:pt x="61927" y="228600"/>
                  <a:pt x="67866" y="228600"/>
                </a:cubicBezTo>
                <a:cubicBezTo>
                  <a:pt x="73804" y="228600"/>
                  <a:pt x="78581" y="223823"/>
                  <a:pt x="78581" y="217884"/>
                </a:cubicBezTo>
                <a:lnTo>
                  <a:pt x="78581" y="200025"/>
                </a:lnTo>
                <a:lnTo>
                  <a:pt x="103584" y="200025"/>
                </a:lnTo>
                <a:lnTo>
                  <a:pt x="103584" y="217884"/>
                </a:lnTo>
                <a:cubicBezTo>
                  <a:pt x="103584" y="223823"/>
                  <a:pt x="108362" y="228600"/>
                  <a:pt x="114300" y="228600"/>
                </a:cubicBezTo>
                <a:cubicBezTo>
                  <a:pt x="120238" y="228600"/>
                  <a:pt x="125016" y="223823"/>
                  <a:pt x="125016" y="217884"/>
                </a:cubicBezTo>
                <a:lnTo>
                  <a:pt x="125016" y="200025"/>
                </a:lnTo>
                <a:lnTo>
                  <a:pt x="150019" y="200025"/>
                </a:lnTo>
                <a:lnTo>
                  <a:pt x="150019" y="217884"/>
                </a:lnTo>
                <a:cubicBezTo>
                  <a:pt x="150019" y="223823"/>
                  <a:pt x="154796" y="228600"/>
                  <a:pt x="160734" y="228600"/>
                </a:cubicBezTo>
                <a:cubicBezTo>
                  <a:pt x="166673" y="228600"/>
                  <a:pt x="171450" y="223823"/>
                  <a:pt x="171450" y="217884"/>
                </a:cubicBezTo>
                <a:lnTo>
                  <a:pt x="171450" y="200025"/>
                </a:lnTo>
                <a:cubicBezTo>
                  <a:pt x="187211" y="200025"/>
                  <a:pt x="200025" y="187211"/>
                  <a:pt x="200025" y="171450"/>
                </a:cubicBezTo>
                <a:lnTo>
                  <a:pt x="217884" y="171450"/>
                </a:lnTo>
                <a:cubicBezTo>
                  <a:pt x="223823" y="171450"/>
                  <a:pt x="228600" y="166673"/>
                  <a:pt x="228600" y="160734"/>
                </a:cubicBezTo>
                <a:cubicBezTo>
                  <a:pt x="228600" y="154796"/>
                  <a:pt x="223823" y="150019"/>
                  <a:pt x="217884" y="150019"/>
                </a:cubicBezTo>
                <a:lnTo>
                  <a:pt x="200025" y="150019"/>
                </a:lnTo>
                <a:lnTo>
                  <a:pt x="200025" y="125016"/>
                </a:lnTo>
                <a:lnTo>
                  <a:pt x="217884" y="125016"/>
                </a:lnTo>
                <a:cubicBezTo>
                  <a:pt x="223823" y="125016"/>
                  <a:pt x="228600" y="120238"/>
                  <a:pt x="228600" y="114300"/>
                </a:cubicBezTo>
                <a:cubicBezTo>
                  <a:pt x="228600" y="108362"/>
                  <a:pt x="223823" y="103584"/>
                  <a:pt x="217884" y="103584"/>
                </a:cubicBezTo>
                <a:lnTo>
                  <a:pt x="200025" y="103584"/>
                </a:lnTo>
                <a:lnTo>
                  <a:pt x="200025" y="78581"/>
                </a:lnTo>
                <a:lnTo>
                  <a:pt x="217884" y="78581"/>
                </a:lnTo>
                <a:cubicBezTo>
                  <a:pt x="223823" y="78581"/>
                  <a:pt x="228600" y="73804"/>
                  <a:pt x="228600" y="67866"/>
                </a:cubicBezTo>
                <a:cubicBezTo>
                  <a:pt x="228600" y="61927"/>
                  <a:pt x="223823" y="57150"/>
                  <a:pt x="217884" y="57150"/>
                </a:cubicBezTo>
                <a:lnTo>
                  <a:pt x="200025" y="57150"/>
                </a:lnTo>
                <a:cubicBezTo>
                  <a:pt x="200025" y="41389"/>
                  <a:pt x="187211" y="28575"/>
                  <a:pt x="171450" y="28575"/>
                </a:cubicBezTo>
                <a:lnTo>
                  <a:pt x="171450" y="10716"/>
                </a:lnTo>
                <a:cubicBezTo>
                  <a:pt x="171450" y="4777"/>
                  <a:pt x="166673" y="0"/>
                  <a:pt x="160734" y="0"/>
                </a:cubicBezTo>
                <a:cubicBezTo>
                  <a:pt x="154796" y="0"/>
                  <a:pt x="150019" y="4777"/>
                  <a:pt x="150019" y="10716"/>
                </a:cubicBezTo>
                <a:lnTo>
                  <a:pt x="150019" y="28575"/>
                </a:lnTo>
                <a:lnTo>
                  <a:pt x="125016" y="28575"/>
                </a:lnTo>
                <a:lnTo>
                  <a:pt x="125016" y="10716"/>
                </a:lnTo>
                <a:cubicBezTo>
                  <a:pt x="125016" y="4777"/>
                  <a:pt x="120238" y="0"/>
                  <a:pt x="114300" y="0"/>
                </a:cubicBezTo>
                <a:cubicBezTo>
                  <a:pt x="108362" y="0"/>
                  <a:pt x="103584" y="4777"/>
                  <a:pt x="103584" y="10716"/>
                </a:cubicBezTo>
                <a:lnTo>
                  <a:pt x="103584" y="28575"/>
                </a:lnTo>
                <a:lnTo>
                  <a:pt x="78581" y="28575"/>
                </a:lnTo>
                <a:lnTo>
                  <a:pt x="78581" y="10716"/>
                </a:lnTo>
                <a:close/>
                <a:moveTo>
                  <a:pt x="71438" y="57150"/>
                </a:moveTo>
                <a:lnTo>
                  <a:pt x="157163" y="57150"/>
                </a:lnTo>
                <a:cubicBezTo>
                  <a:pt x="165065" y="57150"/>
                  <a:pt x="171450" y="63535"/>
                  <a:pt x="171450" y="71438"/>
                </a:cubicBezTo>
                <a:lnTo>
                  <a:pt x="171450" y="157163"/>
                </a:lnTo>
                <a:cubicBezTo>
                  <a:pt x="171450" y="165065"/>
                  <a:pt x="165065" y="171450"/>
                  <a:pt x="157163" y="171450"/>
                </a:cubicBezTo>
                <a:lnTo>
                  <a:pt x="71438" y="171450"/>
                </a:lnTo>
                <a:cubicBezTo>
                  <a:pt x="63535" y="171450"/>
                  <a:pt x="57150" y="165065"/>
                  <a:pt x="57150" y="157163"/>
                </a:cubicBezTo>
                <a:lnTo>
                  <a:pt x="57150" y="71438"/>
                </a:lnTo>
                <a:cubicBezTo>
                  <a:pt x="57150" y="63535"/>
                  <a:pt x="63535" y="57150"/>
                  <a:pt x="71438" y="57150"/>
                </a:cubicBezTo>
                <a:close/>
                <a:moveTo>
                  <a:pt x="78581" y="78581"/>
                </a:moveTo>
                <a:lnTo>
                  <a:pt x="78581" y="150019"/>
                </a:lnTo>
                <a:lnTo>
                  <a:pt x="150019" y="150019"/>
                </a:lnTo>
                <a:lnTo>
                  <a:pt x="150019" y="78581"/>
                </a:lnTo>
                <a:lnTo>
                  <a:pt x="78581" y="78581"/>
                </a:lnTo>
                <a:close/>
              </a:path>
            </a:pathLst>
          </a:custGeom>
          <a:solidFill>
            <a:srgbClr val="8B0000"/>
          </a:solidFill>
        </p:spPr>
      </p:sp>
      <p:sp>
        <p:nvSpPr>
          <p:cNvPr id="6" name="Text 4"/>
          <p:cNvSpPr/>
          <p:nvPr/>
        </p:nvSpPr>
        <p:spPr>
          <a:xfrm>
            <a:off x="971455" y="2785533"/>
            <a:ext cx="1531422" cy="266700"/>
          </a:xfrm>
          <a:prstGeom prst="rect">
            <a:avLst/>
          </a:prstGeom>
          <a:noFill/>
        </p:spPr>
        <p:txBody>
          <a:bodyPr wrap="square" lIns="0" tIns="0" rIns="0" bIns="0" rtlCol="0" anchor="ctr"/>
          <a:lstStyle/>
          <a:p>
            <a:pPr>
              <a:lnSpc>
                <a:spcPct val="130000"/>
              </a:lnSpc>
            </a:pPr>
            <a:r>
              <a:rPr lang="en-US" sz="1350" dirty="0">
                <a:solidFill>
                  <a:srgbClr val="4A5565"/>
                </a:solidFill>
                <a:latin typeface="MiSans" pitchFamily="34" charset="0"/>
                <a:ea typeface="MiSans" pitchFamily="34" charset="-122"/>
                <a:cs typeface="MiSans" pitchFamily="34" charset="-120"/>
              </a:rPr>
              <a:t>Clock Frequency</a:t>
            </a:r>
            <a:endParaRPr lang="en-US" sz="1600" dirty="0"/>
          </a:p>
        </p:txBody>
      </p:sp>
      <p:sp>
        <p:nvSpPr>
          <p:cNvPr id="7" name="Text 5"/>
          <p:cNvSpPr/>
          <p:nvPr/>
        </p:nvSpPr>
        <p:spPr>
          <a:xfrm>
            <a:off x="971455" y="3092880"/>
            <a:ext cx="800100" cy="3048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3 GHz</a:t>
            </a:r>
            <a:endParaRPr lang="en-US" sz="1600" dirty="0"/>
          </a:p>
        </p:txBody>
      </p:sp>
      <p:sp>
        <p:nvSpPr>
          <p:cNvPr id="8" name="Shape 6"/>
          <p:cNvSpPr/>
          <p:nvPr/>
        </p:nvSpPr>
        <p:spPr>
          <a:xfrm>
            <a:off x="3775075" y="2680970"/>
            <a:ext cx="2168525" cy="876300"/>
          </a:xfrm>
          <a:custGeom>
            <a:avLst/>
            <a:gdLst/>
            <a:ahLst/>
            <a:cxnLst/>
            <a:rect l="l" t="t" r="r" b="b"/>
            <a:pathLst>
              <a:path w="5562600" h="876300">
                <a:moveTo>
                  <a:pt x="76203" y="0"/>
                </a:moveTo>
                <a:lnTo>
                  <a:pt x="5486397" y="0"/>
                </a:lnTo>
                <a:cubicBezTo>
                  <a:pt x="5528483" y="0"/>
                  <a:pt x="5562600" y="34117"/>
                  <a:pt x="5562600" y="76203"/>
                </a:cubicBezTo>
                <a:lnTo>
                  <a:pt x="5562600" y="800097"/>
                </a:lnTo>
                <a:cubicBezTo>
                  <a:pt x="5562600" y="842183"/>
                  <a:pt x="5528483" y="876300"/>
                  <a:pt x="5486397" y="876300"/>
                </a:cubicBezTo>
                <a:lnTo>
                  <a:pt x="76203" y="876300"/>
                </a:lnTo>
                <a:cubicBezTo>
                  <a:pt x="34117" y="876300"/>
                  <a:pt x="0" y="842183"/>
                  <a:pt x="0" y="800097"/>
                </a:cubicBezTo>
                <a:lnTo>
                  <a:pt x="0" y="76203"/>
                </a:lnTo>
                <a:cubicBezTo>
                  <a:pt x="0" y="34145"/>
                  <a:pt x="34145" y="0"/>
                  <a:pt x="76203" y="0"/>
                </a:cubicBezTo>
                <a:close/>
              </a:path>
            </a:pathLst>
          </a:custGeom>
          <a:solidFill>
            <a:srgbClr val="F9FAFB"/>
          </a:solidFill>
        </p:spPr>
      </p:sp>
      <p:sp>
        <p:nvSpPr>
          <p:cNvPr id="9" name="Shape 7"/>
          <p:cNvSpPr/>
          <p:nvPr/>
        </p:nvSpPr>
        <p:spPr>
          <a:xfrm>
            <a:off x="3954718" y="3005048"/>
            <a:ext cx="285750" cy="228600"/>
          </a:xfrm>
          <a:custGeom>
            <a:avLst/>
            <a:gdLst/>
            <a:ahLst/>
            <a:cxnLst/>
            <a:rect l="l" t="t" r="r" b="b"/>
            <a:pathLst>
              <a:path w="285750" h="228600">
                <a:moveTo>
                  <a:pt x="185693" y="93985"/>
                </a:moveTo>
                <a:cubicBezTo>
                  <a:pt x="191140" y="92512"/>
                  <a:pt x="196855" y="95101"/>
                  <a:pt x="199311" y="100146"/>
                </a:cubicBezTo>
                <a:lnTo>
                  <a:pt x="207615" y="116934"/>
                </a:lnTo>
                <a:cubicBezTo>
                  <a:pt x="212214" y="117559"/>
                  <a:pt x="216724" y="118809"/>
                  <a:pt x="220965" y="120551"/>
                </a:cubicBezTo>
                <a:lnTo>
                  <a:pt x="236592" y="110148"/>
                </a:lnTo>
                <a:cubicBezTo>
                  <a:pt x="241280" y="107022"/>
                  <a:pt x="247486" y="107647"/>
                  <a:pt x="251460" y="111621"/>
                </a:cubicBezTo>
                <a:lnTo>
                  <a:pt x="260033" y="120194"/>
                </a:lnTo>
                <a:cubicBezTo>
                  <a:pt x="264006" y="124167"/>
                  <a:pt x="264631" y="130418"/>
                  <a:pt x="261506" y="135062"/>
                </a:cubicBezTo>
                <a:lnTo>
                  <a:pt x="251103" y="150644"/>
                </a:lnTo>
                <a:cubicBezTo>
                  <a:pt x="251951" y="152742"/>
                  <a:pt x="252710" y="154930"/>
                  <a:pt x="253335" y="157207"/>
                </a:cubicBezTo>
                <a:cubicBezTo>
                  <a:pt x="253960" y="159484"/>
                  <a:pt x="254362" y="161717"/>
                  <a:pt x="254675" y="163994"/>
                </a:cubicBezTo>
                <a:lnTo>
                  <a:pt x="271507" y="172298"/>
                </a:lnTo>
                <a:cubicBezTo>
                  <a:pt x="276552" y="174799"/>
                  <a:pt x="279142" y="180514"/>
                  <a:pt x="277669" y="185916"/>
                </a:cubicBezTo>
                <a:lnTo>
                  <a:pt x="274543" y="197614"/>
                </a:lnTo>
                <a:cubicBezTo>
                  <a:pt x="273070" y="203016"/>
                  <a:pt x="268025" y="206678"/>
                  <a:pt x="262399" y="206320"/>
                </a:cubicBezTo>
                <a:lnTo>
                  <a:pt x="243647" y="205115"/>
                </a:lnTo>
                <a:cubicBezTo>
                  <a:pt x="240834" y="208731"/>
                  <a:pt x="237574" y="212080"/>
                  <a:pt x="233869" y="214938"/>
                </a:cubicBezTo>
                <a:lnTo>
                  <a:pt x="235074" y="233645"/>
                </a:lnTo>
                <a:cubicBezTo>
                  <a:pt x="235431" y="239271"/>
                  <a:pt x="231770" y="244361"/>
                  <a:pt x="226368" y="245790"/>
                </a:cubicBezTo>
                <a:lnTo>
                  <a:pt x="214670" y="248915"/>
                </a:lnTo>
                <a:cubicBezTo>
                  <a:pt x="209223" y="250388"/>
                  <a:pt x="203552" y="247799"/>
                  <a:pt x="201052" y="242754"/>
                </a:cubicBezTo>
                <a:lnTo>
                  <a:pt x="192747" y="225966"/>
                </a:lnTo>
                <a:cubicBezTo>
                  <a:pt x="188149" y="225341"/>
                  <a:pt x="183639" y="224091"/>
                  <a:pt x="179397" y="222349"/>
                </a:cubicBezTo>
                <a:lnTo>
                  <a:pt x="163770" y="232752"/>
                </a:lnTo>
                <a:cubicBezTo>
                  <a:pt x="159082" y="235878"/>
                  <a:pt x="152876" y="235253"/>
                  <a:pt x="148903" y="231279"/>
                </a:cubicBezTo>
                <a:lnTo>
                  <a:pt x="140330" y="222706"/>
                </a:lnTo>
                <a:cubicBezTo>
                  <a:pt x="136356" y="218733"/>
                  <a:pt x="135731" y="212527"/>
                  <a:pt x="138857" y="207838"/>
                </a:cubicBezTo>
                <a:lnTo>
                  <a:pt x="149260" y="192212"/>
                </a:lnTo>
                <a:cubicBezTo>
                  <a:pt x="148411" y="190113"/>
                  <a:pt x="147652" y="187925"/>
                  <a:pt x="147027" y="185648"/>
                </a:cubicBezTo>
                <a:cubicBezTo>
                  <a:pt x="146402" y="183371"/>
                  <a:pt x="146000" y="181094"/>
                  <a:pt x="145688" y="178862"/>
                </a:cubicBezTo>
                <a:lnTo>
                  <a:pt x="128855" y="170557"/>
                </a:lnTo>
                <a:cubicBezTo>
                  <a:pt x="123810" y="168057"/>
                  <a:pt x="121265" y="162342"/>
                  <a:pt x="122694" y="156939"/>
                </a:cubicBezTo>
                <a:lnTo>
                  <a:pt x="125819" y="145241"/>
                </a:lnTo>
                <a:cubicBezTo>
                  <a:pt x="127293" y="139839"/>
                  <a:pt x="132338" y="136178"/>
                  <a:pt x="137964" y="136535"/>
                </a:cubicBezTo>
                <a:lnTo>
                  <a:pt x="156671" y="137740"/>
                </a:lnTo>
                <a:cubicBezTo>
                  <a:pt x="159484" y="134124"/>
                  <a:pt x="162744" y="130775"/>
                  <a:pt x="166449" y="127918"/>
                </a:cubicBezTo>
                <a:lnTo>
                  <a:pt x="165244" y="109255"/>
                </a:lnTo>
                <a:cubicBezTo>
                  <a:pt x="164887" y="103629"/>
                  <a:pt x="168548" y="98539"/>
                  <a:pt x="173950" y="97110"/>
                </a:cubicBezTo>
                <a:lnTo>
                  <a:pt x="185648" y="93985"/>
                </a:lnTo>
                <a:close/>
                <a:moveTo>
                  <a:pt x="200204" y="151805"/>
                </a:moveTo>
                <a:cubicBezTo>
                  <a:pt x="189361" y="151817"/>
                  <a:pt x="180568" y="160630"/>
                  <a:pt x="180581" y="171472"/>
                </a:cubicBezTo>
                <a:cubicBezTo>
                  <a:pt x="180593" y="182315"/>
                  <a:pt x="189406" y="191108"/>
                  <a:pt x="200248" y="191095"/>
                </a:cubicBezTo>
                <a:cubicBezTo>
                  <a:pt x="211091" y="191083"/>
                  <a:pt x="219884" y="182270"/>
                  <a:pt x="219871" y="171428"/>
                </a:cubicBezTo>
                <a:cubicBezTo>
                  <a:pt x="219859" y="160585"/>
                  <a:pt x="211046" y="151792"/>
                  <a:pt x="200204" y="151805"/>
                </a:cubicBezTo>
                <a:close/>
                <a:moveTo>
                  <a:pt x="100414" y="-20315"/>
                </a:moveTo>
                <a:lnTo>
                  <a:pt x="112112" y="-17190"/>
                </a:lnTo>
                <a:cubicBezTo>
                  <a:pt x="117515" y="-15716"/>
                  <a:pt x="121176" y="-10626"/>
                  <a:pt x="120819" y="-5045"/>
                </a:cubicBezTo>
                <a:lnTo>
                  <a:pt x="119613" y="13618"/>
                </a:lnTo>
                <a:cubicBezTo>
                  <a:pt x="123319" y="16475"/>
                  <a:pt x="126578" y="19779"/>
                  <a:pt x="129391" y="23440"/>
                </a:cubicBezTo>
                <a:lnTo>
                  <a:pt x="148144" y="22235"/>
                </a:lnTo>
                <a:cubicBezTo>
                  <a:pt x="153725" y="21878"/>
                  <a:pt x="158814" y="25539"/>
                  <a:pt x="160288" y="30941"/>
                </a:cubicBezTo>
                <a:lnTo>
                  <a:pt x="163413" y="42639"/>
                </a:lnTo>
                <a:cubicBezTo>
                  <a:pt x="164842" y="48042"/>
                  <a:pt x="162297" y="53757"/>
                  <a:pt x="157252" y="56257"/>
                </a:cubicBezTo>
                <a:lnTo>
                  <a:pt x="140419" y="64562"/>
                </a:lnTo>
                <a:cubicBezTo>
                  <a:pt x="140107" y="66839"/>
                  <a:pt x="139660" y="69116"/>
                  <a:pt x="139080" y="71348"/>
                </a:cubicBezTo>
                <a:cubicBezTo>
                  <a:pt x="138499" y="73581"/>
                  <a:pt x="137696" y="75813"/>
                  <a:pt x="136847" y="77912"/>
                </a:cubicBezTo>
                <a:lnTo>
                  <a:pt x="147251" y="93538"/>
                </a:lnTo>
                <a:cubicBezTo>
                  <a:pt x="150376" y="98227"/>
                  <a:pt x="149751" y="104433"/>
                  <a:pt x="145777" y="108406"/>
                </a:cubicBezTo>
                <a:lnTo>
                  <a:pt x="137205" y="116979"/>
                </a:lnTo>
                <a:cubicBezTo>
                  <a:pt x="133231" y="120953"/>
                  <a:pt x="127025" y="121578"/>
                  <a:pt x="122337" y="118452"/>
                </a:cubicBezTo>
                <a:lnTo>
                  <a:pt x="106710" y="108049"/>
                </a:lnTo>
                <a:cubicBezTo>
                  <a:pt x="102468" y="109791"/>
                  <a:pt x="97959" y="111041"/>
                  <a:pt x="93360" y="111666"/>
                </a:cubicBezTo>
                <a:lnTo>
                  <a:pt x="85055" y="128454"/>
                </a:lnTo>
                <a:cubicBezTo>
                  <a:pt x="82555" y="133499"/>
                  <a:pt x="76840" y="136044"/>
                  <a:pt x="71438" y="134615"/>
                </a:cubicBezTo>
                <a:lnTo>
                  <a:pt x="59740" y="131490"/>
                </a:lnTo>
                <a:cubicBezTo>
                  <a:pt x="54293" y="130016"/>
                  <a:pt x="50676" y="124926"/>
                  <a:pt x="51033" y="119345"/>
                </a:cubicBezTo>
                <a:lnTo>
                  <a:pt x="52239" y="100638"/>
                </a:lnTo>
                <a:cubicBezTo>
                  <a:pt x="48533" y="97780"/>
                  <a:pt x="45274" y="94476"/>
                  <a:pt x="42461" y="90815"/>
                </a:cubicBezTo>
                <a:lnTo>
                  <a:pt x="23708" y="92020"/>
                </a:lnTo>
                <a:cubicBezTo>
                  <a:pt x="18127" y="92378"/>
                  <a:pt x="13037" y="88716"/>
                  <a:pt x="11564" y="83314"/>
                </a:cubicBezTo>
                <a:lnTo>
                  <a:pt x="8439" y="71616"/>
                </a:lnTo>
                <a:cubicBezTo>
                  <a:pt x="7010" y="66214"/>
                  <a:pt x="9555" y="60499"/>
                  <a:pt x="14600" y="57998"/>
                </a:cubicBezTo>
                <a:lnTo>
                  <a:pt x="31433" y="49694"/>
                </a:lnTo>
                <a:cubicBezTo>
                  <a:pt x="31745" y="47417"/>
                  <a:pt x="32192" y="45184"/>
                  <a:pt x="32772" y="42907"/>
                </a:cubicBezTo>
                <a:cubicBezTo>
                  <a:pt x="33397" y="40630"/>
                  <a:pt x="34111" y="38442"/>
                  <a:pt x="35004" y="36344"/>
                </a:cubicBezTo>
                <a:lnTo>
                  <a:pt x="24601" y="20762"/>
                </a:lnTo>
                <a:cubicBezTo>
                  <a:pt x="21476" y="16073"/>
                  <a:pt x="22101" y="9867"/>
                  <a:pt x="26075" y="5894"/>
                </a:cubicBezTo>
                <a:lnTo>
                  <a:pt x="34647" y="-2679"/>
                </a:lnTo>
                <a:cubicBezTo>
                  <a:pt x="38621" y="-6653"/>
                  <a:pt x="44827" y="-7278"/>
                  <a:pt x="49515" y="-4152"/>
                </a:cubicBezTo>
                <a:lnTo>
                  <a:pt x="65142" y="6251"/>
                </a:lnTo>
                <a:cubicBezTo>
                  <a:pt x="69384" y="4509"/>
                  <a:pt x="73893" y="3259"/>
                  <a:pt x="78492" y="2634"/>
                </a:cubicBezTo>
                <a:lnTo>
                  <a:pt x="86797" y="-14154"/>
                </a:lnTo>
                <a:cubicBezTo>
                  <a:pt x="89297" y="-19199"/>
                  <a:pt x="94967" y="-21744"/>
                  <a:pt x="100414" y="-20315"/>
                </a:cubicBezTo>
                <a:close/>
                <a:moveTo>
                  <a:pt x="85904" y="37505"/>
                </a:moveTo>
                <a:cubicBezTo>
                  <a:pt x="75061" y="37505"/>
                  <a:pt x="66258" y="46307"/>
                  <a:pt x="66258" y="57150"/>
                </a:cubicBezTo>
                <a:cubicBezTo>
                  <a:pt x="66258" y="67993"/>
                  <a:pt x="75061" y="76795"/>
                  <a:pt x="85904" y="76795"/>
                </a:cubicBezTo>
                <a:cubicBezTo>
                  <a:pt x="96746" y="76795"/>
                  <a:pt x="105549" y="67993"/>
                  <a:pt x="105549" y="57150"/>
                </a:cubicBezTo>
                <a:cubicBezTo>
                  <a:pt x="105549" y="46307"/>
                  <a:pt x="96746" y="37505"/>
                  <a:pt x="85904" y="37505"/>
                </a:cubicBezTo>
                <a:close/>
              </a:path>
            </a:pathLst>
          </a:custGeom>
          <a:solidFill>
            <a:srgbClr val="8B0000"/>
          </a:solidFill>
        </p:spPr>
      </p:sp>
      <p:sp>
        <p:nvSpPr>
          <p:cNvPr id="10" name="Text 8"/>
          <p:cNvSpPr/>
          <p:nvPr/>
        </p:nvSpPr>
        <p:spPr>
          <a:xfrm>
            <a:off x="4324255" y="2785377"/>
            <a:ext cx="1578314" cy="266700"/>
          </a:xfrm>
          <a:prstGeom prst="rect">
            <a:avLst/>
          </a:prstGeom>
          <a:noFill/>
        </p:spPr>
        <p:txBody>
          <a:bodyPr wrap="square" lIns="0" tIns="0" rIns="0" bIns="0" rtlCol="0" anchor="ctr"/>
          <a:lstStyle/>
          <a:p>
            <a:pPr>
              <a:lnSpc>
                <a:spcPct val="130000"/>
              </a:lnSpc>
            </a:pPr>
            <a:r>
              <a:rPr lang="en-US" sz="1350" dirty="0">
                <a:solidFill>
                  <a:srgbClr val="4A5565"/>
                </a:solidFill>
                <a:latin typeface="MiSans" pitchFamily="34" charset="0"/>
                <a:ea typeface="MiSans" pitchFamily="34" charset="-122"/>
                <a:cs typeface="MiSans" pitchFamily="34" charset="-120"/>
              </a:rPr>
              <a:t>FLOPs per Cycle</a:t>
            </a:r>
            <a:endParaRPr lang="en-US" sz="1600" dirty="0"/>
          </a:p>
        </p:txBody>
      </p:sp>
      <p:sp>
        <p:nvSpPr>
          <p:cNvPr id="11" name="Text 9"/>
          <p:cNvSpPr/>
          <p:nvPr/>
        </p:nvSpPr>
        <p:spPr>
          <a:xfrm>
            <a:off x="4324255" y="3100344"/>
            <a:ext cx="1047750" cy="3048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8 FLOP</a:t>
            </a:r>
            <a:endParaRPr lang="en-US" sz="1600" dirty="0"/>
          </a:p>
        </p:txBody>
      </p:sp>
      <p:sp>
        <p:nvSpPr>
          <p:cNvPr id="12" name="Text 10"/>
          <p:cNvSpPr/>
          <p:nvPr/>
        </p:nvSpPr>
        <p:spPr>
          <a:xfrm>
            <a:off x="380956" y="3657023"/>
            <a:ext cx="5676900" cy="304800"/>
          </a:xfrm>
          <a:prstGeom prst="rect">
            <a:avLst/>
          </a:prstGeom>
          <a:noFill/>
        </p:spPr>
        <p:txBody>
          <a:bodyPr wrap="square" lIns="0" tIns="0" rIns="0" bIns="0" rtlCol="0" anchor="ctr"/>
          <a:lstStyle/>
          <a:p>
            <a:pPr>
              <a:lnSpc>
                <a:spcPct val="110000"/>
              </a:lnSpc>
            </a:pPr>
            <a:r>
              <a:rPr lang="en-US" sz="18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Theoretical Performance Calculation</a:t>
            </a:r>
            <a:endParaRPr lang="en-US" sz="1600" dirty="0"/>
          </a:p>
        </p:txBody>
      </p:sp>
      <p:sp>
        <p:nvSpPr>
          <p:cNvPr id="13" name="Shape 11"/>
          <p:cNvSpPr/>
          <p:nvPr/>
        </p:nvSpPr>
        <p:spPr>
          <a:xfrm>
            <a:off x="399911" y="4114098"/>
            <a:ext cx="5543455" cy="1562100"/>
          </a:xfrm>
          <a:custGeom>
            <a:avLst/>
            <a:gdLst/>
            <a:ahLst/>
            <a:cxnLst/>
            <a:rect l="l" t="t" r="r" b="b"/>
            <a:pathLst>
              <a:path w="5543455" h="1562100">
                <a:moveTo>
                  <a:pt x="37910" y="0"/>
                </a:moveTo>
                <a:lnTo>
                  <a:pt x="5429156" y="0"/>
                </a:lnTo>
                <a:cubicBezTo>
                  <a:pt x="5492282" y="0"/>
                  <a:pt x="5543455" y="51173"/>
                  <a:pt x="5543455" y="114299"/>
                </a:cubicBezTo>
                <a:lnTo>
                  <a:pt x="5543455" y="1447801"/>
                </a:lnTo>
                <a:cubicBezTo>
                  <a:pt x="5543455" y="1510927"/>
                  <a:pt x="5492282" y="1562100"/>
                  <a:pt x="5429156" y="1562100"/>
                </a:cubicBezTo>
                <a:lnTo>
                  <a:pt x="37910" y="1562100"/>
                </a:lnTo>
                <a:cubicBezTo>
                  <a:pt x="16973" y="1562100"/>
                  <a:pt x="0" y="1545127"/>
                  <a:pt x="0" y="1524190"/>
                </a:cubicBezTo>
                <a:lnTo>
                  <a:pt x="0" y="37910"/>
                </a:lnTo>
                <a:cubicBezTo>
                  <a:pt x="0" y="16987"/>
                  <a:pt x="16987" y="0"/>
                  <a:pt x="37910" y="0"/>
                </a:cubicBezTo>
                <a:close/>
              </a:path>
            </a:pathLst>
          </a:custGeom>
          <a:solidFill>
            <a:srgbClr val="8B0000">
              <a:alpha val="10196"/>
            </a:srgbClr>
          </a:solidFill>
        </p:spPr>
      </p:sp>
      <p:sp>
        <p:nvSpPr>
          <p:cNvPr id="14" name="Shape 12"/>
          <p:cNvSpPr/>
          <p:nvPr/>
        </p:nvSpPr>
        <p:spPr>
          <a:xfrm>
            <a:off x="399911" y="4114098"/>
            <a:ext cx="37910" cy="1562100"/>
          </a:xfrm>
          <a:custGeom>
            <a:avLst/>
            <a:gdLst/>
            <a:ahLst/>
            <a:cxnLst/>
            <a:rect l="l" t="t" r="r" b="b"/>
            <a:pathLst>
              <a:path w="37910" h="1562100">
                <a:moveTo>
                  <a:pt x="37910" y="0"/>
                </a:moveTo>
                <a:lnTo>
                  <a:pt x="37910" y="0"/>
                </a:lnTo>
                <a:lnTo>
                  <a:pt x="37910" y="1562100"/>
                </a:lnTo>
                <a:lnTo>
                  <a:pt x="37910" y="1562100"/>
                </a:lnTo>
                <a:cubicBezTo>
                  <a:pt x="16973" y="1562100"/>
                  <a:pt x="0" y="1545127"/>
                  <a:pt x="0" y="1524190"/>
                </a:cubicBezTo>
                <a:lnTo>
                  <a:pt x="0" y="37910"/>
                </a:lnTo>
                <a:cubicBezTo>
                  <a:pt x="0" y="16987"/>
                  <a:pt x="16987" y="0"/>
                  <a:pt x="37910" y="0"/>
                </a:cubicBezTo>
                <a:close/>
              </a:path>
            </a:pathLst>
          </a:custGeom>
          <a:solidFill>
            <a:srgbClr val="8B0000"/>
          </a:solidFill>
        </p:spPr>
      </p:sp>
      <p:sp>
        <p:nvSpPr>
          <p:cNvPr id="15" name="Text 13"/>
          <p:cNvSpPr/>
          <p:nvPr/>
        </p:nvSpPr>
        <p:spPr>
          <a:xfrm>
            <a:off x="647439" y="4342670"/>
            <a:ext cx="5162550" cy="266700"/>
          </a:xfrm>
          <a:prstGeom prst="rect">
            <a:avLst/>
          </a:prstGeom>
          <a:noFill/>
        </p:spPr>
        <p:txBody>
          <a:bodyPr wrap="square" lIns="0" tIns="0" rIns="0" bIns="0" rtlCol="0" anchor="ctr"/>
          <a:lstStyle/>
          <a:p>
            <a:pPr>
              <a:lnSpc>
                <a:spcPct val="120000"/>
              </a:lnSpc>
            </a:pPr>
            <a:r>
              <a:rPr lang="en-US" sz="15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FLOPS = Frequency × FLOPs per Cycle</a:t>
            </a:r>
            <a:endParaRPr lang="en-US" sz="1600" dirty="0"/>
          </a:p>
        </p:txBody>
      </p:sp>
      <p:sp>
        <p:nvSpPr>
          <p:cNvPr id="16" name="Text 14"/>
          <p:cNvSpPr/>
          <p:nvPr/>
        </p:nvSpPr>
        <p:spPr>
          <a:xfrm>
            <a:off x="647439" y="4723626"/>
            <a:ext cx="5162550" cy="266700"/>
          </a:xfrm>
          <a:prstGeom prst="rect">
            <a:avLst/>
          </a:prstGeom>
          <a:noFill/>
        </p:spPr>
        <p:txBody>
          <a:bodyPr wrap="square" lIns="0" tIns="0" rIns="0" bIns="0" rtlCol="0" anchor="ctr"/>
          <a:lstStyle/>
          <a:p>
            <a:pPr>
              <a:lnSpc>
                <a:spcPct val="120000"/>
              </a:lnSpc>
            </a:pPr>
            <a:r>
              <a:rPr lang="en-US" sz="15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 3×10⁹ × 8</a:t>
            </a:r>
            <a:endParaRPr lang="en-US" sz="1600" dirty="0"/>
          </a:p>
        </p:txBody>
      </p:sp>
      <p:sp>
        <p:nvSpPr>
          <p:cNvPr id="17" name="Text 15"/>
          <p:cNvSpPr/>
          <p:nvPr/>
        </p:nvSpPr>
        <p:spPr>
          <a:xfrm>
            <a:off x="647439" y="5104581"/>
            <a:ext cx="5210175" cy="342900"/>
          </a:xfrm>
          <a:prstGeom prst="rect">
            <a:avLst/>
          </a:prstGeom>
          <a:noFill/>
        </p:spPr>
        <p:txBody>
          <a:bodyPr wrap="square" lIns="0" tIns="0" rIns="0" bIns="0" rtlCol="0" anchor="ctr"/>
          <a:lstStyle/>
          <a:p>
            <a:pPr>
              <a:lnSpc>
                <a:spcPct val="100000"/>
              </a:lnSpc>
            </a:pPr>
            <a:r>
              <a:rPr lang="en-US" sz="225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 24 GFLOPS</a:t>
            </a:r>
            <a:endParaRPr lang="en-US" sz="1600" dirty="0"/>
          </a:p>
        </p:txBody>
      </p:sp>
      <p:sp>
        <p:nvSpPr>
          <p:cNvPr id="18" name="Shape 16"/>
          <p:cNvSpPr/>
          <p:nvPr/>
        </p:nvSpPr>
        <p:spPr>
          <a:xfrm>
            <a:off x="399911" y="5828361"/>
            <a:ext cx="5543455" cy="571500"/>
          </a:xfrm>
          <a:custGeom>
            <a:avLst/>
            <a:gdLst/>
            <a:ahLst/>
            <a:cxnLst/>
            <a:rect l="l" t="t" r="r" b="b"/>
            <a:pathLst>
              <a:path w="5543455" h="571500">
                <a:moveTo>
                  <a:pt x="37910" y="0"/>
                </a:moveTo>
                <a:lnTo>
                  <a:pt x="5467257" y="0"/>
                </a:lnTo>
                <a:cubicBezTo>
                  <a:pt x="5509340" y="0"/>
                  <a:pt x="5543455" y="34115"/>
                  <a:pt x="5543455" y="76198"/>
                </a:cubicBezTo>
                <a:lnTo>
                  <a:pt x="5543455" y="495302"/>
                </a:lnTo>
                <a:cubicBezTo>
                  <a:pt x="5543455" y="537385"/>
                  <a:pt x="5509340" y="571500"/>
                  <a:pt x="5467257" y="571500"/>
                </a:cubicBezTo>
                <a:lnTo>
                  <a:pt x="37910" y="571500"/>
                </a:lnTo>
                <a:cubicBezTo>
                  <a:pt x="16973" y="571500"/>
                  <a:pt x="0" y="554527"/>
                  <a:pt x="0" y="533590"/>
                </a:cubicBezTo>
                <a:lnTo>
                  <a:pt x="0" y="37910"/>
                </a:lnTo>
                <a:cubicBezTo>
                  <a:pt x="0" y="16987"/>
                  <a:pt x="16987" y="0"/>
                  <a:pt x="37910" y="0"/>
                </a:cubicBezTo>
                <a:close/>
              </a:path>
            </a:pathLst>
          </a:custGeom>
          <a:solidFill>
            <a:srgbClr val="FEFCE8"/>
          </a:solidFill>
        </p:spPr>
      </p:sp>
      <p:sp>
        <p:nvSpPr>
          <p:cNvPr id="19" name="Shape 17"/>
          <p:cNvSpPr/>
          <p:nvPr/>
        </p:nvSpPr>
        <p:spPr>
          <a:xfrm>
            <a:off x="399911" y="5828361"/>
            <a:ext cx="37910" cy="571500"/>
          </a:xfrm>
          <a:custGeom>
            <a:avLst/>
            <a:gdLst/>
            <a:ahLst/>
            <a:cxnLst/>
            <a:rect l="l" t="t" r="r" b="b"/>
            <a:pathLst>
              <a:path w="37910" h="571500">
                <a:moveTo>
                  <a:pt x="37910" y="0"/>
                </a:moveTo>
                <a:lnTo>
                  <a:pt x="37910" y="0"/>
                </a:lnTo>
                <a:lnTo>
                  <a:pt x="37910" y="571500"/>
                </a:lnTo>
                <a:lnTo>
                  <a:pt x="37910" y="571500"/>
                </a:lnTo>
                <a:cubicBezTo>
                  <a:pt x="16973" y="571500"/>
                  <a:pt x="0" y="554527"/>
                  <a:pt x="0" y="533590"/>
                </a:cubicBezTo>
                <a:lnTo>
                  <a:pt x="0" y="37910"/>
                </a:lnTo>
                <a:cubicBezTo>
                  <a:pt x="0" y="16987"/>
                  <a:pt x="16987" y="0"/>
                  <a:pt x="37910" y="0"/>
                </a:cubicBezTo>
                <a:close/>
              </a:path>
            </a:pathLst>
          </a:custGeom>
          <a:solidFill>
            <a:srgbClr val="F0B100"/>
          </a:solidFill>
        </p:spPr>
      </p:sp>
      <p:sp>
        <p:nvSpPr>
          <p:cNvPr id="20" name="Text 18"/>
          <p:cNvSpPr/>
          <p:nvPr/>
        </p:nvSpPr>
        <p:spPr>
          <a:xfrm>
            <a:off x="571248" y="5980742"/>
            <a:ext cx="5305425" cy="266700"/>
          </a:xfrm>
          <a:prstGeom prst="rect">
            <a:avLst/>
          </a:prstGeom>
          <a:noFill/>
        </p:spPr>
        <p:txBody>
          <a:bodyPr wrap="square" lIns="0" tIns="0" rIns="0" bIns="0" rtlCol="0" anchor="ctr"/>
          <a:lstStyle/>
          <a:p>
            <a:pPr>
              <a:lnSpc>
                <a:spcPct val="130000"/>
              </a:lnSpc>
            </a:pPr>
            <a:r>
              <a:rPr lang="en-US" sz="1350" b="1" dirty="0">
                <a:solidFill>
                  <a:srgbClr val="000000"/>
                </a:solidFill>
                <a:latin typeface="MiSans" pitchFamily="34" charset="0"/>
                <a:ea typeface="MiSans" pitchFamily="34" charset="-122"/>
                <a:cs typeface="MiSans" pitchFamily="34" charset="-120"/>
              </a:rPr>
              <a:t>Note:</a:t>
            </a:r>
            <a:r>
              <a:rPr lang="en-US" sz="1350" dirty="0">
                <a:solidFill>
                  <a:srgbClr val="000000"/>
                </a:solidFill>
                <a:latin typeface="MiSans" pitchFamily="34" charset="0"/>
                <a:ea typeface="MiSans" pitchFamily="34" charset="-122"/>
                <a:cs typeface="MiSans" pitchFamily="34" charset="-120"/>
              </a:rPr>
              <a:t> This is the </a:t>
            </a:r>
            <a:r>
              <a:rPr lang="en-US" sz="1350" dirty="0">
                <a:solidFill>
                  <a:srgbClr val="C00000"/>
                </a:solidFill>
                <a:latin typeface="MiSans" pitchFamily="34" charset="0"/>
                <a:ea typeface="MiSans" pitchFamily="34" charset="-122"/>
                <a:cs typeface="MiSans" pitchFamily="34" charset="-120"/>
              </a:rPr>
              <a:t>theoretical</a:t>
            </a:r>
            <a:r>
              <a:rPr lang="en-US" sz="1350" dirty="0">
                <a:solidFill>
                  <a:srgbClr val="000000"/>
                </a:solidFill>
                <a:latin typeface="MiSans" pitchFamily="34" charset="0"/>
                <a:ea typeface="MiSans" pitchFamily="34" charset="-122"/>
                <a:cs typeface="MiSans" pitchFamily="34" charset="-120"/>
              </a:rPr>
              <a:t> peak; actual performance is typically lower</a:t>
            </a:r>
            <a:endParaRPr lang="en-US" sz="1600" dirty="0"/>
          </a:p>
        </p:txBody>
      </p:sp>
      <p:sp>
        <p:nvSpPr>
          <p:cNvPr id="21" name="Shape 19"/>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solidFill>
        </p:spPr>
      </p:sp>
      <p:pic>
        <p:nvPicPr>
          <p:cNvPr id="22" name="Image 0" descr="https://kimi-web-img.moonshot.cn/img/www.cise.ufl.edu/1c28a8bf5c367a1caf6f9cc799c610a34a474494.gif"/>
          <p:cNvPicPr>
            <a:picLocks noChangeAspect="1"/>
          </p:cNvPicPr>
          <p:nvPr/>
        </p:nvPicPr>
        <p:blipFill>
          <a:blip r:embed="rId1"/>
          <a:srcRect l="59" r="59"/>
          <a:stretch>
            <a:fillRect/>
          </a:stretch>
        </p:blipFill>
        <p:spPr>
          <a:xfrm>
            <a:off x="6400720" y="1863830"/>
            <a:ext cx="5257800" cy="3095625"/>
          </a:xfrm>
          <a:prstGeom prst="roundRect">
            <a:avLst>
              <a:gd name="adj" fmla="val 0"/>
            </a:avLst>
          </a:prstGeom>
        </p:spPr>
      </p:pic>
      <p:sp>
        <p:nvSpPr>
          <p:cNvPr id="23" name="Text 20"/>
          <p:cNvSpPr/>
          <p:nvPr/>
        </p:nvSpPr>
        <p:spPr>
          <a:xfrm>
            <a:off x="6210238" y="5905365"/>
            <a:ext cx="5638800" cy="228600"/>
          </a:xfrm>
          <a:prstGeom prst="rect">
            <a:avLst/>
          </a:prstGeom>
          <a:noFill/>
        </p:spPr>
        <p:txBody>
          <a:bodyPr wrap="square" lIns="0" tIns="0" rIns="0" bIns="0" rtlCol="0" anchor="ctr"/>
          <a:lstStyle/>
          <a:p>
            <a:pPr algn="ctr">
              <a:lnSpc>
                <a:spcPct val="130000"/>
              </a:lnSpc>
            </a:pPr>
            <a:r>
              <a:rPr lang="en-US" sz="1200" dirty="0">
                <a:solidFill>
                  <a:srgbClr val="6A7282"/>
                </a:solidFill>
                <a:latin typeface="MiSans" pitchFamily="34" charset="0"/>
                <a:ea typeface="MiSans" pitchFamily="34" charset="-122"/>
                <a:cs typeface="MiSans" pitchFamily="34" charset="-120"/>
              </a:rPr>
              <a:t>Image source: University of Florida - CPU Pipeline</a:t>
            </a:r>
            <a:endParaRPr lang="en-US" sz="1600" dirty="0"/>
          </a:p>
        </p:txBody>
      </p:sp>
      <p:sp>
        <p:nvSpPr>
          <p:cNvPr id="24" name="灯片编号占位符 23"/>
          <p:cNvSpPr>
            <a:spLocks noGrp="1"/>
          </p:cNvSpPr>
          <p:nvPr>
            <p:ph type="sldNum" sz="quarter" idx="11"/>
          </p:nvPr>
        </p:nvSpPr>
        <p:spPr/>
        <p:txBody>
          <a:bodyPr/>
          <a:lstStyle/>
          <a:p>
            <a:fld id="{B33F7469-D28B-482F-B1B6-3B8E7CF51519}" type="slidenum">
              <a:rPr lang="zh-CN" altLang="en-US" smtClean="0"/>
            </a:fld>
            <a:endParaRPr lang="zh-CN" altLang="en-US" dirty="0"/>
          </a:p>
        </p:txBody>
      </p:sp>
      <p:sp>
        <p:nvSpPr>
          <p:cNvPr id="25" name="Text 3"/>
          <p:cNvSpPr/>
          <p:nvPr/>
        </p:nvSpPr>
        <p:spPr>
          <a:xfrm>
            <a:off x="437349" y="1341654"/>
            <a:ext cx="5315072" cy="3810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FLOPS = Floating Point Operations Per Second</a:t>
            </a:r>
            <a:endParaRPr lang="en-US" sz="1600" dirty="0"/>
          </a:p>
        </p:txBody>
      </p:sp>
      <p:sp>
        <p:nvSpPr>
          <p:cNvPr id="26" name="Shape 1"/>
          <p:cNvSpPr/>
          <p:nvPr/>
        </p:nvSpPr>
        <p:spPr>
          <a:xfrm>
            <a:off x="381000" y="1153795"/>
            <a:ext cx="5543550" cy="803275"/>
          </a:xfrm>
          <a:custGeom>
            <a:avLst/>
            <a:gdLst/>
            <a:ahLst/>
            <a:cxnLst/>
            <a:rect l="l" t="t" r="r" b="b"/>
            <a:pathLst>
              <a:path w="5543455" h="1409700">
                <a:moveTo>
                  <a:pt x="37910" y="0"/>
                </a:moveTo>
                <a:lnTo>
                  <a:pt x="5429157" y="0"/>
                </a:lnTo>
                <a:cubicBezTo>
                  <a:pt x="5492282" y="0"/>
                  <a:pt x="5543455" y="51173"/>
                  <a:pt x="5543455" y="114298"/>
                </a:cubicBezTo>
                <a:lnTo>
                  <a:pt x="5543455" y="1295402"/>
                </a:lnTo>
                <a:cubicBezTo>
                  <a:pt x="5543455" y="1358527"/>
                  <a:pt x="5492282" y="1409700"/>
                  <a:pt x="5429157" y="1409700"/>
                </a:cubicBezTo>
                <a:lnTo>
                  <a:pt x="37910" y="1409700"/>
                </a:lnTo>
                <a:cubicBezTo>
                  <a:pt x="16973" y="1409700"/>
                  <a:pt x="0" y="1392727"/>
                  <a:pt x="0" y="1371790"/>
                </a:cubicBezTo>
                <a:lnTo>
                  <a:pt x="0" y="37910"/>
                </a:lnTo>
                <a:cubicBezTo>
                  <a:pt x="0" y="16987"/>
                  <a:pt x="16987" y="0"/>
                  <a:pt x="37910" y="0"/>
                </a:cubicBezTo>
                <a:close/>
              </a:path>
            </a:pathLst>
          </a:custGeom>
          <a:solidFill>
            <a:srgbClr val="8B0000">
              <a:alpha val="10196"/>
            </a:srgbClr>
          </a:solidFill>
        </p:spPr>
      </p:sp>
      <p:sp>
        <p:nvSpPr>
          <p:cNvPr id="28" name="Shape 2"/>
          <p:cNvSpPr/>
          <p:nvPr/>
        </p:nvSpPr>
        <p:spPr>
          <a:xfrm flipH="1">
            <a:off x="321310" y="1153795"/>
            <a:ext cx="76835" cy="772795"/>
          </a:xfrm>
          <a:custGeom>
            <a:avLst/>
            <a:gdLst/>
            <a:ahLst/>
            <a:cxnLst/>
            <a:rect l="l" t="t" r="r" b="b"/>
            <a:pathLst>
              <a:path w="37910" h="1409700">
                <a:moveTo>
                  <a:pt x="37910" y="0"/>
                </a:moveTo>
                <a:lnTo>
                  <a:pt x="37910" y="0"/>
                </a:lnTo>
                <a:lnTo>
                  <a:pt x="37910" y="1409700"/>
                </a:lnTo>
                <a:lnTo>
                  <a:pt x="37910" y="1409700"/>
                </a:lnTo>
                <a:cubicBezTo>
                  <a:pt x="16973" y="1409700"/>
                  <a:pt x="0" y="1392727"/>
                  <a:pt x="0" y="1371790"/>
                </a:cubicBezTo>
                <a:lnTo>
                  <a:pt x="0" y="37910"/>
                </a:lnTo>
                <a:cubicBezTo>
                  <a:pt x="0" y="16987"/>
                  <a:pt x="16987" y="0"/>
                  <a:pt x="37910" y="0"/>
                </a:cubicBezTo>
                <a:close/>
              </a:path>
            </a:pathLst>
          </a:custGeom>
          <a:solidFill>
            <a:srgbClr val="8B0000"/>
          </a:solidFill>
        </p:spPr>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6787" y="603479"/>
            <a:ext cx="11601450" cy="381000"/>
          </a:xfrm>
          <a:prstGeom prst="rect">
            <a:avLst/>
          </a:prstGeom>
          <a:noFill/>
        </p:spPr>
        <p:txBody>
          <a:bodyPr wrap="square" lIns="0" tIns="0" rIns="0" bIns="0" rtlCol="0" anchor="ctr"/>
          <a:lstStyle/>
          <a:p>
            <a:pPr>
              <a:lnSpc>
                <a:spcPct val="90000"/>
              </a:lnSpc>
            </a:pPr>
            <a:r>
              <a:rPr lang="en-US" sz="27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Bandwidth</a:t>
            </a:r>
            <a:endParaRPr lang="en-US" sz="1600" dirty="0"/>
          </a:p>
        </p:txBody>
      </p:sp>
      <p:sp>
        <p:nvSpPr>
          <p:cNvPr id="3" name="Shape 1"/>
          <p:cNvSpPr/>
          <p:nvPr/>
        </p:nvSpPr>
        <p:spPr>
          <a:xfrm>
            <a:off x="399911" y="1213226"/>
            <a:ext cx="5543455" cy="1104900"/>
          </a:xfrm>
          <a:custGeom>
            <a:avLst/>
            <a:gdLst/>
            <a:ahLst/>
            <a:cxnLst/>
            <a:rect l="l" t="t" r="r" b="b"/>
            <a:pathLst>
              <a:path w="5543455" h="1104900">
                <a:moveTo>
                  <a:pt x="37910" y="0"/>
                </a:moveTo>
                <a:lnTo>
                  <a:pt x="5429153" y="0"/>
                </a:lnTo>
                <a:cubicBezTo>
                  <a:pt x="5492281" y="0"/>
                  <a:pt x="5543455" y="51175"/>
                  <a:pt x="5543455" y="114302"/>
                </a:cubicBezTo>
                <a:lnTo>
                  <a:pt x="5543455" y="990598"/>
                </a:lnTo>
                <a:cubicBezTo>
                  <a:pt x="5543455" y="1053725"/>
                  <a:pt x="5492281" y="1104900"/>
                  <a:pt x="5429153" y="1104900"/>
                </a:cubicBezTo>
                <a:lnTo>
                  <a:pt x="37910" y="1104900"/>
                </a:lnTo>
                <a:cubicBezTo>
                  <a:pt x="16973" y="1104900"/>
                  <a:pt x="0" y="1087927"/>
                  <a:pt x="0" y="1066990"/>
                </a:cubicBezTo>
                <a:lnTo>
                  <a:pt x="0" y="37910"/>
                </a:lnTo>
                <a:cubicBezTo>
                  <a:pt x="0" y="16987"/>
                  <a:pt x="16987" y="0"/>
                  <a:pt x="37910" y="0"/>
                </a:cubicBezTo>
                <a:close/>
              </a:path>
            </a:pathLst>
          </a:custGeom>
          <a:solidFill>
            <a:srgbClr val="8B0000">
              <a:alpha val="10196"/>
            </a:srgbClr>
          </a:solidFill>
        </p:spPr>
      </p:sp>
      <p:sp>
        <p:nvSpPr>
          <p:cNvPr id="4" name="Shape 2"/>
          <p:cNvSpPr/>
          <p:nvPr/>
        </p:nvSpPr>
        <p:spPr>
          <a:xfrm>
            <a:off x="399911" y="1213226"/>
            <a:ext cx="37910" cy="1104900"/>
          </a:xfrm>
          <a:custGeom>
            <a:avLst/>
            <a:gdLst/>
            <a:ahLst/>
            <a:cxnLst/>
            <a:rect l="l" t="t" r="r" b="b"/>
            <a:pathLst>
              <a:path w="37910" h="1104900">
                <a:moveTo>
                  <a:pt x="37910" y="0"/>
                </a:moveTo>
                <a:lnTo>
                  <a:pt x="37910" y="0"/>
                </a:lnTo>
                <a:lnTo>
                  <a:pt x="37910" y="1104900"/>
                </a:lnTo>
                <a:lnTo>
                  <a:pt x="37910" y="1104900"/>
                </a:lnTo>
                <a:cubicBezTo>
                  <a:pt x="16973" y="1104900"/>
                  <a:pt x="0" y="1087927"/>
                  <a:pt x="0" y="1066990"/>
                </a:cubicBezTo>
                <a:lnTo>
                  <a:pt x="0" y="37910"/>
                </a:lnTo>
                <a:cubicBezTo>
                  <a:pt x="0" y="16987"/>
                  <a:pt x="16987" y="0"/>
                  <a:pt x="37910" y="0"/>
                </a:cubicBezTo>
                <a:close/>
              </a:path>
            </a:pathLst>
          </a:custGeom>
          <a:solidFill>
            <a:srgbClr val="8B0000"/>
          </a:solidFill>
        </p:spPr>
      </p:sp>
      <p:sp>
        <p:nvSpPr>
          <p:cNvPr id="5" name="Text 3"/>
          <p:cNvSpPr/>
          <p:nvPr/>
        </p:nvSpPr>
        <p:spPr>
          <a:xfrm>
            <a:off x="647439" y="1441800"/>
            <a:ext cx="5181600" cy="3048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Bandwidth</a:t>
            </a:r>
            <a:endParaRPr lang="en-US" sz="1600" dirty="0"/>
          </a:p>
        </p:txBody>
      </p:sp>
      <p:sp>
        <p:nvSpPr>
          <p:cNvPr id="6" name="Text 4"/>
          <p:cNvSpPr/>
          <p:nvPr/>
        </p:nvSpPr>
        <p:spPr>
          <a:xfrm>
            <a:off x="647439" y="1822679"/>
            <a:ext cx="5162550" cy="266700"/>
          </a:xfrm>
          <a:prstGeom prst="rect">
            <a:avLst/>
          </a:prstGeom>
          <a:noFill/>
        </p:spPr>
        <p:txBody>
          <a:bodyPr wrap="square" lIns="0" tIns="0" rIns="0" bIns="0" rtlCol="0" anchor="ctr"/>
          <a:lstStyle/>
          <a:p>
            <a:pPr>
              <a:lnSpc>
                <a:spcPct val="120000"/>
              </a:lnSpc>
            </a:pPr>
            <a:r>
              <a:rPr lang="en-US" sz="1500" dirty="0">
                <a:solidFill>
                  <a:srgbClr val="364153"/>
                </a:solidFill>
                <a:latin typeface="Noto Sans SC" panose="020B0200000000000000" pitchFamily="34" charset="-122"/>
                <a:ea typeface="Noto Sans SC" panose="020B0200000000000000" pitchFamily="34" charset="-122"/>
                <a:cs typeface="Noto Sans SC" panose="020B0200000000000000" pitchFamily="34" charset="-120"/>
              </a:rPr>
              <a:t>Represents the amount of data transferable per unit time</a:t>
            </a:r>
            <a:endParaRPr lang="en-US" sz="1600" dirty="0"/>
          </a:p>
        </p:txBody>
      </p:sp>
      <p:sp>
        <p:nvSpPr>
          <p:cNvPr id="7" name="Text 5"/>
          <p:cNvSpPr/>
          <p:nvPr/>
        </p:nvSpPr>
        <p:spPr>
          <a:xfrm>
            <a:off x="380956" y="2546533"/>
            <a:ext cx="5676900" cy="3048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Common Units</a:t>
            </a:r>
            <a:endParaRPr lang="en-US" sz="1600" dirty="0"/>
          </a:p>
        </p:txBody>
      </p:sp>
      <p:sp>
        <p:nvSpPr>
          <p:cNvPr id="8" name="Shape 6"/>
          <p:cNvSpPr/>
          <p:nvPr>
            <p:custDataLst>
              <p:tags r:id="rId1"/>
            </p:custDataLst>
          </p:nvPr>
        </p:nvSpPr>
        <p:spPr>
          <a:xfrm>
            <a:off x="380956" y="3003607"/>
            <a:ext cx="5562600" cy="495300"/>
          </a:xfrm>
          <a:custGeom>
            <a:avLst/>
            <a:gdLst/>
            <a:ahLst/>
            <a:cxnLst/>
            <a:rect l="l" t="t" r="r" b="b"/>
            <a:pathLst>
              <a:path w="5562600" h="495300">
                <a:moveTo>
                  <a:pt x="76202" y="0"/>
                </a:moveTo>
                <a:lnTo>
                  <a:pt x="5486398" y="0"/>
                </a:lnTo>
                <a:cubicBezTo>
                  <a:pt x="5528483" y="0"/>
                  <a:pt x="5562600" y="34117"/>
                  <a:pt x="5562600" y="76202"/>
                </a:cubicBezTo>
                <a:lnTo>
                  <a:pt x="5562600" y="419098"/>
                </a:lnTo>
                <a:cubicBezTo>
                  <a:pt x="5562600" y="461183"/>
                  <a:pt x="5528483" y="495300"/>
                  <a:pt x="5486398" y="495300"/>
                </a:cubicBezTo>
                <a:lnTo>
                  <a:pt x="76202" y="495300"/>
                </a:lnTo>
                <a:cubicBezTo>
                  <a:pt x="34117" y="495300"/>
                  <a:pt x="0" y="461183"/>
                  <a:pt x="0" y="419098"/>
                </a:cubicBezTo>
                <a:lnTo>
                  <a:pt x="0" y="76202"/>
                </a:lnTo>
                <a:cubicBezTo>
                  <a:pt x="0" y="34117"/>
                  <a:pt x="34117" y="0"/>
                  <a:pt x="76202" y="0"/>
                </a:cubicBezTo>
                <a:close/>
              </a:path>
            </a:pathLst>
          </a:custGeom>
          <a:solidFill>
            <a:srgbClr val="F9FAFB"/>
          </a:solidFill>
        </p:spPr>
      </p:sp>
      <p:sp>
        <p:nvSpPr>
          <p:cNvPr id="9" name="Text 7"/>
          <p:cNvSpPr/>
          <p:nvPr>
            <p:custDataLst>
              <p:tags r:id="rId2"/>
            </p:custDataLst>
          </p:nvPr>
        </p:nvSpPr>
        <p:spPr>
          <a:xfrm>
            <a:off x="447580" y="3117856"/>
            <a:ext cx="1009650" cy="266700"/>
          </a:xfrm>
          <a:prstGeom prst="rect">
            <a:avLst/>
          </a:prstGeom>
          <a:noFill/>
        </p:spPr>
        <p:txBody>
          <a:bodyPr wrap="square" lIns="0" tIns="0" rIns="0" bIns="0" rtlCol="0" anchor="ctr"/>
          <a:lstStyle/>
          <a:p>
            <a:pPr algn="ctr">
              <a:lnSpc>
                <a:spcPct val="120000"/>
              </a:lnSpc>
            </a:pPr>
            <a:r>
              <a:rPr lang="en-US" sz="15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MB/s</a:t>
            </a:r>
            <a:endParaRPr lang="en-US" sz="1600" dirty="0"/>
          </a:p>
        </p:txBody>
      </p:sp>
      <p:sp>
        <p:nvSpPr>
          <p:cNvPr id="10" name="Text 8"/>
          <p:cNvSpPr/>
          <p:nvPr>
            <p:custDataLst>
              <p:tags r:id="rId3"/>
            </p:custDataLst>
          </p:nvPr>
        </p:nvSpPr>
        <p:spPr>
          <a:xfrm>
            <a:off x="1561955" y="3117856"/>
            <a:ext cx="2476601" cy="266700"/>
          </a:xfrm>
          <a:prstGeom prst="rect">
            <a:avLst/>
          </a:prstGeom>
          <a:noFill/>
        </p:spPr>
        <p:txBody>
          <a:bodyPr wrap="square" lIns="0" tIns="0" rIns="0" bIns="0" rtlCol="0" anchor="ctr"/>
          <a:lstStyle/>
          <a:p>
            <a:pPr>
              <a:lnSpc>
                <a:spcPct val="130000"/>
              </a:lnSpc>
            </a:pPr>
            <a:r>
              <a:rPr lang="en-US" sz="1350" dirty="0">
                <a:solidFill>
                  <a:srgbClr val="000000"/>
                </a:solidFill>
                <a:latin typeface="MiSans" pitchFamily="34" charset="0"/>
                <a:ea typeface="MiSans" pitchFamily="34" charset="-122"/>
                <a:cs typeface="MiSans" pitchFamily="34" charset="-120"/>
              </a:rPr>
              <a:t>Megabytes/second</a:t>
            </a:r>
            <a:endParaRPr lang="en-US" sz="1600" dirty="0"/>
          </a:p>
        </p:txBody>
      </p:sp>
      <p:sp>
        <p:nvSpPr>
          <p:cNvPr id="11" name="Shape 9"/>
          <p:cNvSpPr/>
          <p:nvPr>
            <p:custDataLst>
              <p:tags r:id="rId4"/>
            </p:custDataLst>
          </p:nvPr>
        </p:nvSpPr>
        <p:spPr>
          <a:xfrm>
            <a:off x="380956" y="3613063"/>
            <a:ext cx="5562600" cy="495300"/>
          </a:xfrm>
          <a:custGeom>
            <a:avLst/>
            <a:gdLst/>
            <a:ahLst/>
            <a:cxnLst/>
            <a:rect l="l" t="t" r="r" b="b"/>
            <a:pathLst>
              <a:path w="5562600" h="495300">
                <a:moveTo>
                  <a:pt x="76202" y="0"/>
                </a:moveTo>
                <a:lnTo>
                  <a:pt x="5486398" y="0"/>
                </a:lnTo>
                <a:cubicBezTo>
                  <a:pt x="5528483" y="0"/>
                  <a:pt x="5562600" y="34117"/>
                  <a:pt x="5562600" y="76202"/>
                </a:cubicBezTo>
                <a:lnTo>
                  <a:pt x="5562600" y="419098"/>
                </a:lnTo>
                <a:cubicBezTo>
                  <a:pt x="5562600" y="461183"/>
                  <a:pt x="5528483" y="495300"/>
                  <a:pt x="5486398" y="495300"/>
                </a:cubicBezTo>
                <a:lnTo>
                  <a:pt x="76202" y="495300"/>
                </a:lnTo>
                <a:cubicBezTo>
                  <a:pt x="34117" y="495300"/>
                  <a:pt x="0" y="461183"/>
                  <a:pt x="0" y="419098"/>
                </a:cubicBezTo>
                <a:lnTo>
                  <a:pt x="0" y="76202"/>
                </a:lnTo>
                <a:cubicBezTo>
                  <a:pt x="0" y="34117"/>
                  <a:pt x="34117" y="0"/>
                  <a:pt x="76202" y="0"/>
                </a:cubicBezTo>
                <a:close/>
              </a:path>
            </a:pathLst>
          </a:custGeom>
          <a:solidFill>
            <a:srgbClr val="F9FAFB"/>
          </a:solidFill>
        </p:spPr>
      </p:sp>
      <p:sp>
        <p:nvSpPr>
          <p:cNvPr id="12" name="Text 10"/>
          <p:cNvSpPr/>
          <p:nvPr>
            <p:custDataLst>
              <p:tags r:id="rId5"/>
            </p:custDataLst>
          </p:nvPr>
        </p:nvSpPr>
        <p:spPr>
          <a:xfrm>
            <a:off x="447580" y="3727312"/>
            <a:ext cx="1009650" cy="266700"/>
          </a:xfrm>
          <a:prstGeom prst="rect">
            <a:avLst/>
          </a:prstGeom>
          <a:noFill/>
        </p:spPr>
        <p:txBody>
          <a:bodyPr wrap="square" lIns="0" tIns="0" rIns="0" bIns="0" rtlCol="0" anchor="ctr"/>
          <a:lstStyle/>
          <a:p>
            <a:pPr algn="ctr">
              <a:lnSpc>
                <a:spcPct val="120000"/>
              </a:lnSpc>
            </a:pPr>
            <a:r>
              <a:rPr lang="en-US" sz="15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GB/s</a:t>
            </a:r>
            <a:endParaRPr lang="en-US" sz="1600" dirty="0"/>
          </a:p>
        </p:txBody>
      </p:sp>
      <p:sp>
        <p:nvSpPr>
          <p:cNvPr id="13" name="Text 11"/>
          <p:cNvSpPr/>
          <p:nvPr>
            <p:custDataLst>
              <p:tags r:id="rId6"/>
            </p:custDataLst>
          </p:nvPr>
        </p:nvSpPr>
        <p:spPr>
          <a:xfrm>
            <a:off x="1561955" y="3727312"/>
            <a:ext cx="1966691" cy="266700"/>
          </a:xfrm>
          <a:prstGeom prst="rect">
            <a:avLst/>
          </a:prstGeom>
          <a:noFill/>
        </p:spPr>
        <p:txBody>
          <a:bodyPr wrap="square" lIns="0" tIns="0" rIns="0" bIns="0" rtlCol="0" anchor="ctr"/>
          <a:lstStyle/>
          <a:p>
            <a:pPr>
              <a:lnSpc>
                <a:spcPct val="130000"/>
              </a:lnSpc>
            </a:pPr>
            <a:r>
              <a:rPr lang="en-US" sz="1350" dirty="0">
                <a:solidFill>
                  <a:srgbClr val="000000"/>
                </a:solidFill>
                <a:latin typeface="MiSans" pitchFamily="34" charset="0"/>
                <a:ea typeface="MiSans" pitchFamily="34" charset="-122"/>
                <a:cs typeface="MiSans" pitchFamily="34" charset="-120"/>
              </a:rPr>
              <a:t>Gigabytes/second</a:t>
            </a:r>
            <a:endParaRPr lang="en-US" sz="1600" dirty="0"/>
          </a:p>
        </p:txBody>
      </p:sp>
      <p:sp>
        <p:nvSpPr>
          <p:cNvPr id="14" name="Shape 12"/>
          <p:cNvSpPr/>
          <p:nvPr>
            <p:custDataLst>
              <p:tags r:id="rId7"/>
            </p:custDataLst>
          </p:nvPr>
        </p:nvSpPr>
        <p:spPr>
          <a:xfrm>
            <a:off x="380956" y="4222514"/>
            <a:ext cx="5562600" cy="495300"/>
          </a:xfrm>
          <a:custGeom>
            <a:avLst/>
            <a:gdLst/>
            <a:ahLst/>
            <a:cxnLst/>
            <a:rect l="l" t="t" r="r" b="b"/>
            <a:pathLst>
              <a:path w="5562600" h="495300">
                <a:moveTo>
                  <a:pt x="76202" y="0"/>
                </a:moveTo>
                <a:lnTo>
                  <a:pt x="5486398" y="0"/>
                </a:lnTo>
                <a:cubicBezTo>
                  <a:pt x="5528483" y="0"/>
                  <a:pt x="5562600" y="34117"/>
                  <a:pt x="5562600" y="76202"/>
                </a:cubicBezTo>
                <a:lnTo>
                  <a:pt x="5562600" y="419098"/>
                </a:lnTo>
                <a:cubicBezTo>
                  <a:pt x="5562600" y="461183"/>
                  <a:pt x="5528483" y="495300"/>
                  <a:pt x="5486398" y="495300"/>
                </a:cubicBezTo>
                <a:lnTo>
                  <a:pt x="76202" y="495300"/>
                </a:lnTo>
                <a:cubicBezTo>
                  <a:pt x="34117" y="495300"/>
                  <a:pt x="0" y="461183"/>
                  <a:pt x="0" y="419098"/>
                </a:cubicBezTo>
                <a:lnTo>
                  <a:pt x="0" y="76202"/>
                </a:lnTo>
                <a:cubicBezTo>
                  <a:pt x="0" y="34117"/>
                  <a:pt x="34117" y="0"/>
                  <a:pt x="76202" y="0"/>
                </a:cubicBezTo>
                <a:close/>
              </a:path>
            </a:pathLst>
          </a:custGeom>
          <a:solidFill>
            <a:srgbClr val="F9FAFB"/>
          </a:solidFill>
        </p:spPr>
      </p:sp>
      <p:sp>
        <p:nvSpPr>
          <p:cNvPr id="15" name="Text 13"/>
          <p:cNvSpPr/>
          <p:nvPr>
            <p:custDataLst>
              <p:tags r:id="rId8"/>
            </p:custDataLst>
          </p:nvPr>
        </p:nvSpPr>
        <p:spPr>
          <a:xfrm>
            <a:off x="447580" y="4336763"/>
            <a:ext cx="1009650" cy="266700"/>
          </a:xfrm>
          <a:prstGeom prst="rect">
            <a:avLst/>
          </a:prstGeom>
          <a:noFill/>
        </p:spPr>
        <p:txBody>
          <a:bodyPr wrap="square" lIns="0" tIns="0" rIns="0" bIns="0" rtlCol="0" anchor="ctr"/>
          <a:lstStyle/>
          <a:p>
            <a:pPr algn="ctr">
              <a:lnSpc>
                <a:spcPct val="120000"/>
              </a:lnSpc>
            </a:pPr>
            <a:r>
              <a:rPr lang="en-US" sz="15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TB/s</a:t>
            </a:r>
            <a:endParaRPr lang="en-US" sz="1600" dirty="0"/>
          </a:p>
        </p:txBody>
      </p:sp>
      <p:sp>
        <p:nvSpPr>
          <p:cNvPr id="16" name="Text 14"/>
          <p:cNvSpPr/>
          <p:nvPr>
            <p:custDataLst>
              <p:tags r:id="rId9"/>
            </p:custDataLst>
          </p:nvPr>
        </p:nvSpPr>
        <p:spPr>
          <a:xfrm>
            <a:off x="1561955" y="4336763"/>
            <a:ext cx="2025307" cy="266700"/>
          </a:xfrm>
          <a:prstGeom prst="rect">
            <a:avLst/>
          </a:prstGeom>
          <a:noFill/>
        </p:spPr>
        <p:txBody>
          <a:bodyPr wrap="square" lIns="0" tIns="0" rIns="0" bIns="0" rtlCol="0" anchor="ctr"/>
          <a:lstStyle/>
          <a:p>
            <a:pPr>
              <a:lnSpc>
                <a:spcPct val="130000"/>
              </a:lnSpc>
            </a:pPr>
            <a:r>
              <a:rPr lang="en-US" sz="1350" dirty="0">
                <a:solidFill>
                  <a:srgbClr val="000000"/>
                </a:solidFill>
                <a:latin typeface="MiSans" pitchFamily="34" charset="0"/>
                <a:ea typeface="MiSans" pitchFamily="34" charset="-122"/>
                <a:cs typeface="MiSans" pitchFamily="34" charset="-120"/>
              </a:rPr>
              <a:t>Terabytes/second</a:t>
            </a:r>
            <a:endParaRPr lang="en-US" sz="1600" dirty="0"/>
          </a:p>
        </p:txBody>
      </p:sp>
      <p:sp>
        <p:nvSpPr>
          <p:cNvPr id="17" name="Text 15"/>
          <p:cNvSpPr/>
          <p:nvPr/>
        </p:nvSpPr>
        <p:spPr>
          <a:xfrm>
            <a:off x="380956" y="4743471"/>
            <a:ext cx="5676900" cy="3048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Use Cases</a:t>
            </a:r>
            <a:endParaRPr lang="en-US" sz="1600" dirty="0"/>
          </a:p>
        </p:txBody>
      </p:sp>
      <p:sp>
        <p:nvSpPr>
          <p:cNvPr id="18" name="Shape 16"/>
          <p:cNvSpPr/>
          <p:nvPr/>
        </p:nvSpPr>
        <p:spPr>
          <a:xfrm>
            <a:off x="380956" y="5200541"/>
            <a:ext cx="1752600" cy="933450"/>
          </a:xfrm>
          <a:custGeom>
            <a:avLst/>
            <a:gdLst/>
            <a:ahLst/>
            <a:cxnLst/>
            <a:rect l="l" t="t" r="r" b="b"/>
            <a:pathLst>
              <a:path w="1752600" h="933450">
                <a:moveTo>
                  <a:pt x="76198" y="0"/>
                </a:moveTo>
                <a:lnTo>
                  <a:pt x="1676402" y="0"/>
                </a:lnTo>
                <a:cubicBezTo>
                  <a:pt x="1718485" y="0"/>
                  <a:pt x="1752600" y="34115"/>
                  <a:pt x="1752600" y="76198"/>
                </a:cubicBezTo>
                <a:lnTo>
                  <a:pt x="1752600" y="857252"/>
                </a:lnTo>
                <a:cubicBezTo>
                  <a:pt x="1752600" y="899335"/>
                  <a:pt x="1718485" y="933450"/>
                  <a:pt x="1676402" y="933450"/>
                </a:cubicBezTo>
                <a:lnTo>
                  <a:pt x="76198" y="933450"/>
                </a:lnTo>
                <a:cubicBezTo>
                  <a:pt x="34115" y="933450"/>
                  <a:pt x="0" y="899335"/>
                  <a:pt x="0" y="857252"/>
                </a:cubicBezTo>
                <a:lnTo>
                  <a:pt x="0" y="76198"/>
                </a:lnTo>
                <a:cubicBezTo>
                  <a:pt x="0" y="34115"/>
                  <a:pt x="34115" y="0"/>
                  <a:pt x="76198" y="0"/>
                </a:cubicBezTo>
                <a:close/>
              </a:path>
            </a:pathLst>
          </a:custGeom>
          <a:solidFill>
            <a:srgbClr val="F9FAFB"/>
          </a:solidFill>
        </p:spPr>
      </p:sp>
      <p:sp>
        <p:nvSpPr>
          <p:cNvPr id="19" name="Shape 17"/>
          <p:cNvSpPr/>
          <p:nvPr/>
        </p:nvSpPr>
        <p:spPr>
          <a:xfrm>
            <a:off x="1116771" y="5352927"/>
            <a:ext cx="285750" cy="285750"/>
          </a:xfrm>
          <a:custGeom>
            <a:avLst/>
            <a:gdLst/>
            <a:ahLst/>
            <a:cxnLst/>
            <a:rect l="l" t="t" r="r" b="b"/>
            <a:pathLst>
              <a:path w="285750" h="285750">
                <a:moveTo>
                  <a:pt x="35719" y="35719"/>
                </a:moveTo>
                <a:cubicBezTo>
                  <a:pt x="16018" y="35719"/>
                  <a:pt x="0" y="51736"/>
                  <a:pt x="0" y="71438"/>
                </a:cubicBezTo>
                <a:lnTo>
                  <a:pt x="0" y="75567"/>
                </a:lnTo>
                <a:cubicBezTo>
                  <a:pt x="0" y="79363"/>
                  <a:pt x="2456" y="82600"/>
                  <a:pt x="5637" y="84665"/>
                </a:cubicBezTo>
                <a:cubicBezTo>
                  <a:pt x="13004" y="89464"/>
                  <a:pt x="17859" y="97724"/>
                  <a:pt x="17859" y="107156"/>
                </a:cubicBezTo>
                <a:cubicBezTo>
                  <a:pt x="17859" y="116588"/>
                  <a:pt x="13004" y="124848"/>
                  <a:pt x="5637" y="129648"/>
                </a:cubicBezTo>
                <a:cubicBezTo>
                  <a:pt x="2456" y="131713"/>
                  <a:pt x="0" y="134950"/>
                  <a:pt x="0" y="138745"/>
                </a:cubicBezTo>
                <a:lnTo>
                  <a:pt x="0" y="169664"/>
                </a:lnTo>
                <a:lnTo>
                  <a:pt x="285750" y="169664"/>
                </a:lnTo>
                <a:lnTo>
                  <a:pt x="285750" y="138745"/>
                </a:lnTo>
                <a:cubicBezTo>
                  <a:pt x="285750" y="134950"/>
                  <a:pt x="283294" y="131713"/>
                  <a:pt x="280113" y="129648"/>
                </a:cubicBezTo>
                <a:cubicBezTo>
                  <a:pt x="272746" y="124848"/>
                  <a:pt x="267891" y="116588"/>
                  <a:pt x="267891" y="107156"/>
                </a:cubicBezTo>
                <a:cubicBezTo>
                  <a:pt x="267891" y="97724"/>
                  <a:pt x="272746" y="89464"/>
                  <a:pt x="280113" y="84665"/>
                </a:cubicBezTo>
                <a:cubicBezTo>
                  <a:pt x="283294" y="82600"/>
                  <a:pt x="285750" y="79363"/>
                  <a:pt x="285750" y="75567"/>
                </a:cubicBezTo>
                <a:lnTo>
                  <a:pt x="285750" y="71437"/>
                </a:lnTo>
                <a:cubicBezTo>
                  <a:pt x="285750" y="51736"/>
                  <a:pt x="269732" y="35719"/>
                  <a:pt x="250031" y="35719"/>
                </a:cubicBezTo>
                <a:lnTo>
                  <a:pt x="35719" y="35719"/>
                </a:lnTo>
                <a:close/>
                <a:moveTo>
                  <a:pt x="285750" y="232172"/>
                </a:moveTo>
                <a:lnTo>
                  <a:pt x="285750" y="196453"/>
                </a:lnTo>
                <a:lnTo>
                  <a:pt x="0" y="196453"/>
                </a:lnTo>
                <a:lnTo>
                  <a:pt x="0" y="232172"/>
                </a:lnTo>
                <a:cubicBezTo>
                  <a:pt x="0" y="242050"/>
                  <a:pt x="7981" y="250031"/>
                  <a:pt x="17859" y="250031"/>
                </a:cubicBezTo>
                <a:lnTo>
                  <a:pt x="53578" y="250031"/>
                </a:lnTo>
                <a:lnTo>
                  <a:pt x="53578" y="236637"/>
                </a:lnTo>
                <a:cubicBezTo>
                  <a:pt x="53578" y="229214"/>
                  <a:pt x="59550" y="223242"/>
                  <a:pt x="66973" y="223242"/>
                </a:cubicBezTo>
                <a:cubicBezTo>
                  <a:pt x="74395" y="223242"/>
                  <a:pt x="80367" y="229214"/>
                  <a:pt x="80367" y="236637"/>
                </a:cubicBezTo>
                <a:lnTo>
                  <a:pt x="80367" y="250031"/>
                </a:lnTo>
                <a:lnTo>
                  <a:pt x="129480" y="250031"/>
                </a:lnTo>
                <a:lnTo>
                  <a:pt x="129480" y="236637"/>
                </a:lnTo>
                <a:cubicBezTo>
                  <a:pt x="129480" y="229214"/>
                  <a:pt x="135452" y="223242"/>
                  <a:pt x="142875" y="223242"/>
                </a:cubicBezTo>
                <a:cubicBezTo>
                  <a:pt x="150298" y="223242"/>
                  <a:pt x="156270" y="229214"/>
                  <a:pt x="156270" y="236637"/>
                </a:cubicBezTo>
                <a:lnTo>
                  <a:pt x="156270" y="250031"/>
                </a:lnTo>
                <a:lnTo>
                  <a:pt x="205383" y="250031"/>
                </a:lnTo>
                <a:lnTo>
                  <a:pt x="205383" y="236637"/>
                </a:lnTo>
                <a:cubicBezTo>
                  <a:pt x="205383" y="229214"/>
                  <a:pt x="211355" y="223242"/>
                  <a:pt x="218777" y="223242"/>
                </a:cubicBezTo>
                <a:cubicBezTo>
                  <a:pt x="226200" y="223242"/>
                  <a:pt x="232172" y="229214"/>
                  <a:pt x="232172" y="236637"/>
                </a:cubicBezTo>
                <a:lnTo>
                  <a:pt x="232172" y="250031"/>
                </a:lnTo>
                <a:lnTo>
                  <a:pt x="267891" y="250031"/>
                </a:lnTo>
                <a:cubicBezTo>
                  <a:pt x="277769" y="250031"/>
                  <a:pt x="285750" y="242050"/>
                  <a:pt x="285750" y="232172"/>
                </a:cubicBezTo>
                <a:close/>
                <a:moveTo>
                  <a:pt x="89297" y="89297"/>
                </a:moveTo>
                <a:lnTo>
                  <a:pt x="89297" y="125016"/>
                </a:lnTo>
                <a:cubicBezTo>
                  <a:pt x="89297" y="134894"/>
                  <a:pt x="81316" y="142875"/>
                  <a:pt x="71438" y="142875"/>
                </a:cubicBezTo>
                <a:cubicBezTo>
                  <a:pt x="61559" y="142875"/>
                  <a:pt x="53578" y="134894"/>
                  <a:pt x="53578" y="125016"/>
                </a:cubicBezTo>
                <a:lnTo>
                  <a:pt x="53578" y="89297"/>
                </a:lnTo>
                <a:cubicBezTo>
                  <a:pt x="53578" y="79418"/>
                  <a:pt x="61559" y="71438"/>
                  <a:pt x="71438" y="71438"/>
                </a:cubicBezTo>
                <a:cubicBezTo>
                  <a:pt x="81316" y="71438"/>
                  <a:pt x="89297" y="79418"/>
                  <a:pt x="89297" y="89297"/>
                </a:cubicBezTo>
                <a:close/>
                <a:moveTo>
                  <a:pt x="160734" y="89297"/>
                </a:moveTo>
                <a:lnTo>
                  <a:pt x="160734" y="125016"/>
                </a:lnTo>
                <a:cubicBezTo>
                  <a:pt x="160734" y="134894"/>
                  <a:pt x="152753" y="142875"/>
                  <a:pt x="142875" y="142875"/>
                </a:cubicBezTo>
                <a:cubicBezTo>
                  <a:pt x="132997" y="142875"/>
                  <a:pt x="125016" y="134894"/>
                  <a:pt x="125016" y="125016"/>
                </a:cubicBezTo>
                <a:lnTo>
                  <a:pt x="125016" y="89297"/>
                </a:lnTo>
                <a:cubicBezTo>
                  <a:pt x="125016" y="79418"/>
                  <a:pt x="132997" y="71438"/>
                  <a:pt x="142875" y="71438"/>
                </a:cubicBezTo>
                <a:cubicBezTo>
                  <a:pt x="152753" y="71438"/>
                  <a:pt x="160734" y="79418"/>
                  <a:pt x="160734" y="89297"/>
                </a:cubicBezTo>
                <a:close/>
                <a:moveTo>
                  <a:pt x="232172" y="89297"/>
                </a:moveTo>
                <a:lnTo>
                  <a:pt x="232172" y="125016"/>
                </a:lnTo>
                <a:cubicBezTo>
                  <a:pt x="232172" y="134894"/>
                  <a:pt x="224191" y="142875"/>
                  <a:pt x="214313" y="142875"/>
                </a:cubicBezTo>
                <a:cubicBezTo>
                  <a:pt x="204434" y="142875"/>
                  <a:pt x="196453" y="134894"/>
                  <a:pt x="196453" y="125016"/>
                </a:cubicBezTo>
                <a:lnTo>
                  <a:pt x="196453" y="89297"/>
                </a:lnTo>
                <a:cubicBezTo>
                  <a:pt x="196453" y="79418"/>
                  <a:pt x="204434" y="71438"/>
                  <a:pt x="214313" y="71438"/>
                </a:cubicBezTo>
                <a:cubicBezTo>
                  <a:pt x="224191" y="71438"/>
                  <a:pt x="232172" y="79418"/>
                  <a:pt x="232172" y="89297"/>
                </a:cubicBezTo>
                <a:close/>
              </a:path>
            </a:pathLst>
          </a:custGeom>
          <a:solidFill>
            <a:srgbClr val="8B0000"/>
          </a:solidFill>
        </p:spPr>
      </p:sp>
      <p:sp>
        <p:nvSpPr>
          <p:cNvPr id="20" name="Text 18"/>
          <p:cNvSpPr/>
          <p:nvPr/>
        </p:nvSpPr>
        <p:spPr>
          <a:xfrm>
            <a:off x="490475" y="5714849"/>
            <a:ext cx="1533525" cy="266700"/>
          </a:xfrm>
          <a:prstGeom prst="rect">
            <a:avLst/>
          </a:prstGeom>
          <a:noFill/>
        </p:spPr>
        <p:txBody>
          <a:bodyPr wrap="square" lIns="0" tIns="0" rIns="0" bIns="0" rtlCol="0" anchor="ctr"/>
          <a:lstStyle/>
          <a:p>
            <a:pPr algn="ctr">
              <a:lnSpc>
                <a:spcPct val="130000"/>
              </a:lnSpc>
            </a:pPr>
            <a:r>
              <a:rPr lang="en-US" sz="1350" b="1" dirty="0">
                <a:solidFill>
                  <a:srgbClr val="000000"/>
                </a:solidFill>
                <a:latin typeface="MiSans" pitchFamily="34" charset="0"/>
                <a:ea typeface="MiSans" pitchFamily="34" charset="-122"/>
                <a:cs typeface="MiSans" pitchFamily="34" charset="-120"/>
              </a:rPr>
              <a:t>Memory Bandwidth</a:t>
            </a:r>
            <a:endParaRPr lang="en-US" sz="1600" dirty="0"/>
          </a:p>
        </p:txBody>
      </p:sp>
      <p:sp>
        <p:nvSpPr>
          <p:cNvPr id="21" name="Shape 19"/>
          <p:cNvSpPr/>
          <p:nvPr/>
        </p:nvSpPr>
        <p:spPr>
          <a:xfrm>
            <a:off x="2285956" y="5200541"/>
            <a:ext cx="1752600" cy="933450"/>
          </a:xfrm>
          <a:custGeom>
            <a:avLst/>
            <a:gdLst/>
            <a:ahLst/>
            <a:cxnLst/>
            <a:rect l="l" t="t" r="r" b="b"/>
            <a:pathLst>
              <a:path w="1752600" h="933450">
                <a:moveTo>
                  <a:pt x="76198" y="0"/>
                </a:moveTo>
                <a:lnTo>
                  <a:pt x="1676402" y="0"/>
                </a:lnTo>
                <a:cubicBezTo>
                  <a:pt x="1718485" y="0"/>
                  <a:pt x="1752600" y="34115"/>
                  <a:pt x="1752600" y="76198"/>
                </a:cubicBezTo>
                <a:lnTo>
                  <a:pt x="1752600" y="857252"/>
                </a:lnTo>
                <a:cubicBezTo>
                  <a:pt x="1752600" y="899335"/>
                  <a:pt x="1718485" y="933450"/>
                  <a:pt x="1676402" y="933450"/>
                </a:cubicBezTo>
                <a:lnTo>
                  <a:pt x="76198" y="933450"/>
                </a:lnTo>
                <a:cubicBezTo>
                  <a:pt x="34115" y="933450"/>
                  <a:pt x="0" y="899335"/>
                  <a:pt x="0" y="857252"/>
                </a:cubicBezTo>
                <a:lnTo>
                  <a:pt x="0" y="76198"/>
                </a:lnTo>
                <a:cubicBezTo>
                  <a:pt x="0" y="34115"/>
                  <a:pt x="34115" y="0"/>
                  <a:pt x="76198" y="0"/>
                </a:cubicBezTo>
                <a:close/>
              </a:path>
            </a:pathLst>
          </a:custGeom>
          <a:solidFill>
            <a:srgbClr val="F9FAFB"/>
          </a:solidFill>
        </p:spPr>
      </p:sp>
      <p:sp>
        <p:nvSpPr>
          <p:cNvPr id="22" name="Shape 20"/>
          <p:cNvSpPr/>
          <p:nvPr/>
        </p:nvSpPr>
        <p:spPr>
          <a:xfrm>
            <a:off x="3039630" y="5352927"/>
            <a:ext cx="250031" cy="285750"/>
          </a:xfrm>
          <a:custGeom>
            <a:avLst/>
            <a:gdLst/>
            <a:ahLst/>
            <a:cxnLst/>
            <a:rect l="l" t="t" r="r" b="b"/>
            <a:pathLst>
              <a:path w="250031" h="285750">
                <a:moveTo>
                  <a:pt x="35719" y="17859"/>
                </a:moveTo>
                <a:cubicBezTo>
                  <a:pt x="16018" y="17859"/>
                  <a:pt x="0" y="33877"/>
                  <a:pt x="0" y="53578"/>
                </a:cubicBezTo>
                <a:lnTo>
                  <a:pt x="0" y="145163"/>
                </a:lnTo>
                <a:cubicBezTo>
                  <a:pt x="10102" y="138075"/>
                  <a:pt x="22436" y="133945"/>
                  <a:pt x="35719" y="133945"/>
                </a:cubicBezTo>
                <a:lnTo>
                  <a:pt x="214313" y="133945"/>
                </a:lnTo>
                <a:cubicBezTo>
                  <a:pt x="227595" y="133945"/>
                  <a:pt x="239930" y="138075"/>
                  <a:pt x="250031" y="145163"/>
                </a:cubicBezTo>
                <a:lnTo>
                  <a:pt x="250031" y="53578"/>
                </a:lnTo>
                <a:cubicBezTo>
                  <a:pt x="250031" y="33877"/>
                  <a:pt x="234014" y="17859"/>
                  <a:pt x="214313" y="17859"/>
                </a:cubicBezTo>
                <a:lnTo>
                  <a:pt x="35719" y="17859"/>
                </a:lnTo>
                <a:close/>
                <a:moveTo>
                  <a:pt x="250031" y="196453"/>
                </a:moveTo>
                <a:cubicBezTo>
                  <a:pt x="250031" y="176752"/>
                  <a:pt x="234014" y="160734"/>
                  <a:pt x="214313" y="160734"/>
                </a:cubicBezTo>
                <a:lnTo>
                  <a:pt x="35719" y="160734"/>
                </a:lnTo>
                <a:cubicBezTo>
                  <a:pt x="16018" y="160734"/>
                  <a:pt x="0" y="176752"/>
                  <a:pt x="0" y="196453"/>
                </a:cubicBezTo>
                <a:lnTo>
                  <a:pt x="0" y="232172"/>
                </a:lnTo>
                <a:cubicBezTo>
                  <a:pt x="0" y="251873"/>
                  <a:pt x="16018" y="267891"/>
                  <a:pt x="35719" y="267891"/>
                </a:cubicBezTo>
                <a:lnTo>
                  <a:pt x="214313" y="267891"/>
                </a:lnTo>
                <a:cubicBezTo>
                  <a:pt x="234014" y="267891"/>
                  <a:pt x="250031" y="251873"/>
                  <a:pt x="250031" y="232172"/>
                </a:cubicBezTo>
                <a:lnTo>
                  <a:pt x="250031" y="196453"/>
                </a:lnTo>
                <a:close/>
                <a:moveTo>
                  <a:pt x="125016" y="214313"/>
                </a:moveTo>
                <a:cubicBezTo>
                  <a:pt x="125016" y="204456"/>
                  <a:pt x="133018" y="196453"/>
                  <a:pt x="142875" y="196453"/>
                </a:cubicBezTo>
                <a:cubicBezTo>
                  <a:pt x="152732" y="196453"/>
                  <a:pt x="160734" y="204456"/>
                  <a:pt x="160734" y="214313"/>
                </a:cubicBezTo>
                <a:cubicBezTo>
                  <a:pt x="160734" y="224169"/>
                  <a:pt x="152732" y="232172"/>
                  <a:pt x="142875" y="232172"/>
                </a:cubicBezTo>
                <a:cubicBezTo>
                  <a:pt x="133018" y="232172"/>
                  <a:pt x="125016" y="224169"/>
                  <a:pt x="125016" y="214313"/>
                </a:cubicBezTo>
                <a:close/>
                <a:moveTo>
                  <a:pt x="196453" y="196453"/>
                </a:moveTo>
                <a:cubicBezTo>
                  <a:pt x="206310" y="196453"/>
                  <a:pt x="214313" y="204456"/>
                  <a:pt x="214313" y="214313"/>
                </a:cubicBezTo>
                <a:cubicBezTo>
                  <a:pt x="214313" y="224169"/>
                  <a:pt x="206310" y="232172"/>
                  <a:pt x="196453" y="232172"/>
                </a:cubicBezTo>
                <a:cubicBezTo>
                  <a:pt x="186596" y="232172"/>
                  <a:pt x="178594" y="224169"/>
                  <a:pt x="178594" y="214313"/>
                </a:cubicBezTo>
                <a:cubicBezTo>
                  <a:pt x="178594" y="204456"/>
                  <a:pt x="186596" y="196453"/>
                  <a:pt x="196453" y="196453"/>
                </a:cubicBezTo>
                <a:close/>
              </a:path>
            </a:pathLst>
          </a:custGeom>
          <a:solidFill>
            <a:srgbClr val="8B0000"/>
          </a:solidFill>
        </p:spPr>
      </p:sp>
      <p:sp>
        <p:nvSpPr>
          <p:cNvPr id="23" name="Text 21"/>
          <p:cNvSpPr/>
          <p:nvPr/>
        </p:nvSpPr>
        <p:spPr>
          <a:xfrm>
            <a:off x="2395475" y="5714849"/>
            <a:ext cx="1533525" cy="266700"/>
          </a:xfrm>
          <a:prstGeom prst="rect">
            <a:avLst/>
          </a:prstGeom>
          <a:noFill/>
        </p:spPr>
        <p:txBody>
          <a:bodyPr wrap="square" lIns="0" tIns="0" rIns="0" bIns="0" rtlCol="0" anchor="ctr"/>
          <a:lstStyle/>
          <a:p>
            <a:pPr algn="ctr">
              <a:lnSpc>
                <a:spcPct val="130000"/>
              </a:lnSpc>
            </a:pPr>
            <a:r>
              <a:rPr lang="en-US" sz="1350" b="1" dirty="0">
                <a:solidFill>
                  <a:srgbClr val="000000"/>
                </a:solidFill>
                <a:latin typeface="MiSans" pitchFamily="34" charset="0"/>
                <a:ea typeface="MiSans" pitchFamily="34" charset="-122"/>
                <a:cs typeface="MiSans" pitchFamily="34" charset="-120"/>
              </a:rPr>
              <a:t>Disk Bandwidth</a:t>
            </a:r>
            <a:endParaRPr lang="en-US" sz="1600" dirty="0"/>
          </a:p>
        </p:txBody>
      </p:sp>
      <p:sp>
        <p:nvSpPr>
          <p:cNvPr id="24" name="Shape 22"/>
          <p:cNvSpPr/>
          <p:nvPr/>
        </p:nvSpPr>
        <p:spPr>
          <a:xfrm>
            <a:off x="4190956" y="5200541"/>
            <a:ext cx="1752600" cy="933450"/>
          </a:xfrm>
          <a:custGeom>
            <a:avLst/>
            <a:gdLst/>
            <a:ahLst/>
            <a:cxnLst/>
            <a:rect l="l" t="t" r="r" b="b"/>
            <a:pathLst>
              <a:path w="1752600" h="933450">
                <a:moveTo>
                  <a:pt x="76198" y="0"/>
                </a:moveTo>
                <a:lnTo>
                  <a:pt x="1676402" y="0"/>
                </a:lnTo>
                <a:cubicBezTo>
                  <a:pt x="1718485" y="0"/>
                  <a:pt x="1752600" y="34115"/>
                  <a:pt x="1752600" y="76198"/>
                </a:cubicBezTo>
                <a:lnTo>
                  <a:pt x="1752600" y="857252"/>
                </a:lnTo>
                <a:cubicBezTo>
                  <a:pt x="1752600" y="899335"/>
                  <a:pt x="1718485" y="933450"/>
                  <a:pt x="1676402" y="933450"/>
                </a:cubicBezTo>
                <a:lnTo>
                  <a:pt x="76198" y="933450"/>
                </a:lnTo>
                <a:cubicBezTo>
                  <a:pt x="34115" y="933450"/>
                  <a:pt x="0" y="899335"/>
                  <a:pt x="0" y="857252"/>
                </a:cubicBezTo>
                <a:lnTo>
                  <a:pt x="0" y="76198"/>
                </a:lnTo>
                <a:cubicBezTo>
                  <a:pt x="0" y="34115"/>
                  <a:pt x="34115" y="0"/>
                  <a:pt x="76198" y="0"/>
                </a:cubicBezTo>
                <a:close/>
              </a:path>
            </a:pathLst>
          </a:custGeom>
          <a:solidFill>
            <a:srgbClr val="F9FAFB"/>
          </a:solidFill>
        </p:spPr>
      </p:sp>
      <p:sp>
        <p:nvSpPr>
          <p:cNvPr id="25" name="Shape 23"/>
          <p:cNvSpPr/>
          <p:nvPr/>
        </p:nvSpPr>
        <p:spPr>
          <a:xfrm>
            <a:off x="4908911" y="5352927"/>
            <a:ext cx="321469" cy="285750"/>
          </a:xfrm>
          <a:custGeom>
            <a:avLst/>
            <a:gdLst/>
            <a:ahLst/>
            <a:cxnLst/>
            <a:rect l="l" t="t" r="r" b="b"/>
            <a:pathLst>
              <a:path w="321469" h="285750">
                <a:moveTo>
                  <a:pt x="138410" y="49113"/>
                </a:moveTo>
                <a:lnTo>
                  <a:pt x="183059" y="49113"/>
                </a:lnTo>
                <a:lnTo>
                  <a:pt x="183059" y="75902"/>
                </a:lnTo>
                <a:lnTo>
                  <a:pt x="138410" y="75902"/>
                </a:lnTo>
                <a:lnTo>
                  <a:pt x="138410" y="49113"/>
                </a:lnTo>
                <a:close/>
                <a:moveTo>
                  <a:pt x="133945" y="17859"/>
                </a:moveTo>
                <a:cubicBezTo>
                  <a:pt x="119156" y="17859"/>
                  <a:pt x="107156" y="29859"/>
                  <a:pt x="107156" y="44648"/>
                </a:cubicBezTo>
                <a:lnTo>
                  <a:pt x="107156" y="80367"/>
                </a:lnTo>
                <a:cubicBezTo>
                  <a:pt x="107156" y="95157"/>
                  <a:pt x="119156" y="107156"/>
                  <a:pt x="133945" y="107156"/>
                </a:cubicBezTo>
                <a:lnTo>
                  <a:pt x="142875" y="107156"/>
                </a:lnTo>
                <a:lnTo>
                  <a:pt x="142875" y="125016"/>
                </a:lnTo>
                <a:lnTo>
                  <a:pt x="17859" y="125016"/>
                </a:lnTo>
                <a:cubicBezTo>
                  <a:pt x="7981" y="125016"/>
                  <a:pt x="0" y="132997"/>
                  <a:pt x="0" y="142875"/>
                </a:cubicBezTo>
                <a:cubicBezTo>
                  <a:pt x="0" y="152753"/>
                  <a:pt x="7981" y="160734"/>
                  <a:pt x="17859" y="160734"/>
                </a:cubicBezTo>
                <a:lnTo>
                  <a:pt x="71438" y="160734"/>
                </a:lnTo>
                <a:lnTo>
                  <a:pt x="71438" y="178594"/>
                </a:lnTo>
                <a:lnTo>
                  <a:pt x="62508" y="178594"/>
                </a:lnTo>
                <a:cubicBezTo>
                  <a:pt x="47718" y="178594"/>
                  <a:pt x="35719" y="190593"/>
                  <a:pt x="35719" y="205383"/>
                </a:cubicBezTo>
                <a:lnTo>
                  <a:pt x="35719" y="241102"/>
                </a:lnTo>
                <a:cubicBezTo>
                  <a:pt x="35719" y="255891"/>
                  <a:pt x="47718" y="267891"/>
                  <a:pt x="62508" y="267891"/>
                </a:cubicBezTo>
                <a:lnTo>
                  <a:pt x="116086" y="267891"/>
                </a:lnTo>
                <a:cubicBezTo>
                  <a:pt x="130876" y="267891"/>
                  <a:pt x="142875" y="255891"/>
                  <a:pt x="142875" y="241102"/>
                </a:cubicBezTo>
                <a:lnTo>
                  <a:pt x="142875" y="205383"/>
                </a:lnTo>
                <a:cubicBezTo>
                  <a:pt x="142875" y="190593"/>
                  <a:pt x="130876" y="178594"/>
                  <a:pt x="116086" y="178594"/>
                </a:cubicBezTo>
                <a:lnTo>
                  <a:pt x="107156" y="178594"/>
                </a:lnTo>
                <a:lnTo>
                  <a:pt x="107156" y="160734"/>
                </a:lnTo>
                <a:lnTo>
                  <a:pt x="214313" y="160734"/>
                </a:lnTo>
                <a:lnTo>
                  <a:pt x="214313" y="178594"/>
                </a:lnTo>
                <a:lnTo>
                  <a:pt x="205383" y="178594"/>
                </a:lnTo>
                <a:cubicBezTo>
                  <a:pt x="190593" y="178594"/>
                  <a:pt x="178594" y="190593"/>
                  <a:pt x="178594" y="205383"/>
                </a:cubicBezTo>
                <a:lnTo>
                  <a:pt x="178594" y="241102"/>
                </a:lnTo>
                <a:cubicBezTo>
                  <a:pt x="178594" y="255891"/>
                  <a:pt x="190593" y="267891"/>
                  <a:pt x="205383" y="267891"/>
                </a:cubicBezTo>
                <a:lnTo>
                  <a:pt x="258961" y="267891"/>
                </a:lnTo>
                <a:cubicBezTo>
                  <a:pt x="273751" y="267891"/>
                  <a:pt x="285750" y="255891"/>
                  <a:pt x="285750" y="241102"/>
                </a:cubicBezTo>
                <a:lnTo>
                  <a:pt x="285750" y="205383"/>
                </a:lnTo>
                <a:cubicBezTo>
                  <a:pt x="285750" y="190593"/>
                  <a:pt x="273751" y="178594"/>
                  <a:pt x="258961" y="178594"/>
                </a:cubicBezTo>
                <a:lnTo>
                  <a:pt x="250031" y="178594"/>
                </a:lnTo>
                <a:lnTo>
                  <a:pt x="250031" y="160734"/>
                </a:lnTo>
                <a:lnTo>
                  <a:pt x="303609" y="160734"/>
                </a:lnTo>
                <a:cubicBezTo>
                  <a:pt x="313488" y="160734"/>
                  <a:pt x="321469" y="152753"/>
                  <a:pt x="321469" y="142875"/>
                </a:cubicBezTo>
                <a:cubicBezTo>
                  <a:pt x="321469" y="132997"/>
                  <a:pt x="313488" y="125016"/>
                  <a:pt x="303609" y="125016"/>
                </a:cubicBezTo>
                <a:lnTo>
                  <a:pt x="178594" y="125016"/>
                </a:lnTo>
                <a:lnTo>
                  <a:pt x="178594" y="107156"/>
                </a:lnTo>
                <a:lnTo>
                  <a:pt x="187523" y="107156"/>
                </a:lnTo>
                <a:cubicBezTo>
                  <a:pt x="202313" y="107156"/>
                  <a:pt x="214313" y="95157"/>
                  <a:pt x="214313" y="80367"/>
                </a:cubicBezTo>
                <a:lnTo>
                  <a:pt x="214313" y="44648"/>
                </a:lnTo>
                <a:cubicBezTo>
                  <a:pt x="214313" y="29859"/>
                  <a:pt x="202313" y="17859"/>
                  <a:pt x="187523" y="17859"/>
                </a:cubicBezTo>
                <a:lnTo>
                  <a:pt x="133945" y="17859"/>
                </a:lnTo>
                <a:close/>
                <a:moveTo>
                  <a:pt x="250031" y="209848"/>
                </a:moveTo>
                <a:lnTo>
                  <a:pt x="254496" y="209848"/>
                </a:lnTo>
                <a:lnTo>
                  <a:pt x="254496" y="236637"/>
                </a:lnTo>
                <a:lnTo>
                  <a:pt x="209848" y="236637"/>
                </a:lnTo>
                <a:lnTo>
                  <a:pt x="209848" y="209848"/>
                </a:lnTo>
                <a:lnTo>
                  <a:pt x="250031" y="209848"/>
                </a:lnTo>
                <a:close/>
                <a:moveTo>
                  <a:pt x="107156" y="209848"/>
                </a:moveTo>
                <a:lnTo>
                  <a:pt x="111621" y="209848"/>
                </a:lnTo>
                <a:lnTo>
                  <a:pt x="111621" y="236637"/>
                </a:lnTo>
                <a:lnTo>
                  <a:pt x="66973" y="236637"/>
                </a:lnTo>
                <a:lnTo>
                  <a:pt x="66973" y="209848"/>
                </a:lnTo>
                <a:lnTo>
                  <a:pt x="107156" y="209848"/>
                </a:lnTo>
                <a:close/>
              </a:path>
            </a:pathLst>
          </a:custGeom>
          <a:solidFill>
            <a:srgbClr val="8B0000"/>
          </a:solidFill>
        </p:spPr>
      </p:sp>
      <p:sp>
        <p:nvSpPr>
          <p:cNvPr id="26" name="Text 24"/>
          <p:cNvSpPr/>
          <p:nvPr/>
        </p:nvSpPr>
        <p:spPr>
          <a:xfrm>
            <a:off x="4300475" y="5714849"/>
            <a:ext cx="1533525" cy="266700"/>
          </a:xfrm>
          <a:prstGeom prst="rect">
            <a:avLst/>
          </a:prstGeom>
          <a:noFill/>
        </p:spPr>
        <p:txBody>
          <a:bodyPr wrap="square" lIns="0" tIns="0" rIns="0" bIns="0" rtlCol="0" anchor="ctr"/>
          <a:lstStyle/>
          <a:p>
            <a:pPr algn="ctr">
              <a:lnSpc>
                <a:spcPct val="130000"/>
              </a:lnSpc>
            </a:pPr>
            <a:r>
              <a:rPr lang="en-US" sz="1350" b="1" dirty="0">
                <a:solidFill>
                  <a:srgbClr val="000000"/>
                </a:solidFill>
                <a:latin typeface="MiSans" pitchFamily="34" charset="0"/>
                <a:ea typeface="MiSans" pitchFamily="34" charset="-122"/>
                <a:cs typeface="MiSans" pitchFamily="34" charset="-120"/>
              </a:rPr>
              <a:t>Network Bandwidth</a:t>
            </a:r>
            <a:endParaRPr lang="en-US" sz="1600" dirty="0"/>
          </a:p>
        </p:txBody>
      </p:sp>
      <p:sp>
        <p:nvSpPr>
          <p:cNvPr id="27" name="Shape 25"/>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solidFill>
        </p:spPr>
      </p:sp>
      <p:pic>
        <p:nvPicPr>
          <p:cNvPr id="28" name="Image 0" descr="https://kimi-web-img.moonshot.cn/img/www.forrestthewoods.com/c2d7e88d48512000add216340cdf0c814378d30b.png"/>
          <p:cNvPicPr>
            <a:picLocks noChangeAspect="1"/>
          </p:cNvPicPr>
          <p:nvPr/>
        </p:nvPicPr>
        <p:blipFill>
          <a:blip r:embed="rId10"/>
          <a:srcRect t="49" b="49"/>
          <a:stretch>
            <a:fillRect/>
          </a:stretch>
        </p:blipFill>
        <p:spPr>
          <a:xfrm>
            <a:off x="6859270" y="1213485"/>
            <a:ext cx="4177665" cy="2255520"/>
          </a:xfrm>
          <a:prstGeom prst="roundRect">
            <a:avLst>
              <a:gd name="adj" fmla="val 0"/>
            </a:avLst>
          </a:prstGeom>
        </p:spPr>
      </p:pic>
      <p:sp>
        <p:nvSpPr>
          <p:cNvPr id="29" name="Text 26"/>
          <p:cNvSpPr/>
          <p:nvPr/>
        </p:nvSpPr>
        <p:spPr>
          <a:xfrm>
            <a:off x="6248338" y="6210167"/>
            <a:ext cx="5638800" cy="228600"/>
          </a:xfrm>
          <a:prstGeom prst="rect">
            <a:avLst/>
          </a:prstGeom>
          <a:noFill/>
        </p:spPr>
        <p:txBody>
          <a:bodyPr wrap="square" lIns="0" tIns="0" rIns="0" bIns="0" rtlCol="0" anchor="ctr"/>
          <a:lstStyle/>
          <a:p>
            <a:pPr algn="ctr">
              <a:lnSpc>
                <a:spcPct val="130000"/>
              </a:lnSpc>
            </a:pPr>
            <a:r>
              <a:rPr lang="en-US" sz="1200" dirty="0">
                <a:solidFill>
                  <a:srgbClr val="6A7282"/>
                </a:solidFill>
                <a:latin typeface="MiSans" pitchFamily="34" charset="0"/>
                <a:ea typeface="MiSans" pitchFamily="34" charset="-122"/>
                <a:cs typeface="MiSans" pitchFamily="34" charset="-120"/>
              </a:rPr>
              <a:t>Image source: ForrestTheWoods - Memory Bandwidth,</a:t>
            </a:r>
            <a:endParaRPr lang="en-US" sz="1200" dirty="0">
              <a:solidFill>
                <a:srgbClr val="6A7282"/>
              </a:solidFill>
              <a:latin typeface="MiSans" pitchFamily="34" charset="0"/>
              <a:ea typeface="MiSans" pitchFamily="34" charset="-122"/>
              <a:cs typeface="MiSans" pitchFamily="34" charset="-120"/>
            </a:endParaRPr>
          </a:p>
          <a:p>
            <a:pPr algn="ctr">
              <a:lnSpc>
                <a:spcPct val="130000"/>
              </a:lnSpc>
            </a:pPr>
            <a:r>
              <a:rPr lang="en-US" sz="1600" dirty="0">
                <a:solidFill>
                  <a:srgbClr val="6A7282"/>
                </a:solidFill>
                <a:latin typeface="MiSans" pitchFamily="34" charset="0"/>
                <a:ea typeface="MiSans" pitchFamily="34" charset="-122"/>
                <a:cs typeface="MiSans" pitchFamily="34" charset="-120"/>
                <a:sym typeface="+mn-ea"/>
              </a:rPr>
              <a:t>University of Pittsburgh - Memory Controller</a:t>
            </a:r>
            <a:endParaRPr lang="en-US" sz="1600" dirty="0"/>
          </a:p>
          <a:p>
            <a:pPr algn="ctr">
              <a:lnSpc>
                <a:spcPct val="130000"/>
              </a:lnSpc>
            </a:pPr>
            <a:endParaRPr lang="en-US" sz="1600" dirty="0"/>
          </a:p>
        </p:txBody>
      </p:sp>
      <p:sp>
        <p:nvSpPr>
          <p:cNvPr id="30" name="灯片编号占位符 29"/>
          <p:cNvSpPr>
            <a:spLocks noGrp="1"/>
          </p:cNvSpPr>
          <p:nvPr>
            <p:ph type="sldNum" sz="quarter" idx="11"/>
          </p:nvPr>
        </p:nvSpPr>
        <p:spPr/>
        <p:txBody>
          <a:bodyPr/>
          <a:lstStyle/>
          <a:p>
            <a:fld id="{B33F7469-D28B-482F-B1B6-3B8E7CF51519}" type="slidenum">
              <a:rPr lang="zh-CN" altLang="en-US" smtClean="0"/>
            </a:fld>
            <a:endParaRPr lang="zh-CN" altLang="en-US" dirty="0"/>
          </a:p>
        </p:txBody>
      </p:sp>
      <p:pic>
        <p:nvPicPr>
          <p:cNvPr id="31" name="Image 0" descr="https://kimi-web-img.moonshot.cn/img/people.cs.pitt.edu/04a0e17b3d272c4139eb62b6bffacfa02d7b9228.jpg"/>
          <p:cNvPicPr>
            <a:picLocks noChangeAspect="1"/>
          </p:cNvPicPr>
          <p:nvPr/>
        </p:nvPicPr>
        <p:blipFill>
          <a:blip r:embed="rId11"/>
          <a:srcRect/>
          <a:stretch>
            <a:fillRect/>
          </a:stretch>
        </p:blipFill>
        <p:spPr>
          <a:xfrm>
            <a:off x="7065351" y="3698474"/>
            <a:ext cx="4257675" cy="1933575"/>
          </a:xfrm>
          <a:prstGeom prst="roundRect">
            <a:avLst>
              <a:gd name="adj" fmla="val 0"/>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1424" y="609484"/>
            <a:ext cx="11601450" cy="381000"/>
          </a:xfrm>
          <a:prstGeom prst="rect">
            <a:avLst/>
          </a:prstGeom>
          <a:noFill/>
        </p:spPr>
        <p:txBody>
          <a:bodyPr wrap="square" lIns="0" tIns="0" rIns="0" bIns="0" rtlCol="0" anchor="ctr"/>
          <a:lstStyle/>
          <a:p>
            <a:pPr>
              <a:lnSpc>
                <a:spcPct val="90000"/>
              </a:lnSpc>
            </a:pPr>
            <a:r>
              <a:rPr lang="en-US" sz="27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What is Latency?</a:t>
            </a:r>
            <a:endParaRPr lang="en-US" sz="1600" dirty="0"/>
          </a:p>
        </p:txBody>
      </p:sp>
      <p:sp>
        <p:nvSpPr>
          <p:cNvPr id="3" name="Shape 1"/>
          <p:cNvSpPr/>
          <p:nvPr/>
        </p:nvSpPr>
        <p:spPr>
          <a:xfrm>
            <a:off x="399911" y="1178058"/>
            <a:ext cx="5543455" cy="1104900"/>
          </a:xfrm>
          <a:custGeom>
            <a:avLst/>
            <a:gdLst/>
            <a:ahLst/>
            <a:cxnLst/>
            <a:rect l="l" t="t" r="r" b="b"/>
            <a:pathLst>
              <a:path w="5543455" h="1104900">
                <a:moveTo>
                  <a:pt x="37910" y="0"/>
                </a:moveTo>
                <a:lnTo>
                  <a:pt x="5429153" y="0"/>
                </a:lnTo>
                <a:cubicBezTo>
                  <a:pt x="5492281" y="0"/>
                  <a:pt x="5543455" y="51175"/>
                  <a:pt x="5543455" y="114302"/>
                </a:cubicBezTo>
                <a:lnTo>
                  <a:pt x="5543455" y="990598"/>
                </a:lnTo>
                <a:cubicBezTo>
                  <a:pt x="5543455" y="1053725"/>
                  <a:pt x="5492281" y="1104900"/>
                  <a:pt x="5429153" y="1104900"/>
                </a:cubicBezTo>
                <a:lnTo>
                  <a:pt x="37910" y="1104900"/>
                </a:lnTo>
                <a:cubicBezTo>
                  <a:pt x="16973" y="1104900"/>
                  <a:pt x="0" y="1087927"/>
                  <a:pt x="0" y="1066990"/>
                </a:cubicBezTo>
                <a:lnTo>
                  <a:pt x="0" y="37910"/>
                </a:lnTo>
                <a:cubicBezTo>
                  <a:pt x="0" y="16987"/>
                  <a:pt x="16987" y="0"/>
                  <a:pt x="37910" y="0"/>
                </a:cubicBezTo>
                <a:close/>
              </a:path>
            </a:pathLst>
          </a:custGeom>
          <a:solidFill>
            <a:srgbClr val="8B0000">
              <a:alpha val="10196"/>
            </a:srgbClr>
          </a:solidFill>
        </p:spPr>
      </p:sp>
      <p:sp>
        <p:nvSpPr>
          <p:cNvPr id="4" name="Shape 2"/>
          <p:cNvSpPr/>
          <p:nvPr/>
        </p:nvSpPr>
        <p:spPr>
          <a:xfrm>
            <a:off x="399911" y="1178058"/>
            <a:ext cx="37910" cy="1104900"/>
          </a:xfrm>
          <a:custGeom>
            <a:avLst/>
            <a:gdLst/>
            <a:ahLst/>
            <a:cxnLst/>
            <a:rect l="l" t="t" r="r" b="b"/>
            <a:pathLst>
              <a:path w="37910" h="1104900">
                <a:moveTo>
                  <a:pt x="37910" y="0"/>
                </a:moveTo>
                <a:lnTo>
                  <a:pt x="37910" y="0"/>
                </a:lnTo>
                <a:lnTo>
                  <a:pt x="37910" y="1104900"/>
                </a:lnTo>
                <a:lnTo>
                  <a:pt x="37910" y="1104900"/>
                </a:lnTo>
                <a:cubicBezTo>
                  <a:pt x="16973" y="1104900"/>
                  <a:pt x="0" y="1087927"/>
                  <a:pt x="0" y="1066990"/>
                </a:cubicBezTo>
                <a:lnTo>
                  <a:pt x="0" y="37910"/>
                </a:lnTo>
                <a:cubicBezTo>
                  <a:pt x="0" y="16987"/>
                  <a:pt x="16987" y="0"/>
                  <a:pt x="37910" y="0"/>
                </a:cubicBezTo>
                <a:close/>
              </a:path>
            </a:pathLst>
          </a:custGeom>
          <a:solidFill>
            <a:srgbClr val="8B0000"/>
          </a:solidFill>
        </p:spPr>
      </p:sp>
      <p:sp>
        <p:nvSpPr>
          <p:cNvPr id="5" name="Text 3"/>
          <p:cNvSpPr/>
          <p:nvPr/>
        </p:nvSpPr>
        <p:spPr>
          <a:xfrm>
            <a:off x="647439" y="1406630"/>
            <a:ext cx="5181600" cy="3048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Latency</a:t>
            </a:r>
            <a:endParaRPr lang="en-US" sz="1600" dirty="0"/>
          </a:p>
        </p:txBody>
      </p:sp>
      <p:sp>
        <p:nvSpPr>
          <p:cNvPr id="6" name="Text 4"/>
          <p:cNvSpPr/>
          <p:nvPr/>
        </p:nvSpPr>
        <p:spPr>
          <a:xfrm>
            <a:off x="647439" y="1787514"/>
            <a:ext cx="5162550" cy="266700"/>
          </a:xfrm>
          <a:prstGeom prst="rect">
            <a:avLst/>
          </a:prstGeom>
          <a:noFill/>
        </p:spPr>
        <p:txBody>
          <a:bodyPr wrap="square" lIns="0" tIns="0" rIns="0" bIns="0" rtlCol="0" anchor="ctr"/>
          <a:lstStyle/>
          <a:p>
            <a:pPr>
              <a:lnSpc>
                <a:spcPct val="120000"/>
              </a:lnSpc>
            </a:pPr>
            <a:r>
              <a:rPr lang="en-US" sz="1500" dirty="0">
                <a:solidFill>
                  <a:srgbClr val="364153"/>
                </a:solidFill>
                <a:latin typeface="Noto Sans SC" panose="020B0200000000000000" pitchFamily="34" charset="-122"/>
                <a:ea typeface="Noto Sans SC" panose="020B0200000000000000" pitchFamily="34" charset="-122"/>
                <a:cs typeface="Noto Sans SC" panose="020B0200000000000000" pitchFamily="34" charset="-120"/>
              </a:rPr>
              <a:t>Represents the time required to complete one operation</a:t>
            </a:r>
            <a:endParaRPr lang="en-US" sz="1600" dirty="0"/>
          </a:p>
        </p:txBody>
      </p:sp>
      <p:sp>
        <p:nvSpPr>
          <p:cNvPr id="7" name="Text 5"/>
          <p:cNvSpPr/>
          <p:nvPr/>
        </p:nvSpPr>
        <p:spPr>
          <a:xfrm>
            <a:off x="380956" y="2323788"/>
            <a:ext cx="5676900" cy="3048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Typical Scenarios</a:t>
            </a:r>
            <a:endParaRPr lang="en-US" sz="1600" dirty="0"/>
          </a:p>
        </p:txBody>
      </p:sp>
      <p:sp>
        <p:nvSpPr>
          <p:cNvPr id="8" name="Shape 6"/>
          <p:cNvSpPr/>
          <p:nvPr/>
        </p:nvSpPr>
        <p:spPr>
          <a:xfrm>
            <a:off x="380956" y="2780863"/>
            <a:ext cx="5562600" cy="495300"/>
          </a:xfrm>
          <a:custGeom>
            <a:avLst/>
            <a:gdLst/>
            <a:ahLst/>
            <a:cxnLst/>
            <a:rect l="l" t="t" r="r" b="b"/>
            <a:pathLst>
              <a:path w="5562600" h="495300">
                <a:moveTo>
                  <a:pt x="76202" y="0"/>
                </a:moveTo>
                <a:lnTo>
                  <a:pt x="5486398" y="0"/>
                </a:lnTo>
                <a:cubicBezTo>
                  <a:pt x="5528483" y="0"/>
                  <a:pt x="5562600" y="34117"/>
                  <a:pt x="5562600" y="76202"/>
                </a:cubicBezTo>
                <a:lnTo>
                  <a:pt x="5562600" y="419098"/>
                </a:lnTo>
                <a:cubicBezTo>
                  <a:pt x="5562600" y="461183"/>
                  <a:pt x="5528483" y="495300"/>
                  <a:pt x="5486398" y="495300"/>
                </a:cubicBezTo>
                <a:lnTo>
                  <a:pt x="76202" y="495300"/>
                </a:lnTo>
                <a:cubicBezTo>
                  <a:pt x="34117" y="495300"/>
                  <a:pt x="0" y="461183"/>
                  <a:pt x="0" y="419098"/>
                </a:cubicBezTo>
                <a:lnTo>
                  <a:pt x="0" y="76202"/>
                </a:lnTo>
                <a:cubicBezTo>
                  <a:pt x="0" y="34117"/>
                  <a:pt x="34117" y="0"/>
                  <a:pt x="76202" y="0"/>
                </a:cubicBezTo>
                <a:close/>
              </a:path>
            </a:pathLst>
          </a:custGeom>
          <a:solidFill>
            <a:srgbClr val="F9FAFB"/>
          </a:solidFill>
        </p:spPr>
      </p:sp>
      <p:sp>
        <p:nvSpPr>
          <p:cNvPr id="9" name="Shape 7"/>
          <p:cNvSpPr/>
          <p:nvPr/>
        </p:nvSpPr>
        <p:spPr>
          <a:xfrm>
            <a:off x="519018" y="2933170"/>
            <a:ext cx="190500" cy="190500"/>
          </a:xfrm>
          <a:custGeom>
            <a:avLst/>
            <a:gdLst/>
            <a:ahLst/>
            <a:cxnLst/>
            <a:rect l="l" t="t" r="r" b="b"/>
            <a:pathLst>
              <a:path w="190500" h="190500">
                <a:moveTo>
                  <a:pt x="23812" y="23812"/>
                </a:moveTo>
                <a:cubicBezTo>
                  <a:pt x="10678" y="23812"/>
                  <a:pt x="0" y="34491"/>
                  <a:pt x="0" y="47625"/>
                </a:cubicBezTo>
                <a:lnTo>
                  <a:pt x="0" y="50378"/>
                </a:lnTo>
                <a:cubicBezTo>
                  <a:pt x="0" y="52908"/>
                  <a:pt x="1637" y="55066"/>
                  <a:pt x="3758" y="56443"/>
                </a:cubicBezTo>
                <a:cubicBezTo>
                  <a:pt x="8669" y="59643"/>
                  <a:pt x="11906" y="65150"/>
                  <a:pt x="11906" y="71438"/>
                </a:cubicBezTo>
                <a:cubicBezTo>
                  <a:pt x="11906" y="77725"/>
                  <a:pt x="8669" y="83232"/>
                  <a:pt x="3758" y="86432"/>
                </a:cubicBezTo>
                <a:cubicBezTo>
                  <a:pt x="1637" y="87809"/>
                  <a:pt x="0" y="89967"/>
                  <a:pt x="0" y="92497"/>
                </a:cubicBezTo>
                <a:lnTo>
                  <a:pt x="0" y="113109"/>
                </a:lnTo>
                <a:lnTo>
                  <a:pt x="190500" y="113109"/>
                </a:lnTo>
                <a:lnTo>
                  <a:pt x="190500" y="92497"/>
                </a:lnTo>
                <a:cubicBezTo>
                  <a:pt x="190500" y="89967"/>
                  <a:pt x="188863" y="87809"/>
                  <a:pt x="186742" y="86432"/>
                </a:cubicBezTo>
                <a:cubicBezTo>
                  <a:pt x="181831" y="83232"/>
                  <a:pt x="178594" y="77725"/>
                  <a:pt x="178594" y="71438"/>
                </a:cubicBezTo>
                <a:cubicBezTo>
                  <a:pt x="178594" y="65150"/>
                  <a:pt x="181831" y="59643"/>
                  <a:pt x="186742" y="56443"/>
                </a:cubicBezTo>
                <a:cubicBezTo>
                  <a:pt x="188863" y="55066"/>
                  <a:pt x="190500" y="52908"/>
                  <a:pt x="190500" y="50378"/>
                </a:cubicBezTo>
                <a:lnTo>
                  <a:pt x="190500" y="47625"/>
                </a:lnTo>
                <a:cubicBezTo>
                  <a:pt x="190500" y="34491"/>
                  <a:pt x="179822" y="23812"/>
                  <a:pt x="166688" y="23812"/>
                </a:cubicBezTo>
                <a:lnTo>
                  <a:pt x="23812" y="23812"/>
                </a:lnTo>
                <a:close/>
                <a:moveTo>
                  <a:pt x="190500" y="154781"/>
                </a:moveTo>
                <a:lnTo>
                  <a:pt x="190500" y="130969"/>
                </a:lnTo>
                <a:lnTo>
                  <a:pt x="0" y="130969"/>
                </a:lnTo>
                <a:lnTo>
                  <a:pt x="0" y="154781"/>
                </a:lnTo>
                <a:cubicBezTo>
                  <a:pt x="0" y="161367"/>
                  <a:pt x="5321" y="166688"/>
                  <a:pt x="11906" y="166688"/>
                </a:cubicBezTo>
                <a:lnTo>
                  <a:pt x="35719" y="166688"/>
                </a:lnTo>
                <a:lnTo>
                  <a:pt x="35719" y="157758"/>
                </a:lnTo>
                <a:cubicBezTo>
                  <a:pt x="35719" y="152809"/>
                  <a:pt x="39700" y="148828"/>
                  <a:pt x="44648" y="148828"/>
                </a:cubicBezTo>
                <a:cubicBezTo>
                  <a:pt x="49597" y="148828"/>
                  <a:pt x="53578" y="152809"/>
                  <a:pt x="53578" y="157758"/>
                </a:cubicBezTo>
                <a:lnTo>
                  <a:pt x="53578" y="166688"/>
                </a:lnTo>
                <a:lnTo>
                  <a:pt x="86320" y="166688"/>
                </a:lnTo>
                <a:lnTo>
                  <a:pt x="86320" y="157758"/>
                </a:lnTo>
                <a:cubicBezTo>
                  <a:pt x="86320" y="152809"/>
                  <a:pt x="90301" y="148828"/>
                  <a:pt x="95250" y="148828"/>
                </a:cubicBezTo>
                <a:cubicBezTo>
                  <a:pt x="100199" y="148828"/>
                  <a:pt x="104180" y="152809"/>
                  <a:pt x="104180" y="157758"/>
                </a:cubicBezTo>
                <a:lnTo>
                  <a:pt x="104180" y="166688"/>
                </a:lnTo>
                <a:lnTo>
                  <a:pt x="136922" y="166688"/>
                </a:lnTo>
                <a:lnTo>
                  <a:pt x="136922" y="157758"/>
                </a:lnTo>
                <a:cubicBezTo>
                  <a:pt x="136922" y="152809"/>
                  <a:pt x="140903" y="148828"/>
                  <a:pt x="145852" y="148828"/>
                </a:cubicBezTo>
                <a:cubicBezTo>
                  <a:pt x="150800" y="148828"/>
                  <a:pt x="154781" y="152809"/>
                  <a:pt x="154781" y="157758"/>
                </a:cubicBezTo>
                <a:lnTo>
                  <a:pt x="154781" y="166688"/>
                </a:lnTo>
                <a:lnTo>
                  <a:pt x="178594" y="166688"/>
                </a:lnTo>
                <a:cubicBezTo>
                  <a:pt x="185179" y="166688"/>
                  <a:pt x="190500" y="161367"/>
                  <a:pt x="190500" y="154781"/>
                </a:cubicBezTo>
                <a:close/>
                <a:moveTo>
                  <a:pt x="59531" y="59531"/>
                </a:moveTo>
                <a:lnTo>
                  <a:pt x="59531" y="83344"/>
                </a:lnTo>
                <a:cubicBezTo>
                  <a:pt x="59531" y="89929"/>
                  <a:pt x="54211" y="95250"/>
                  <a:pt x="47625" y="95250"/>
                </a:cubicBezTo>
                <a:cubicBezTo>
                  <a:pt x="41039" y="95250"/>
                  <a:pt x="35719" y="89929"/>
                  <a:pt x="35719" y="83344"/>
                </a:cubicBezTo>
                <a:lnTo>
                  <a:pt x="35719" y="59531"/>
                </a:lnTo>
                <a:cubicBezTo>
                  <a:pt x="35719" y="52946"/>
                  <a:pt x="41039" y="47625"/>
                  <a:pt x="47625" y="47625"/>
                </a:cubicBezTo>
                <a:cubicBezTo>
                  <a:pt x="54211" y="47625"/>
                  <a:pt x="59531" y="52946"/>
                  <a:pt x="59531" y="59531"/>
                </a:cubicBezTo>
                <a:close/>
                <a:moveTo>
                  <a:pt x="107156" y="59531"/>
                </a:moveTo>
                <a:lnTo>
                  <a:pt x="107156" y="83344"/>
                </a:lnTo>
                <a:cubicBezTo>
                  <a:pt x="107156" y="89929"/>
                  <a:pt x="101836" y="95250"/>
                  <a:pt x="95250" y="95250"/>
                </a:cubicBezTo>
                <a:cubicBezTo>
                  <a:pt x="88664" y="95250"/>
                  <a:pt x="83344" y="89929"/>
                  <a:pt x="83344" y="83344"/>
                </a:cubicBezTo>
                <a:lnTo>
                  <a:pt x="83344" y="59531"/>
                </a:lnTo>
                <a:cubicBezTo>
                  <a:pt x="83344" y="52946"/>
                  <a:pt x="88664" y="47625"/>
                  <a:pt x="95250" y="47625"/>
                </a:cubicBezTo>
                <a:cubicBezTo>
                  <a:pt x="101836" y="47625"/>
                  <a:pt x="107156" y="52946"/>
                  <a:pt x="107156" y="59531"/>
                </a:cubicBezTo>
                <a:close/>
                <a:moveTo>
                  <a:pt x="154781" y="59531"/>
                </a:moveTo>
                <a:lnTo>
                  <a:pt x="154781" y="83344"/>
                </a:lnTo>
                <a:cubicBezTo>
                  <a:pt x="154781" y="89929"/>
                  <a:pt x="149461" y="95250"/>
                  <a:pt x="142875" y="95250"/>
                </a:cubicBezTo>
                <a:cubicBezTo>
                  <a:pt x="136289" y="95250"/>
                  <a:pt x="130969" y="89929"/>
                  <a:pt x="130969" y="83344"/>
                </a:cubicBezTo>
                <a:lnTo>
                  <a:pt x="130969" y="59531"/>
                </a:lnTo>
                <a:cubicBezTo>
                  <a:pt x="130969" y="52946"/>
                  <a:pt x="136289" y="47625"/>
                  <a:pt x="142875" y="47625"/>
                </a:cubicBezTo>
                <a:cubicBezTo>
                  <a:pt x="149461" y="47625"/>
                  <a:pt x="154781" y="52946"/>
                  <a:pt x="154781" y="59531"/>
                </a:cubicBezTo>
                <a:close/>
              </a:path>
            </a:pathLst>
          </a:custGeom>
          <a:solidFill>
            <a:srgbClr val="8B0000"/>
          </a:solidFill>
        </p:spPr>
      </p:sp>
      <p:sp>
        <p:nvSpPr>
          <p:cNvPr id="10" name="Text 8"/>
          <p:cNvSpPr/>
          <p:nvPr/>
        </p:nvSpPr>
        <p:spPr>
          <a:xfrm>
            <a:off x="885712" y="2895112"/>
            <a:ext cx="2033588" cy="266700"/>
          </a:xfrm>
          <a:prstGeom prst="rect">
            <a:avLst/>
          </a:prstGeom>
          <a:noFill/>
        </p:spPr>
        <p:txBody>
          <a:bodyPr wrap="square" lIns="0" tIns="0" rIns="0" bIns="0" rtlCol="0" anchor="ctr"/>
          <a:lstStyle/>
          <a:p>
            <a:pPr>
              <a:lnSpc>
                <a:spcPct val="130000"/>
              </a:lnSpc>
            </a:pPr>
            <a:r>
              <a:rPr lang="en-US" sz="1350" dirty="0">
                <a:solidFill>
                  <a:srgbClr val="000000"/>
                </a:solidFill>
                <a:latin typeface="MiSans" pitchFamily="34" charset="0"/>
                <a:ea typeface="MiSans" pitchFamily="34" charset="-122"/>
                <a:cs typeface="MiSans" pitchFamily="34" charset="-120"/>
              </a:rPr>
              <a:t>Memory Access Latency</a:t>
            </a:r>
            <a:endParaRPr lang="en-US" sz="1600" dirty="0"/>
          </a:p>
        </p:txBody>
      </p:sp>
      <p:sp>
        <p:nvSpPr>
          <p:cNvPr id="11" name="Shape 9"/>
          <p:cNvSpPr/>
          <p:nvPr/>
        </p:nvSpPr>
        <p:spPr>
          <a:xfrm>
            <a:off x="380956" y="3390319"/>
            <a:ext cx="5562600" cy="495300"/>
          </a:xfrm>
          <a:custGeom>
            <a:avLst/>
            <a:gdLst/>
            <a:ahLst/>
            <a:cxnLst/>
            <a:rect l="l" t="t" r="r" b="b"/>
            <a:pathLst>
              <a:path w="5562600" h="495300">
                <a:moveTo>
                  <a:pt x="76202" y="0"/>
                </a:moveTo>
                <a:lnTo>
                  <a:pt x="5486398" y="0"/>
                </a:lnTo>
                <a:cubicBezTo>
                  <a:pt x="5528483" y="0"/>
                  <a:pt x="5562600" y="34117"/>
                  <a:pt x="5562600" y="76202"/>
                </a:cubicBezTo>
                <a:lnTo>
                  <a:pt x="5562600" y="419098"/>
                </a:lnTo>
                <a:cubicBezTo>
                  <a:pt x="5562600" y="461183"/>
                  <a:pt x="5528483" y="495300"/>
                  <a:pt x="5486398" y="495300"/>
                </a:cubicBezTo>
                <a:lnTo>
                  <a:pt x="76202" y="495300"/>
                </a:lnTo>
                <a:cubicBezTo>
                  <a:pt x="34117" y="495300"/>
                  <a:pt x="0" y="461183"/>
                  <a:pt x="0" y="419098"/>
                </a:cubicBezTo>
                <a:lnTo>
                  <a:pt x="0" y="76202"/>
                </a:lnTo>
                <a:cubicBezTo>
                  <a:pt x="0" y="34117"/>
                  <a:pt x="34117" y="0"/>
                  <a:pt x="76202" y="0"/>
                </a:cubicBezTo>
                <a:close/>
              </a:path>
            </a:pathLst>
          </a:custGeom>
          <a:solidFill>
            <a:srgbClr val="F9FAFB"/>
          </a:solidFill>
        </p:spPr>
      </p:sp>
      <p:sp>
        <p:nvSpPr>
          <p:cNvPr id="12" name="Shape 10"/>
          <p:cNvSpPr/>
          <p:nvPr/>
        </p:nvSpPr>
        <p:spPr>
          <a:xfrm>
            <a:off x="507111" y="3542626"/>
            <a:ext cx="214313" cy="190500"/>
          </a:xfrm>
          <a:custGeom>
            <a:avLst/>
            <a:gdLst/>
            <a:ahLst/>
            <a:cxnLst/>
            <a:rect l="l" t="t" r="r" b="b"/>
            <a:pathLst>
              <a:path w="214313" h="190500">
                <a:moveTo>
                  <a:pt x="92273" y="32742"/>
                </a:moveTo>
                <a:lnTo>
                  <a:pt x="122039" y="32742"/>
                </a:lnTo>
                <a:lnTo>
                  <a:pt x="122039" y="50602"/>
                </a:lnTo>
                <a:lnTo>
                  <a:pt x="92273" y="50602"/>
                </a:lnTo>
                <a:lnTo>
                  <a:pt x="92273" y="32742"/>
                </a:lnTo>
                <a:close/>
                <a:moveTo>
                  <a:pt x="89297" y="11906"/>
                </a:moveTo>
                <a:cubicBezTo>
                  <a:pt x="79437" y="11906"/>
                  <a:pt x="71438" y="19906"/>
                  <a:pt x="71438" y="29766"/>
                </a:cubicBezTo>
                <a:lnTo>
                  <a:pt x="71438" y="53578"/>
                </a:lnTo>
                <a:cubicBezTo>
                  <a:pt x="71438" y="63438"/>
                  <a:pt x="79437" y="71438"/>
                  <a:pt x="89297" y="71438"/>
                </a:cubicBezTo>
                <a:lnTo>
                  <a:pt x="95250" y="71438"/>
                </a:lnTo>
                <a:lnTo>
                  <a:pt x="95250" y="83344"/>
                </a:lnTo>
                <a:lnTo>
                  <a:pt x="11906" y="83344"/>
                </a:lnTo>
                <a:cubicBezTo>
                  <a:pt x="5321" y="83344"/>
                  <a:pt x="0" y="88664"/>
                  <a:pt x="0" y="95250"/>
                </a:cubicBezTo>
                <a:cubicBezTo>
                  <a:pt x="0" y="101836"/>
                  <a:pt x="5321" y="107156"/>
                  <a:pt x="11906" y="107156"/>
                </a:cubicBezTo>
                <a:lnTo>
                  <a:pt x="47625" y="107156"/>
                </a:lnTo>
                <a:lnTo>
                  <a:pt x="47625" y="119063"/>
                </a:lnTo>
                <a:lnTo>
                  <a:pt x="41672" y="119063"/>
                </a:lnTo>
                <a:cubicBezTo>
                  <a:pt x="31812" y="119063"/>
                  <a:pt x="23812" y="127062"/>
                  <a:pt x="23812" y="136922"/>
                </a:cubicBezTo>
                <a:lnTo>
                  <a:pt x="23812" y="160734"/>
                </a:lnTo>
                <a:cubicBezTo>
                  <a:pt x="23812" y="170594"/>
                  <a:pt x="31812" y="178594"/>
                  <a:pt x="41672" y="178594"/>
                </a:cubicBezTo>
                <a:lnTo>
                  <a:pt x="77391" y="178594"/>
                </a:lnTo>
                <a:cubicBezTo>
                  <a:pt x="87250" y="178594"/>
                  <a:pt x="95250" y="170594"/>
                  <a:pt x="95250" y="160734"/>
                </a:cubicBezTo>
                <a:lnTo>
                  <a:pt x="95250" y="136922"/>
                </a:lnTo>
                <a:cubicBezTo>
                  <a:pt x="95250" y="127062"/>
                  <a:pt x="87250" y="119063"/>
                  <a:pt x="77391" y="119063"/>
                </a:cubicBezTo>
                <a:lnTo>
                  <a:pt x="71438" y="119063"/>
                </a:lnTo>
                <a:lnTo>
                  <a:pt x="71438" y="107156"/>
                </a:lnTo>
                <a:lnTo>
                  <a:pt x="142875" y="107156"/>
                </a:lnTo>
                <a:lnTo>
                  <a:pt x="142875" y="119063"/>
                </a:lnTo>
                <a:lnTo>
                  <a:pt x="136922" y="119063"/>
                </a:lnTo>
                <a:cubicBezTo>
                  <a:pt x="127062" y="119063"/>
                  <a:pt x="119063" y="127062"/>
                  <a:pt x="119063" y="136922"/>
                </a:cubicBezTo>
                <a:lnTo>
                  <a:pt x="119063" y="160734"/>
                </a:lnTo>
                <a:cubicBezTo>
                  <a:pt x="119063" y="170594"/>
                  <a:pt x="127062" y="178594"/>
                  <a:pt x="136922" y="178594"/>
                </a:cubicBezTo>
                <a:lnTo>
                  <a:pt x="172641" y="178594"/>
                </a:lnTo>
                <a:cubicBezTo>
                  <a:pt x="182500" y="178594"/>
                  <a:pt x="190500" y="170594"/>
                  <a:pt x="190500" y="160734"/>
                </a:cubicBezTo>
                <a:lnTo>
                  <a:pt x="190500" y="136922"/>
                </a:lnTo>
                <a:cubicBezTo>
                  <a:pt x="190500" y="127062"/>
                  <a:pt x="182500" y="119063"/>
                  <a:pt x="172641" y="119063"/>
                </a:cubicBezTo>
                <a:lnTo>
                  <a:pt x="166688" y="119063"/>
                </a:lnTo>
                <a:lnTo>
                  <a:pt x="166688" y="107156"/>
                </a:lnTo>
                <a:lnTo>
                  <a:pt x="202406" y="107156"/>
                </a:lnTo>
                <a:cubicBezTo>
                  <a:pt x="208992" y="107156"/>
                  <a:pt x="214313" y="101836"/>
                  <a:pt x="214313" y="95250"/>
                </a:cubicBezTo>
                <a:cubicBezTo>
                  <a:pt x="214313" y="88664"/>
                  <a:pt x="208992" y="83344"/>
                  <a:pt x="202406" y="83344"/>
                </a:cubicBezTo>
                <a:lnTo>
                  <a:pt x="119063" y="83344"/>
                </a:lnTo>
                <a:lnTo>
                  <a:pt x="119063" y="71438"/>
                </a:lnTo>
                <a:lnTo>
                  <a:pt x="125016" y="71438"/>
                </a:lnTo>
                <a:cubicBezTo>
                  <a:pt x="134875" y="71438"/>
                  <a:pt x="142875" y="63438"/>
                  <a:pt x="142875" y="53578"/>
                </a:cubicBezTo>
                <a:lnTo>
                  <a:pt x="142875" y="29766"/>
                </a:lnTo>
                <a:cubicBezTo>
                  <a:pt x="142875" y="19906"/>
                  <a:pt x="134875" y="11906"/>
                  <a:pt x="125016" y="11906"/>
                </a:cubicBezTo>
                <a:lnTo>
                  <a:pt x="89297" y="11906"/>
                </a:lnTo>
                <a:close/>
                <a:moveTo>
                  <a:pt x="166688" y="139898"/>
                </a:moveTo>
                <a:lnTo>
                  <a:pt x="169664" y="139898"/>
                </a:lnTo>
                <a:lnTo>
                  <a:pt x="169664" y="157758"/>
                </a:lnTo>
                <a:lnTo>
                  <a:pt x="139898" y="157758"/>
                </a:lnTo>
                <a:lnTo>
                  <a:pt x="139898" y="139898"/>
                </a:lnTo>
                <a:lnTo>
                  <a:pt x="166688" y="139898"/>
                </a:lnTo>
                <a:close/>
                <a:moveTo>
                  <a:pt x="71438" y="139898"/>
                </a:moveTo>
                <a:lnTo>
                  <a:pt x="74414" y="139898"/>
                </a:lnTo>
                <a:lnTo>
                  <a:pt x="74414" y="157758"/>
                </a:lnTo>
                <a:lnTo>
                  <a:pt x="44648" y="157758"/>
                </a:lnTo>
                <a:lnTo>
                  <a:pt x="44648" y="139898"/>
                </a:lnTo>
                <a:lnTo>
                  <a:pt x="71438" y="139898"/>
                </a:lnTo>
                <a:close/>
              </a:path>
            </a:pathLst>
          </a:custGeom>
          <a:solidFill>
            <a:srgbClr val="8B0000"/>
          </a:solidFill>
        </p:spPr>
      </p:sp>
      <p:sp>
        <p:nvSpPr>
          <p:cNvPr id="13" name="Text 11"/>
          <p:cNvSpPr/>
          <p:nvPr/>
        </p:nvSpPr>
        <p:spPr>
          <a:xfrm>
            <a:off x="885712" y="3504567"/>
            <a:ext cx="2097811" cy="266700"/>
          </a:xfrm>
          <a:prstGeom prst="rect">
            <a:avLst/>
          </a:prstGeom>
          <a:noFill/>
        </p:spPr>
        <p:txBody>
          <a:bodyPr wrap="square" lIns="0" tIns="0" rIns="0" bIns="0" rtlCol="0" anchor="ctr"/>
          <a:lstStyle/>
          <a:p>
            <a:pPr>
              <a:lnSpc>
                <a:spcPct val="130000"/>
              </a:lnSpc>
            </a:pPr>
            <a:r>
              <a:rPr lang="en-US" sz="1350" dirty="0">
                <a:solidFill>
                  <a:srgbClr val="000000"/>
                </a:solidFill>
                <a:latin typeface="MiSans" pitchFamily="34" charset="0"/>
                <a:ea typeface="MiSans" pitchFamily="34" charset="-122"/>
                <a:cs typeface="MiSans" pitchFamily="34" charset="-120"/>
              </a:rPr>
              <a:t>Network Latency</a:t>
            </a:r>
            <a:endParaRPr lang="en-US" sz="1600" dirty="0"/>
          </a:p>
        </p:txBody>
      </p:sp>
      <p:sp>
        <p:nvSpPr>
          <p:cNvPr id="14" name="Shape 12"/>
          <p:cNvSpPr/>
          <p:nvPr/>
        </p:nvSpPr>
        <p:spPr>
          <a:xfrm>
            <a:off x="380956" y="3999774"/>
            <a:ext cx="5562600" cy="495300"/>
          </a:xfrm>
          <a:custGeom>
            <a:avLst/>
            <a:gdLst/>
            <a:ahLst/>
            <a:cxnLst/>
            <a:rect l="l" t="t" r="r" b="b"/>
            <a:pathLst>
              <a:path w="5562600" h="495300">
                <a:moveTo>
                  <a:pt x="76202" y="0"/>
                </a:moveTo>
                <a:lnTo>
                  <a:pt x="5486398" y="0"/>
                </a:lnTo>
                <a:cubicBezTo>
                  <a:pt x="5528483" y="0"/>
                  <a:pt x="5562600" y="34117"/>
                  <a:pt x="5562600" y="76202"/>
                </a:cubicBezTo>
                <a:lnTo>
                  <a:pt x="5562600" y="419098"/>
                </a:lnTo>
                <a:cubicBezTo>
                  <a:pt x="5562600" y="461183"/>
                  <a:pt x="5528483" y="495300"/>
                  <a:pt x="5486398" y="495300"/>
                </a:cubicBezTo>
                <a:lnTo>
                  <a:pt x="76202" y="495300"/>
                </a:lnTo>
                <a:cubicBezTo>
                  <a:pt x="34117" y="495300"/>
                  <a:pt x="0" y="461183"/>
                  <a:pt x="0" y="419098"/>
                </a:cubicBezTo>
                <a:lnTo>
                  <a:pt x="0" y="76202"/>
                </a:lnTo>
                <a:cubicBezTo>
                  <a:pt x="0" y="34117"/>
                  <a:pt x="34117" y="0"/>
                  <a:pt x="76202" y="0"/>
                </a:cubicBezTo>
                <a:close/>
              </a:path>
            </a:pathLst>
          </a:custGeom>
          <a:solidFill>
            <a:srgbClr val="F9FAFB"/>
          </a:solidFill>
        </p:spPr>
      </p:sp>
      <p:sp>
        <p:nvSpPr>
          <p:cNvPr id="15" name="Shape 13"/>
          <p:cNvSpPr/>
          <p:nvPr/>
        </p:nvSpPr>
        <p:spPr>
          <a:xfrm>
            <a:off x="530924" y="4152081"/>
            <a:ext cx="166688" cy="190500"/>
          </a:xfrm>
          <a:custGeom>
            <a:avLst/>
            <a:gdLst/>
            <a:ahLst/>
            <a:cxnLst/>
            <a:rect l="l" t="t" r="r" b="b"/>
            <a:pathLst>
              <a:path w="166688" h="190500">
                <a:moveTo>
                  <a:pt x="23812" y="11906"/>
                </a:moveTo>
                <a:cubicBezTo>
                  <a:pt x="10678" y="11906"/>
                  <a:pt x="0" y="22585"/>
                  <a:pt x="0" y="35719"/>
                </a:cubicBezTo>
                <a:lnTo>
                  <a:pt x="0" y="96775"/>
                </a:lnTo>
                <a:cubicBezTo>
                  <a:pt x="6734" y="92050"/>
                  <a:pt x="14957" y="89297"/>
                  <a:pt x="23812" y="89297"/>
                </a:cubicBezTo>
                <a:lnTo>
                  <a:pt x="142875" y="89297"/>
                </a:lnTo>
                <a:cubicBezTo>
                  <a:pt x="151730" y="89297"/>
                  <a:pt x="159953" y="92050"/>
                  <a:pt x="166688" y="96775"/>
                </a:cubicBezTo>
                <a:lnTo>
                  <a:pt x="166688" y="35719"/>
                </a:lnTo>
                <a:cubicBezTo>
                  <a:pt x="166688" y="22585"/>
                  <a:pt x="156009" y="11906"/>
                  <a:pt x="142875" y="11906"/>
                </a:cubicBezTo>
                <a:lnTo>
                  <a:pt x="23812" y="11906"/>
                </a:lnTo>
                <a:close/>
                <a:moveTo>
                  <a:pt x="166688" y="130969"/>
                </a:moveTo>
                <a:cubicBezTo>
                  <a:pt x="166688" y="117835"/>
                  <a:pt x="156009" y="107156"/>
                  <a:pt x="142875" y="107156"/>
                </a:cubicBezTo>
                <a:lnTo>
                  <a:pt x="23812" y="107156"/>
                </a:lnTo>
                <a:cubicBezTo>
                  <a:pt x="10678" y="107156"/>
                  <a:pt x="0" y="117835"/>
                  <a:pt x="0" y="130969"/>
                </a:cubicBezTo>
                <a:lnTo>
                  <a:pt x="0" y="154781"/>
                </a:lnTo>
                <a:cubicBezTo>
                  <a:pt x="0" y="167915"/>
                  <a:pt x="10678" y="178594"/>
                  <a:pt x="23812" y="178594"/>
                </a:cubicBezTo>
                <a:lnTo>
                  <a:pt x="142875" y="178594"/>
                </a:lnTo>
                <a:cubicBezTo>
                  <a:pt x="156009" y="178594"/>
                  <a:pt x="166688" y="167915"/>
                  <a:pt x="166688" y="154781"/>
                </a:cubicBezTo>
                <a:lnTo>
                  <a:pt x="166688" y="130969"/>
                </a:lnTo>
                <a:close/>
                <a:moveTo>
                  <a:pt x="83344" y="142875"/>
                </a:moveTo>
                <a:cubicBezTo>
                  <a:pt x="83344" y="136304"/>
                  <a:pt x="88679" y="130969"/>
                  <a:pt x="95250" y="130969"/>
                </a:cubicBezTo>
                <a:cubicBezTo>
                  <a:pt x="101821" y="130969"/>
                  <a:pt x="107156" y="136304"/>
                  <a:pt x="107156" y="142875"/>
                </a:cubicBezTo>
                <a:cubicBezTo>
                  <a:pt x="107156" y="149446"/>
                  <a:pt x="101821" y="154781"/>
                  <a:pt x="95250" y="154781"/>
                </a:cubicBezTo>
                <a:cubicBezTo>
                  <a:pt x="88679" y="154781"/>
                  <a:pt x="83344" y="149446"/>
                  <a:pt x="83344" y="142875"/>
                </a:cubicBezTo>
                <a:close/>
                <a:moveTo>
                  <a:pt x="130969" y="130969"/>
                </a:moveTo>
                <a:cubicBezTo>
                  <a:pt x="137540" y="130969"/>
                  <a:pt x="142875" y="136304"/>
                  <a:pt x="142875" y="142875"/>
                </a:cubicBezTo>
                <a:cubicBezTo>
                  <a:pt x="142875" y="149446"/>
                  <a:pt x="137540" y="154781"/>
                  <a:pt x="130969" y="154781"/>
                </a:cubicBezTo>
                <a:cubicBezTo>
                  <a:pt x="124398" y="154781"/>
                  <a:pt x="119063" y="149446"/>
                  <a:pt x="119063" y="142875"/>
                </a:cubicBezTo>
                <a:cubicBezTo>
                  <a:pt x="119063" y="136304"/>
                  <a:pt x="124398" y="130969"/>
                  <a:pt x="130969" y="130969"/>
                </a:cubicBezTo>
                <a:close/>
              </a:path>
            </a:pathLst>
          </a:custGeom>
          <a:solidFill>
            <a:srgbClr val="8B0000"/>
          </a:solidFill>
        </p:spPr>
      </p:sp>
      <p:sp>
        <p:nvSpPr>
          <p:cNvPr id="16" name="Text 14"/>
          <p:cNvSpPr/>
          <p:nvPr/>
        </p:nvSpPr>
        <p:spPr>
          <a:xfrm>
            <a:off x="885712" y="4114023"/>
            <a:ext cx="2185734" cy="266700"/>
          </a:xfrm>
          <a:prstGeom prst="rect">
            <a:avLst/>
          </a:prstGeom>
          <a:noFill/>
        </p:spPr>
        <p:txBody>
          <a:bodyPr wrap="square" lIns="0" tIns="0" rIns="0" bIns="0" rtlCol="0" anchor="ctr"/>
          <a:lstStyle/>
          <a:p>
            <a:pPr>
              <a:lnSpc>
                <a:spcPct val="130000"/>
              </a:lnSpc>
            </a:pPr>
            <a:r>
              <a:rPr lang="en-US" sz="1350" dirty="0">
                <a:solidFill>
                  <a:srgbClr val="000000"/>
                </a:solidFill>
                <a:latin typeface="MiSans" pitchFamily="34" charset="0"/>
                <a:ea typeface="MiSans" pitchFamily="34" charset="-122"/>
                <a:cs typeface="MiSans" pitchFamily="34" charset="-120"/>
              </a:rPr>
              <a:t>Disk Access Latency</a:t>
            </a:r>
            <a:endParaRPr lang="en-US" sz="1600" dirty="0"/>
          </a:p>
        </p:txBody>
      </p:sp>
      <p:sp>
        <p:nvSpPr>
          <p:cNvPr id="17" name="Text 15"/>
          <p:cNvSpPr/>
          <p:nvPr/>
        </p:nvSpPr>
        <p:spPr>
          <a:xfrm>
            <a:off x="380956" y="4647358"/>
            <a:ext cx="5676900" cy="3048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Common Units</a:t>
            </a:r>
            <a:endParaRPr lang="en-US" sz="1600" dirty="0"/>
          </a:p>
        </p:txBody>
      </p:sp>
      <p:sp>
        <p:nvSpPr>
          <p:cNvPr id="18" name="Shape 16"/>
          <p:cNvSpPr/>
          <p:nvPr/>
        </p:nvSpPr>
        <p:spPr>
          <a:xfrm>
            <a:off x="380956" y="5104433"/>
            <a:ext cx="1752600" cy="1066800"/>
          </a:xfrm>
          <a:custGeom>
            <a:avLst/>
            <a:gdLst/>
            <a:ahLst/>
            <a:cxnLst/>
            <a:rect l="l" t="t" r="r" b="b"/>
            <a:pathLst>
              <a:path w="1752600" h="1066800">
                <a:moveTo>
                  <a:pt x="76202" y="0"/>
                </a:moveTo>
                <a:lnTo>
                  <a:pt x="1676398" y="0"/>
                </a:lnTo>
                <a:cubicBezTo>
                  <a:pt x="1718483" y="0"/>
                  <a:pt x="1752600" y="34117"/>
                  <a:pt x="1752600" y="76202"/>
                </a:cubicBezTo>
                <a:lnTo>
                  <a:pt x="1752600" y="990598"/>
                </a:lnTo>
                <a:cubicBezTo>
                  <a:pt x="1752600" y="1032683"/>
                  <a:pt x="1718483" y="1066800"/>
                  <a:pt x="1676398" y="1066800"/>
                </a:cubicBezTo>
                <a:lnTo>
                  <a:pt x="76202" y="1066800"/>
                </a:lnTo>
                <a:cubicBezTo>
                  <a:pt x="34117" y="1066800"/>
                  <a:pt x="0" y="1032683"/>
                  <a:pt x="0" y="990598"/>
                </a:cubicBezTo>
                <a:lnTo>
                  <a:pt x="0" y="76202"/>
                </a:lnTo>
                <a:cubicBezTo>
                  <a:pt x="0" y="34145"/>
                  <a:pt x="34145" y="0"/>
                  <a:pt x="76202" y="0"/>
                </a:cubicBezTo>
                <a:close/>
              </a:path>
            </a:pathLst>
          </a:custGeom>
          <a:solidFill>
            <a:srgbClr val="F9FAFB"/>
          </a:solidFill>
        </p:spPr>
      </p:sp>
      <p:sp>
        <p:nvSpPr>
          <p:cNvPr id="19" name="Text 17"/>
          <p:cNvSpPr/>
          <p:nvPr/>
        </p:nvSpPr>
        <p:spPr>
          <a:xfrm>
            <a:off x="476188" y="5256814"/>
            <a:ext cx="1562100" cy="304800"/>
          </a:xfrm>
          <a:prstGeom prst="rect">
            <a:avLst/>
          </a:prstGeom>
          <a:noFill/>
        </p:spPr>
        <p:txBody>
          <a:bodyPr wrap="square" lIns="0" tIns="0" rIns="0" bIns="0" rtlCol="0" anchor="ctr"/>
          <a:lstStyle/>
          <a:p>
            <a:pPr algn="ctr">
              <a:lnSpc>
                <a:spcPct val="110000"/>
              </a:lnSpc>
            </a:pPr>
            <a:r>
              <a:rPr lang="en-US" sz="18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ns</a:t>
            </a:r>
            <a:endParaRPr lang="en-US" sz="1600" dirty="0"/>
          </a:p>
        </p:txBody>
      </p:sp>
      <p:sp>
        <p:nvSpPr>
          <p:cNvPr id="20" name="Text 18"/>
          <p:cNvSpPr/>
          <p:nvPr/>
        </p:nvSpPr>
        <p:spPr>
          <a:xfrm>
            <a:off x="495238" y="5599565"/>
            <a:ext cx="1524000" cy="228600"/>
          </a:xfrm>
          <a:prstGeom prst="rect">
            <a:avLst/>
          </a:prstGeom>
          <a:noFill/>
        </p:spPr>
        <p:txBody>
          <a:bodyPr wrap="square" lIns="0" tIns="0" rIns="0" bIns="0" rtlCol="0" anchor="ctr"/>
          <a:lstStyle/>
          <a:p>
            <a:pPr algn="ctr">
              <a:lnSpc>
                <a:spcPct val="130000"/>
              </a:lnSpc>
            </a:pPr>
            <a:r>
              <a:rPr lang="en-US" sz="1200" dirty="0">
                <a:solidFill>
                  <a:srgbClr val="000000"/>
                </a:solidFill>
                <a:latin typeface="MiSans" pitchFamily="34" charset="0"/>
                <a:ea typeface="MiSans" pitchFamily="34" charset="-122"/>
                <a:cs typeface="MiSans" pitchFamily="34" charset="-120"/>
              </a:rPr>
              <a:t>Nanosecond</a:t>
            </a:r>
            <a:endParaRPr lang="en-US" sz="1600" dirty="0"/>
          </a:p>
        </p:txBody>
      </p:sp>
      <p:sp>
        <p:nvSpPr>
          <p:cNvPr id="21" name="Text 19"/>
          <p:cNvSpPr/>
          <p:nvPr/>
        </p:nvSpPr>
        <p:spPr>
          <a:xfrm>
            <a:off x="500000" y="5828137"/>
            <a:ext cx="1514475" cy="190500"/>
          </a:xfrm>
          <a:prstGeom prst="rect">
            <a:avLst/>
          </a:prstGeom>
          <a:noFill/>
        </p:spPr>
        <p:txBody>
          <a:bodyPr wrap="square" lIns="0" tIns="0" rIns="0" bIns="0" rtlCol="0" anchor="ctr"/>
          <a:lstStyle/>
          <a:p>
            <a:pPr algn="ctr">
              <a:lnSpc>
                <a:spcPct val="120000"/>
              </a:lnSpc>
            </a:pPr>
            <a:r>
              <a:rPr lang="en-US" sz="1050" dirty="0">
                <a:solidFill>
                  <a:srgbClr val="6A7282"/>
                </a:solidFill>
                <a:latin typeface="MiSans" pitchFamily="34" charset="0"/>
                <a:ea typeface="MiSans" pitchFamily="34" charset="-122"/>
                <a:cs typeface="MiSans" pitchFamily="34" charset="-120"/>
              </a:rPr>
              <a:t>10⁻⁹ second</a:t>
            </a:r>
            <a:endParaRPr lang="en-US" sz="1600" dirty="0"/>
          </a:p>
        </p:txBody>
      </p:sp>
      <p:sp>
        <p:nvSpPr>
          <p:cNvPr id="22" name="Shape 20"/>
          <p:cNvSpPr/>
          <p:nvPr/>
        </p:nvSpPr>
        <p:spPr>
          <a:xfrm>
            <a:off x="2285956" y="5104433"/>
            <a:ext cx="1752600" cy="1066800"/>
          </a:xfrm>
          <a:custGeom>
            <a:avLst/>
            <a:gdLst/>
            <a:ahLst/>
            <a:cxnLst/>
            <a:rect l="l" t="t" r="r" b="b"/>
            <a:pathLst>
              <a:path w="1752600" h="1066800">
                <a:moveTo>
                  <a:pt x="76202" y="0"/>
                </a:moveTo>
                <a:lnTo>
                  <a:pt x="1676398" y="0"/>
                </a:lnTo>
                <a:cubicBezTo>
                  <a:pt x="1718483" y="0"/>
                  <a:pt x="1752600" y="34117"/>
                  <a:pt x="1752600" y="76202"/>
                </a:cubicBezTo>
                <a:lnTo>
                  <a:pt x="1752600" y="990598"/>
                </a:lnTo>
                <a:cubicBezTo>
                  <a:pt x="1752600" y="1032683"/>
                  <a:pt x="1718483" y="1066800"/>
                  <a:pt x="1676398" y="1066800"/>
                </a:cubicBezTo>
                <a:lnTo>
                  <a:pt x="76202" y="1066800"/>
                </a:lnTo>
                <a:cubicBezTo>
                  <a:pt x="34117" y="1066800"/>
                  <a:pt x="0" y="1032683"/>
                  <a:pt x="0" y="990598"/>
                </a:cubicBezTo>
                <a:lnTo>
                  <a:pt x="0" y="76202"/>
                </a:lnTo>
                <a:cubicBezTo>
                  <a:pt x="0" y="34145"/>
                  <a:pt x="34145" y="0"/>
                  <a:pt x="76202" y="0"/>
                </a:cubicBezTo>
                <a:close/>
              </a:path>
            </a:pathLst>
          </a:custGeom>
          <a:solidFill>
            <a:srgbClr val="F9FAFB"/>
          </a:solidFill>
        </p:spPr>
      </p:sp>
      <p:sp>
        <p:nvSpPr>
          <p:cNvPr id="23" name="Text 21"/>
          <p:cNvSpPr/>
          <p:nvPr/>
        </p:nvSpPr>
        <p:spPr>
          <a:xfrm>
            <a:off x="2381188" y="5256814"/>
            <a:ext cx="1562100" cy="304800"/>
          </a:xfrm>
          <a:prstGeom prst="rect">
            <a:avLst/>
          </a:prstGeom>
          <a:noFill/>
        </p:spPr>
        <p:txBody>
          <a:bodyPr wrap="square" lIns="0" tIns="0" rIns="0" bIns="0" rtlCol="0" anchor="ctr"/>
          <a:lstStyle/>
          <a:p>
            <a:pPr algn="ctr">
              <a:lnSpc>
                <a:spcPct val="110000"/>
              </a:lnSpc>
            </a:pPr>
            <a:r>
              <a:rPr lang="en-US" sz="18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μs</a:t>
            </a:r>
            <a:endParaRPr lang="en-US" sz="1600" dirty="0"/>
          </a:p>
        </p:txBody>
      </p:sp>
      <p:sp>
        <p:nvSpPr>
          <p:cNvPr id="24" name="Text 22"/>
          <p:cNvSpPr/>
          <p:nvPr/>
        </p:nvSpPr>
        <p:spPr>
          <a:xfrm>
            <a:off x="2400238" y="5599565"/>
            <a:ext cx="1524000" cy="228600"/>
          </a:xfrm>
          <a:prstGeom prst="rect">
            <a:avLst/>
          </a:prstGeom>
          <a:noFill/>
        </p:spPr>
        <p:txBody>
          <a:bodyPr wrap="square" lIns="0" tIns="0" rIns="0" bIns="0" rtlCol="0" anchor="ctr"/>
          <a:lstStyle/>
          <a:p>
            <a:pPr algn="ctr">
              <a:lnSpc>
                <a:spcPct val="130000"/>
              </a:lnSpc>
            </a:pPr>
            <a:r>
              <a:rPr lang="en-US" sz="1200" dirty="0">
                <a:solidFill>
                  <a:srgbClr val="000000"/>
                </a:solidFill>
                <a:latin typeface="MiSans" pitchFamily="34" charset="0"/>
                <a:ea typeface="MiSans" pitchFamily="34" charset="-122"/>
                <a:cs typeface="MiSans" pitchFamily="34" charset="-120"/>
              </a:rPr>
              <a:t>Microsecond</a:t>
            </a:r>
            <a:endParaRPr lang="en-US" sz="1600" dirty="0"/>
          </a:p>
        </p:txBody>
      </p:sp>
      <p:sp>
        <p:nvSpPr>
          <p:cNvPr id="25" name="Text 23"/>
          <p:cNvSpPr/>
          <p:nvPr/>
        </p:nvSpPr>
        <p:spPr>
          <a:xfrm>
            <a:off x="2405000" y="5828137"/>
            <a:ext cx="1514475" cy="190500"/>
          </a:xfrm>
          <a:prstGeom prst="rect">
            <a:avLst/>
          </a:prstGeom>
          <a:noFill/>
        </p:spPr>
        <p:txBody>
          <a:bodyPr wrap="square" lIns="0" tIns="0" rIns="0" bIns="0" rtlCol="0" anchor="ctr"/>
          <a:lstStyle/>
          <a:p>
            <a:pPr algn="ctr">
              <a:lnSpc>
                <a:spcPct val="120000"/>
              </a:lnSpc>
            </a:pPr>
            <a:r>
              <a:rPr lang="en-US" sz="1050" dirty="0">
                <a:solidFill>
                  <a:srgbClr val="6A7282"/>
                </a:solidFill>
                <a:latin typeface="MiSans" pitchFamily="34" charset="0"/>
                <a:ea typeface="MiSans" pitchFamily="34" charset="-122"/>
                <a:cs typeface="MiSans" pitchFamily="34" charset="-120"/>
              </a:rPr>
              <a:t>10⁻⁶ second</a:t>
            </a:r>
            <a:endParaRPr lang="en-US" sz="1600" dirty="0"/>
          </a:p>
        </p:txBody>
      </p:sp>
      <p:sp>
        <p:nvSpPr>
          <p:cNvPr id="26" name="Shape 24"/>
          <p:cNvSpPr/>
          <p:nvPr/>
        </p:nvSpPr>
        <p:spPr>
          <a:xfrm>
            <a:off x="4190956" y="5104433"/>
            <a:ext cx="1752600" cy="1066800"/>
          </a:xfrm>
          <a:custGeom>
            <a:avLst/>
            <a:gdLst/>
            <a:ahLst/>
            <a:cxnLst/>
            <a:rect l="l" t="t" r="r" b="b"/>
            <a:pathLst>
              <a:path w="1752600" h="1066800">
                <a:moveTo>
                  <a:pt x="76202" y="0"/>
                </a:moveTo>
                <a:lnTo>
                  <a:pt x="1676398" y="0"/>
                </a:lnTo>
                <a:cubicBezTo>
                  <a:pt x="1718483" y="0"/>
                  <a:pt x="1752600" y="34117"/>
                  <a:pt x="1752600" y="76202"/>
                </a:cubicBezTo>
                <a:lnTo>
                  <a:pt x="1752600" y="990598"/>
                </a:lnTo>
                <a:cubicBezTo>
                  <a:pt x="1752600" y="1032683"/>
                  <a:pt x="1718483" y="1066800"/>
                  <a:pt x="1676398" y="1066800"/>
                </a:cubicBezTo>
                <a:lnTo>
                  <a:pt x="76202" y="1066800"/>
                </a:lnTo>
                <a:cubicBezTo>
                  <a:pt x="34117" y="1066800"/>
                  <a:pt x="0" y="1032683"/>
                  <a:pt x="0" y="990598"/>
                </a:cubicBezTo>
                <a:lnTo>
                  <a:pt x="0" y="76202"/>
                </a:lnTo>
                <a:cubicBezTo>
                  <a:pt x="0" y="34145"/>
                  <a:pt x="34145" y="0"/>
                  <a:pt x="76202" y="0"/>
                </a:cubicBezTo>
                <a:close/>
              </a:path>
            </a:pathLst>
          </a:custGeom>
          <a:solidFill>
            <a:srgbClr val="F9FAFB"/>
          </a:solidFill>
        </p:spPr>
      </p:sp>
      <p:sp>
        <p:nvSpPr>
          <p:cNvPr id="27" name="Text 25"/>
          <p:cNvSpPr/>
          <p:nvPr/>
        </p:nvSpPr>
        <p:spPr>
          <a:xfrm>
            <a:off x="4286188" y="5256814"/>
            <a:ext cx="1562100" cy="304800"/>
          </a:xfrm>
          <a:prstGeom prst="rect">
            <a:avLst/>
          </a:prstGeom>
          <a:noFill/>
        </p:spPr>
        <p:txBody>
          <a:bodyPr wrap="square" lIns="0" tIns="0" rIns="0" bIns="0" rtlCol="0" anchor="ctr"/>
          <a:lstStyle/>
          <a:p>
            <a:pPr algn="ctr">
              <a:lnSpc>
                <a:spcPct val="110000"/>
              </a:lnSpc>
            </a:pPr>
            <a:r>
              <a:rPr lang="en-US" sz="18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ms</a:t>
            </a:r>
            <a:endParaRPr lang="en-US" sz="1600" dirty="0"/>
          </a:p>
        </p:txBody>
      </p:sp>
      <p:sp>
        <p:nvSpPr>
          <p:cNvPr id="28" name="Text 26"/>
          <p:cNvSpPr/>
          <p:nvPr/>
        </p:nvSpPr>
        <p:spPr>
          <a:xfrm>
            <a:off x="4305238" y="5599565"/>
            <a:ext cx="1524000" cy="228600"/>
          </a:xfrm>
          <a:prstGeom prst="rect">
            <a:avLst/>
          </a:prstGeom>
          <a:noFill/>
        </p:spPr>
        <p:txBody>
          <a:bodyPr wrap="square" lIns="0" tIns="0" rIns="0" bIns="0" rtlCol="0" anchor="ctr"/>
          <a:lstStyle/>
          <a:p>
            <a:pPr algn="ctr">
              <a:lnSpc>
                <a:spcPct val="130000"/>
              </a:lnSpc>
            </a:pPr>
            <a:r>
              <a:rPr lang="en-US" sz="1200" dirty="0">
                <a:solidFill>
                  <a:srgbClr val="000000"/>
                </a:solidFill>
                <a:latin typeface="MiSans" pitchFamily="34" charset="0"/>
                <a:ea typeface="MiSans" pitchFamily="34" charset="-122"/>
                <a:cs typeface="MiSans" pitchFamily="34" charset="-120"/>
              </a:rPr>
              <a:t>Millisecond</a:t>
            </a:r>
            <a:endParaRPr lang="en-US" sz="1600" dirty="0"/>
          </a:p>
        </p:txBody>
      </p:sp>
      <p:sp>
        <p:nvSpPr>
          <p:cNvPr id="29" name="Text 27"/>
          <p:cNvSpPr/>
          <p:nvPr/>
        </p:nvSpPr>
        <p:spPr>
          <a:xfrm>
            <a:off x="4310000" y="5828137"/>
            <a:ext cx="1514475" cy="190500"/>
          </a:xfrm>
          <a:prstGeom prst="rect">
            <a:avLst/>
          </a:prstGeom>
          <a:noFill/>
        </p:spPr>
        <p:txBody>
          <a:bodyPr wrap="square" lIns="0" tIns="0" rIns="0" bIns="0" rtlCol="0" anchor="ctr"/>
          <a:lstStyle/>
          <a:p>
            <a:pPr algn="ctr">
              <a:lnSpc>
                <a:spcPct val="120000"/>
              </a:lnSpc>
            </a:pPr>
            <a:r>
              <a:rPr lang="en-US" sz="1050" dirty="0">
                <a:solidFill>
                  <a:srgbClr val="6A7282"/>
                </a:solidFill>
                <a:latin typeface="MiSans" pitchFamily="34" charset="0"/>
                <a:ea typeface="MiSans" pitchFamily="34" charset="-122"/>
                <a:cs typeface="MiSans" pitchFamily="34" charset="-120"/>
              </a:rPr>
              <a:t>10⁻³ second</a:t>
            </a:r>
            <a:endParaRPr lang="en-US" sz="1600" dirty="0"/>
          </a:p>
        </p:txBody>
      </p:sp>
      <p:pic>
        <p:nvPicPr>
          <p:cNvPr id="31" name="Image 0" descr="https://kimi-web-img.moonshot.cn/img/scalabledeveloper.com/533919904e0f3c740ed09be5dcde249b761fd2ad.jpg"/>
          <p:cNvPicPr>
            <a:picLocks noChangeAspect="1"/>
          </p:cNvPicPr>
          <p:nvPr/>
        </p:nvPicPr>
        <p:blipFill>
          <a:blip r:embed="rId1"/>
          <a:srcRect t="109" b="109"/>
          <a:stretch>
            <a:fillRect/>
          </a:stretch>
        </p:blipFill>
        <p:spPr>
          <a:xfrm>
            <a:off x="6400720" y="1570726"/>
            <a:ext cx="5257800" cy="1552575"/>
          </a:xfrm>
          <a:prstGeom prst="roundRect">
            <a:avLst>
              <a:gd name="adj" fmla="val 0"/>
            </a:avLst>
          </a:prstGeom>
        </p:spPr>
      </p:pic>
      <p:sp>
        <p:nvSpPr>
          <p:cNvPr id="32" name="Text 29"/>
          <p:cNvSpPr/>
          <p:nvPr/>
        </p:nvSpPr>
        <p:spPr>
          <a:xfrm>
            <a:off x="6281358" y="3333615"/>
            <a:ext cx="5638800" cy="228600"/>
          </a:xfrm>
          <a:prstGeom prst="rect">
            <a:avLst/>
          </a:prstGeom>
          <a:noFill/>
        </p:spPr>
        <p:txBody>
          <a:bodyPr wrap="square" lIns="0" tIns="0" rIns="0" bIns="0" rtlCol="0" anchor="ctr"/>
          <a:lstStyle/>
          <a:p>
            <a:pPr algn="ctr">
              <a:lnSpc>
                <a:spcPct val="130000"/>
              </a:lnSpc>
            </a:pPr>
            <a:r>
              <a:rPr lang="en-US" sz="1200" dirty="0">
                <a:solidFill>
                  <a:srgbClr val="6A7282"/>
                </a:solidFill>
                <a:latin typeface="MiSans" pitchFamily="34" charset="0"/>
                <a:ea typeface="MiSans" pitchFamily="34" charset="-122"/>
                <a:cs typeface="MiSans" pitchFamily="34" charset="-120"/>
              </a:rPr>
              <a:t>Image source: Scalable Developer - Latency Timeline</a:t>
            </a:r>
            <a:endParaRPr lang="en-US" sz="1600" dirty="0"/>
          </a:p>
        </p:txBody>
      </p:sp>
      <p:sp>
        <p:nvSpPr>
          <p:cNvPr id="33" name="灯片编号占位符 32"/>
          <p:cNvSpPr>
            <a:spLocks noGrp="1"/>
          </p:cNvSpPr>
          <p:nvPr>
            <p:ph type="sldNum" sz="quarter" idx="11"/>
          </p:nvPr>
        </p:nvSpPr>
        <p:spPr/>
        <p:txBody>
          <a:bodyPr/>
          <a:lstStyle/>
          <a:p>
            <a:fld id="{B33F7469-D28B-482F-B1B6-3B8E7CF51519}" type="slidenum">
              <a:rPr lang="zh-CN" altLang="en-US" smtClean="0"/>
            </a:fld>
            <a:endParaRPr lang="zh-CN" altLang="en-US" dirty="0"/>
          </a:p>
        </p:txBody>
      </p:sp>
      <p:pic>
        <p:nvPicPr>
          <p:cNvPr id="34" name="Image 0" descr="https://kimi-web-img.moonshot.cn/img/cs.brown.edu/1ec5d83fe9b211325e13a3de7a91c7d591a65a6a.png"/>
          <p:cNvPicPr>
            <a:picLocks noChangeAspect="1"/>
          </p:cNvPicPr>
          <p:nvPr/>
        </p:nvPicPr>
        <p:blipFill>
          <a:blip r:embed="rId2"/>
          <a:srcRect l="77" r="77"/>
          <a:stretch>
            <a:fillRect/>
          </a:stretch>
        </p:blipFill>
        <p:spPr>
          <a:xfrm>
            <a:off x="7141210" y="3772535"/>
            <a:ext cx="4211955" cy="2388235"/>
          </a:xfrm>
          <a:prstGeom prst="roundRect">
            <a:avLst>
              <a:gd name="adj" fmla="val 0"/>
            </a:avLst>
          </a:prstGeom>
        </p:spPr>
      </p:pic>
      <p:sp>
        <p:nvSpPr>
          <p:cNvPr id="35" name="Text 27"/>
          <p:cNvSpPr/>
          <p:nvPr/>
        </p:nvSpPr>
        <p:spPr>
          <a:xfrm>
            <a:off x="6400738" y="6258430"/>
            <a:ext cx="5638800" cy="228600"/>
          </a:xfrm>
          <a:prstGeom prst="rect">
            <a:avLst/>
          </a:prstGeom>
          <a:noFill/>
        </p:spPr>
        <p:txBody>
          <a:bodyPr wrap="square" lIns="0" tIns="0" rIns="0" bIns="0" rtlCol="0" anchor="ctr"/>
          <a:lstStyle/>
          <a:p>
            <a:pPr algn="ctr">
              <a:lnSpc>
                <a:spcPct val="130000"/>
              </a:lnSpc>
            </a:pPr>
            <a:r>
              <a:rPr lang="en-US" sz="1200" dirty="0">
                <a:solidFill>
                  <a:srgbClr val="6A7282"/>
                </a:solidFill>
                <a:latin typeface="MiSans" pitchFamily="34" charset="0"/>
                <a:ea typeface="MiSans" pitchFamily="34" charset="-122"/>
                <a:cs typeface="MiSans" pitchFamily="34" charset="-120"/>
              </a:rPr>
              <a:t>Image source: Brown University - Memory Hierarchy</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91617" y="590685"/>
            <a:ext cx="11601450" cy="381000"/>
          </a:xfrm>
          <a:prstGeom prst="rect">
            <a:avLst/>
          </a:prstGeom>
          <a:noFill/>
        </p:spPr>
        <p:txBody>
          <a:bodyPr wrap="square" lIns="0" tIns="0" rIns="0" bIns="0" rtlCol="0" anchor="ctr"/>
          <a:lstStyle/>
          <a:p>
            <a:pPr>
              <a:lnSpc>
                <a:spcPct val="90000"/>
              </a:lnSpc>
            </a:pPr>
            <a:r>
              <a:rPr lang="en-US" sz="26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Utilization</a:t>
            </a:r>
            <a:endParaRPr lang="en-US" sz="2600" dirty="0"/>
          </a:p>
        </p:txBody>
      </p:sp>
      <p:sp>
        <p:nvSpPr>
          <p:cNvPr id="3" name="Shape 1"/>
          <p:cNvSpPr/>
          <p:nvPr/>
        </p:nvSpPr>
        <p:spPr>
          <a:xfrm>
            <a:off x="400050" y="1172210"/>
            <a:ext cx="5543550" cy="1245235"/>
          </a:xfrm>
          <a:custGeom>
            <a:avLst/>
            <a:gdLst/>
            <a:ahLst/>
            <a:cxnLst/>
            <a:rect l="l" t="t" r="r" b="b"/>
            <a:pathLst>
              <a:path w="5543455" h="1104900">
                <a:moveTo>
                  <a:pt x="37910" y="0"/>
                </a:moveTo>
                <a:lnTo>
                  <a:pt x="5429153" y="0"/>
                </a:lnTo>
                <a:cubicBezTo>
                  <a:pt x="5492281" y="0"/>
                  <a:pt x="5543455" y="51175"/>
                  <a:pt x="5543455" y="114302"/>
                </a:cubicBezTo>
                <a:lnTo>
                  <a:pt x="5543455" y="990598"/>
                </a:lnTo>
                <a:cubicBezTo>
                  <a:pt x="5543455" y="1053725"/>
                  <a:pt x="5492281" y="1104900"/>
                  <a:pt x="5429153" y="1104900"/>
                </a:cubicBezTo>
                <a:lnTo>
                  <a:pt x="37910" y="1104900"/>
                </a:lnTo>
                <a:cubicBezTo>
                  <a:pt x="16973" y="1104900"/>
                  <a:pt x="0" y="1087927"/>
                  <a:pt x="0" y="1066990"/>
                </a:cubicBezTo>
                <a:lnTo>
                  <a:pt x="0" y="37910"/>
                </a:lnTo>
                <a:cubicBezTo>
                  <a:pt x="0" y="16987"/>
                  <a:pt x="16987" y="0"/>
                  <a:pt x="37910" y="0"/>
                </a:cubicBezTo>
                <a:close/>
              </a:path>
            </a:pathLst>
          </a:custGeom>
          <a:solidFill>
            <a:srgbClr val="8B0000">
              <a:alpha val="10196"/>
            </a:srgbClr>
          </a:solidFill>
        </p:spPr>
      </p:sp>
      <p:sp>
        <p:nvSpPr>
          <p:cNvPr id="4" name="Shape 2"/>
          <p:cNvSpPr/>
          <p:nvPr/>
        </p:nvSpPr>
        <p:spPr>
          <a:xfrm>
            <a:off x="399911" y="1172200"/>
            <a:ext cx="37910" cy="1104900"/>
          </a:xfrm>
          <a:custGeom>
            <a:avLst/>
            <a:gdLst/>
            <a:ahLst/>
            <a:cxnLst/>
            <a:rect l="l" t="t" r="r" b="b"/>
            <a:pathLst>
              <a:path w="37910" h="1104900">
                <a:moveTo>
                  <a:pt x="37910" y="0"/>
                </a:moveTo>
                <a:lnTo>
                  <a:pt x="37910" y="0"/>
                </a:lnTo>
                <a:lnTo>
                  <a:pt x="37910" y="1104900"/>
                </a:lnTo>
                <a:lnTo>
                  <a:pt x="37910" y="1104900"/>
                </a:lnTo>
                <a:cubicBezTo>
                  <a:pt x="16973" y="1104900"/>
                  <a:pt x="0" y="1087927"/>
                  <a:pt x="0" y="1066990"/>
                </a:cubicBezTo>
                <a:lnTo>
                  <a:pt x="0" y="37910"/>
                </a:lnTo>
                <a:cubicBezTo>
                  <a:pt x="0" y="16987"/>
                  <a:pt x="16987" y="0"/>
                  <a:pt x="37910" y="0"/>
                </a:cubicBezTo>
                <a:close/>
              </a:path>
            </a:pathLst>
          </a:custGeom>
          <a:solidFill>
            <a:srgbClr val="8B0000"/>
          </a:solidFill>
        </p:spPr>
      </p:sp>
      <p:sp>
        <p:nvSpPr>
          <p:cNvPr id="5" name="Text 3"/>
          <p:cNvSpPr/>
          <p:nvPr/>
        </p:nvSpPr>
        <p:spPr>
          <a:xfrm>
            <a:off x="609339" y="1292826"/>
            <a:ext cx="5181600" cy="3048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Utilization</a:t>
            </a:r>
            <a:endParaRPr lang="en-US" sz="1600" dirty="0"/>
          </a:p>
        </p:txBody>
      </p:sp>
      <p:sp>
        <p:nvSpPr>
          <p:cNvPr id="6" name="Text 4"/>
          <p:cNvSpPr/>
          <p:nvPr/>
        </p:nvSpPr>
        <p:spPr>
          <a:xfrm>
            <a:off x="1930400" y="1283970"/>
            <a:ext cx="3808095" cy="313690"/>
          </a:xfrm>
          <a:prstGeom prst="rect">
            <a:avLst/>
          </a:prstGeom>
          <a:noFill/>
        </p:spPr>
        <p:txBody>
          <a:bodyPr wrap="square" lIns="0" tIns="0" rIns="0" bIns="0" rtlCol="0" anchor="ctr"/>
          <a:lstStyle/>
          <a:p>
            <a:pPr>
              <a:lnSpc>
                <a:spcPct val="120000"/>
              </a:lnSpc>
            </a:pPr>
            <a:r>
              <a:rPr lang="en-US" sz="1500" dirty="0">
                <a:solidFill>
                  <a:srgbClr val="364153"/>
                </a:solidFill>
                <a:latin typeface="Noto Sans SC" panose="020B0200000000000000" pitchFamily="34" charset="-122"/>
                <a:ea typeface="Noto Sans SC" panose="020B0200000000000000" pitchFamily="34" charset="-122"/>
                <a:cs typeface="Noto Sans SC" panose="020B0200000000000000" pitchFamily="34" charset="-120"/>
              </a:rPr>
              <a:t>Actual usage level of hardware resources</a:t>
            </a:r>
            <a:endParaRPr lang="en-US" sz="1600" dirty="0"/>
          </a:p>
        </p:txBody>
      </p:sp>
      <p:sp>
        <p:nvSpPr>
          <p:cNvPr id="7" name="Text 5"/>
          <p:cNvSpPr/>
          <p:nvPr/>
        </p:nvSpPr>
        <p:spPr>
          <a:xfrm>
            <a:off x="380956" y="2417580"/>
            <a:ext cx="5676900" cy="3048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Formula</a:t>
            </a:r>
            <a:endParaRPr lang="en-US" sz="1600" dirty="0"/>
          </a:p>
        </p:txBody>
      </p:sp>
      <p:sp>
        <p:nvSpPr>
          <p:cNvPr id="8" name="Shape 6"/>
          <p:cNvSpPr/>
          <p:nvPr/>
        </p:nvSpPr>
        <p:spPr>
          <a:xfrm>
            <a:off x="380956" y="2874654"/>
            <a:ext cx="5562600" cy="1352550"/>
          </a:xfrm>
          <a:custGeom>
            <a:avLst/>
            <a:gdLst/>
            <a:ahLst/>
            <a:cxnLst/>
            <a:rect l="l" t="t" r="r" b="b"/>
            <a:pathLst>
              <a:path w="5562600" h="1352550">
                <a:moveTo>
                  <a:pt x="114304" y="0"/>
                </a:moveTo>
                <a:lnTo>
                  <a:pt x="5448296" y="0"/>
                </a:lnTo>
                <a:cubicBezTo>
                  <a:pt x="5511424" y="0"/>
                  <a:pt x="5562600" y="51176"/>
                  <a:pt x="5562600" y="114304"/>
                </a:cubicBezTo>
                <a:lnTo>
                  <a:pt x="5562600" y="1238246"/>
                </a:lnTo>
                <a:cubicBezTo>
                  <a:pt x="5562600" y="1301374"/>
                  <a:pt x="5511424" y="1352550"/>
                  <a:pt x="5448296" y="1352550"/>
                </a:cubicBezTo>
                <a:lnTo>
                  <a:pt x="114304" y="1352550"/>
                </a:lnTo>
                <a:cubicBezTo>
                  <a:pt x="51176" y="1352550"/>
                  <a:pt x="0" y="1301374"/>
                  <a:pt x="0" y="1238246"/>
                </a:cubicBezTo>
                <a:lnTo>
                  <a:pt x="0" y="114304"/>
                </a:lnTo>
                <a:cubicBezTo>
                  <a:pt x="0" y="51176"/>
                  <a:pt x="51176" y="0"/>
                  <a:pt x="114304" y="0"/>
                </a:cubicBezTo>
                <a:close/>
              </a:path>
            </a:pathLst>
          </a:custGeom>
          <a:solidFill>
            <a:srgbClr val="F9FAFB"/>
          </a:solidFill>
        </p:spPr>
      </p:sp>
      <p:sp>
        <p:nvSpPr>
          <p:cNvPr id="9" name="Text 7"/>
          <p:cNvSpPr/>
          <p:nvPr/>
        </p:nvSpPr>
        <p:spPr>
          <a:xfrm>
            <a:off x="456943" y="3107507"/>
            <a:ext cx="5543541" cy="304800"/>
          </a:xfrm>
          <a:prstGeom prst="rect">
            <a:avLst/>
          </a:prstGeom>
          <a:noFill/>
        </p:spPr>
        <p:txBody>
          <a:bodyPr wrap="square" lIns="0" tIns="0" rIns="0" bIns="0" rtlCol="0" anchor="ctr"/>
          <a:lstStyle/>
          <a:p>
            <a:pPr algn="ctr">
              <a:lnSpc>
                <a:spcPct val="110000"/>
              </a:lnSpc>
            </a:pPr>
            <a:r>
              <a:rPr lang="en-US" sz="18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Utilization = Actual Performance / Theoretical Peak</a:t>
            </a:r>
            <a:endParaRPr lang="en-US" sz="1600" dirty="0"/>
          </a:p>
        </p:txBody>
      </p:sp>
      <p:sp>
        <p:nvSpPr>
          <p:cNvPr id="10" name="Shape 8"/>
          <p:cNvSpPr/>
          <p:nvPr/>
        </p:nvSpPr>
        <p:spPr>
          <a:xfrm>
            <a:off x="609529" y="3569774"/>
            <a:ext cx="5105400" cy="18955"/>
          </a:xfrm>
          <a:custGeom>
            <a:avLst/>
            <a:gdLst/>
            <a:ahLst/>
            <a:cxnLst/>
            <a:rect l="l" t="t" r="r" b="b"/>
            <a:pathLst>
              <a:path w="5105400" h="18955">
                <a:moveTo>
                  <a:pt x="0" y="0"/>
                </a:moveTo>
                <a:lnTo>
                  <a:pt x="5105400" y="0"/>
                </a:lnTo>
                <a:lnTo>
                  <a:pt x="5105400" y="18955"/>
                </a:lnTo>
                <a:lnTo>
                  <a:pt x="0" y="18955"/>
                </a:lnTo>
                <a:lnTo>
                  <a:pt x="0" y="0"/>
                </a:lnTo>
                <a:close/>
              </a:path>
            </a:pathLst>
          </a:custGeom>
          <a:solidFill>
            <a:srgbClr val="D1D5DC"/>
          </a:solidFill>
        </p:spPr>
      </p:sp>
      <p:sp>
        <p:nvSpPr>
          <p:cNvPr id="11" name="Text 9"/>
          <p:cNvSpPr/>
          <p:nvPr/>
        </p:nvSpPr>
        <p:spPr>
          <a:xfrm>
            <a:off x="566666" y="3731635"/>
            <a:ext cx="5191125" cy="266700"/>
          </a:xfrm>
          <a:prstGeom prst="rect">
            <a:avLst/>
          </a:prstGeom>
          <a:noFill/>
        </p:spPr>
        <p:txBody>
          <a:bodyPr wrap="square" lIns="0" tIns="0" rIns="0" bIns="0" rtlCol="0" anchor="ctr"/>
          <a:lstStyle/>
          <a:p>
            <a:pPr algn="ctr">
              <a:lnSpc>
                <a:spcPct val="130000"/>
              </a:lnSpc>
            </a:pPr>
            <a:r>
              <a:rPr lang="en-US" sz="1350" dirty="0">
                <a:solidFill>
                  <a:srgbClr val="4A5565"/>
                </a:solidFill>
                <a:latin typeface="MiSans" pitchFamily="34" charset="0"/>
                <a:ea typeface="MiSans" pitchFamily="34" charset="-122"/>
                <a:cs typeface="MiSans" pitchFamily="34" charset="-120"/>
              </a:rPr>
              <a:t>Typically expressed as a percentage</a:t>
            </a:r>
            <a:endParaRPr lang="en-US" sz="1600" dirty="0"/>
          </a:p>
        </p:txBody>
      </p:sp>
      <p:sp>
        <p:nvSpPr>
          <p:cNvPr id="12" name="Text 10"/>
          <p:cNvSpPr/>
          <p:nvPr/>
        </p:nvSpPr>
        <p:spPr>
          <a:xfrm>
            <a:off x="380956" y="4361701"/>
            <a:ext cx="5676900" cy="304800"/>
          </a:xfrm>
          <a:prstGeom prst="rect">
            <a:avLst/>
          </a:prstGeom>
          <a:noFill/>
        </p:spPr>
        <p:txBody>
          <a:bodyPr wrap="square" lIns="0" tIns="0" rIns="0" bIns="0" rtlCol="0" anchor="ctr"/>
          <a:lstStyle/>
          <a:p>
            <a:pPr>
              <a:lnSpc>
                <a:spcPct val="110000"/>
              </a:lnSpc>
            </a:pPr>
            <a:r>
              <a:rPr lang="en-US" sz="18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Calculation Example</a:t>
            </a:r>
            <a:endParaRPr lang="en-US" sz="1600" dirty="0"/>
          </a:p>
        </p:txBody>
      </p:sp>
      <p:sp>
        <p:nvSpPr>
          <p:cNvPr id="13" name="Shape 11"/>
          <p:cNvSpPr/>
          <p:nvPr/>
        </p:nvSpPr>
        <p:spPr>
          <a:xfrm>
            <a:off x="380956" y="4818771"/>
            <a:ext cx="5562600" cy="571500"/>
          </a:xfrm>
          <a:custGeom>
            <a:avLst/>
            <a:gdLst/>
            <a:ahLst/>
            <a:cxnLst/>
            <a:rect l="l" t="t" r="r" b="b"/>
            <a:pathLst>
              <a:path w="5562600" h="571500">
                <a:moveTo>
                  <a:pt x="76198" y="0"/>
                </a:moveTo>
                <a:lnTo>
                  <a:pt x="5486402" y="0"/>
                </a:lnTo>
                <a:cubicBezTo>
                  <a:pt x="5528485" y="0"/>
                  <a:pt x="5562600" y="34115"/>
                  <a:pt x="5562600" y="76198"/>
                </a:cubicBezTo>
                <a:lnTo>
                  <a:pt x="5562600" y="495302"/>
                </a:lnTo>
                <a:cubicBezTo>
                  <a:pt x="5562600" y="537385"/>
                  <a:pt x="5528485" y="571500"/>
                  <a:pt x="5486402" y="571500"/>
                </a:cubicBezTo>
                <a:lnTo>
                  <a:pt x="76198" y="571500"/>
                </a:lnTo>
                <a:cubicBezTo>
                  <a:pt x="34115" y="571500"/>
                  <a:pt x="0" y="537385"/>
                  <a:pt x="0" y="495302"/>
                </a:cubicBezTo>
                <a:lnTo>
                  <a:pt x="0" y="76198"/>
                </a:lnTo>
                <a:cubicBezTo>
                  <a:pt x="0" y="34115"/>
                  <a:pt x="34115" y="0"/>
                  <a:pt x="76198" y="0"/>
                </a:cubicBezTo>
                <a:close/>
              </a:path>
            </a:pathLst>
          </a:custGeom>
          <a:solidFill>
            <a:srgbClr val="F9FAFB"/>
          </a:solidFill>
        </p:spPr>
      </p:sp>
      <p:sp>
        <p:nvSpPr>
          <p:cNvPr id="14" name="Text 12"/>
          <p:cNvSpPr/>
          <p:nvPr/>
        </p:nvSpPr>
        <p:spPr>
          <a:xfrm>
            <a:off x="533338" y="4971152"/>
            <a:ext cx="3464231" cy="266700"/>
          </a:xfrm>
          <a:prstGeom prst="rect">
            <a:avLst/>
          </a:prstGeom>
          <a:noFill/>
        </p:spPr>
        <p:txBody>
          <a:bodyPr wrap="square" lIns="0" tIns="0" rIns="0" bIns="0" rtlCol="0" anchor="ctr"/>
          <a:lstStyle/>
          <a:p>
            <a:pPr>
              <a:lnSpc>
                <a:spcPct val="130000"/>
              </a:lnSpc>
            </a:pPr>
            <a:r>
              <a:rPr lang="en-US" sz="1350" dirty="0">
                <a:solidFill>
                  <a:srgbClr val="000000"/>
                </a:solidFill>
                <a:latin typeface="MiSans" pitchFamily="34" charset="0"/>
                <a:ea typeface="MiSans" pitchFamily="34" charset="-122"/>
                <a:cs typeface="MiSans" pitchFamily="34" charset="-120"/>
              </a:rPr>
              <a:t>GPU Theoretical Performance</a:t>
            </a:r>
            <a:endParaRPr lang="en-US" sz="1600" dirty="0"/>
          </a:p>
        </p:txBody>
      </p:sp>
      <p:sp>
        <p:nvSpPr>
          <p:cNvPr id="15" name="Text 13"/>
          <p:cNvSpPr/>
          <p:nvPr/>
        </p:nvSpPr>
        <p:spPr>
          <a:xfrm>
            <a:off x="4774125" y="4971152"/>
            <a:ext cx="1114425" cy="266700"/>
          </a:xfrm>
          <a:prstGeom prst="rect">
            <a:avLst/>
          </a:prstGeom>
          <a:noFill/>
        </p:spPr>
        <p:txBody>
          <a:bodyPr wrap="square" lIns="0" tIns="0" rIns="0" bIns="0" rtlCol="0" anchor="ctr"/>
          <a:lstStyle/>
          <a:p>
            <a:pPr>
              <a:lnSpc>
                <a:spcPct val="120000"/>
              </a:lnSpc>
            </a:pPr>
            <a:r>
              <a:rPr lang="en-US" sz="15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10 TFLOPS</a:t>
            </a:r>
            <a:endParaRPr lang="en-US" sz="1600" dirty="0"/>
          </a:p>
        </p:txBody>
      </p:sp>
      <p:sp>
        <p:nvSpPr>
          <p:cNvPr id="16" name="Shape 14"/>
          <p:cNvSpPr/>
          <p:nvPr/>
        </p:nvSpPr>
        <p:spPr>
          <a:xfrm>
            <a:off x="380956" y="5504497"/>
            <a:ext cx="5562600" cy="571500"/>
          </a:xfrm>
          <a:custGeom>
            <a:avLst/>
            <a:gdLst/>
            <a:ahLst/>
            <a:cxnLst/>
            <a:rect l="l" t="t" r="r" b="b"/>
            <a:pathLst>
              <a:path w="5562600" h="571500">
                <a:moveTo>
                  <a:pt x="76198" y="0"/>
                </a:moveTo>
                <a:lnTo>
                  <a:pt x="5486402" y="0"/>
                </a:lnTo>
                <a:cubicBezTo>
                  <a:pt x="5528485" y="0"/>
                  <a:pt x="5562600" y="34115"/>
                  <a:pt x="5562600" y="76198"/>
                </a:cubicBezTo>
                <a:lnTo>
                  <a:pt x="5562600" y="495302"/>
                </a:lnTo>
                <a:cubicBezTo>
                  <a:pt x="5562600" y="537385"/>
                  <a:pt x="5528485" y="571500"/>
                  <a:pt x="5486402" y="571500"/>
                </a:cubicBezTo>
                <a:lnTo>
                  <a:pt x="76198" y="571500"/>
                </a:lnTo>
                <a:cubicBezTo>
                  <a:pt x="34115" y="571500"/>
                  <a:pt x="0" y="537385"/>
                  <a:pt x="0" y="495302"/>
                </a:cubicBezTo>
                <a:lnTo>
                  <a:pt x="0" y="76198"/>
                </a:lnTo>
                <a:cubicBezTo>
                  <a:pt x="0" y="34115"/>
                  <a:pt x="34115" y="0"/>
                  <a:pt x="76198" y="0"/>
                </a:cubicBezTo>
                <a:close/>
              </a:path>
            </a:pathLst>
          </a:custGeom>
          <a:solidFill>
            <a:srgbClr val="F9FAFB"/>
          </a:solidFill>
        </p:spPr>
      </p:sp>
      <p:sp>
        <p:nvSpPr>
          <p:cNvPr id="17" name="Text 15"/>
          <p:cNvSpPr/>
          <p:nvPr/>
        </p:nvSpPr>
        <p:spPr>
          <a:xfrm>
            <a:off x="533338" y="5656878"/>
            <a:ext cx="3065647" cy="266700"/>
          </a:xfrm>
          <a:prstGeom prst="rect">
            <a:avLst/>
          </a:prstGeom>
          <a:noFill/>
        </p:spPr>
        <p:txBody>
          <a:bodyPr wrap="square" lIns="0" tIns="0" rIns="0" bIns="0" rtlCol="0" anchor="ctr"/>
          <a:lstStyle/>
          <a:p>
            <a:pPr>
              <a:lnSpc>
                <a:spcPct val="130000"/>
              </a:lnSpc>
            </a:pPr>
            <a:r>
              <a:rPr lang="en-US" sz="1350" dirty="0">
                <a:solidFill>
                  <a:srgbClr val="000000"/>
                </a:solidFill>
                <a:latin typeface="MiSans" pitchFamily="34" charset="0"/>
                <a:ea typeface="MiSans" pitchFamily="34" charset="-122"/>
                <a:cs typeface="MiSans" pitchFamily="34" charset="-120"/>
              </a:rPr>
              <a:t>Actual Program Performance</a:t>
            </a:r>
            <a:endParaRPr lang="en-US" sz="1600" dirty="0"/>
          </a:p>
        </p:txBody>
      </p:sp>
      <p:sp>
        <p:nvSpPr>
          <p:cNvPr id="18" name="Text 16"/>
          <p:cNvSpPr/>
          <p:nvPr/>
        </p:nvSpPr>
        <p:spPr>
          <a:xfrm>
            <a:off x="4891558" y="5656878"/>
            <a:ext cx="990600" cy="266700"/>
          </a:xfrm>
          <a:prstGeom prst="rect">
            <a:avLst/>
          </a:prstGeom>
          <a:noFill/>
        </p:spPr>
        <p:txBody>
          <a:bodyPr wrap="square" lIns="0" tIns="0" rIns="0" bIns="0" rtlCol="0" anchor="ctr"/>
          <a:lstStyle/>
          <a:p>
            <a:pPr>
              <a:lnSpc>
                <a:spcPct val="120000"/>
              </a:lnSpc>
            </a:pPr>
            <a:r>
              <a:rPr lang="en-US" sz="15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5 TFLOPS</a:t>
            </a:r>
            <a:endParaRPr lang="en-US" sz="1600" dirty="0"/>
          </a:p>
        </p:txBody>
      </p:sp>
      <p:sp>
        <p:nvSpPr>
          <p:cNvPr id="19" name="Shape 17"/>
          <p:cNvSpPr/>
          <p:nvPr/>
        </p:nvSpPr>
        <p:spPr>
          <a:xfrm>
            <a:off x="380956" y="6190213"/>
            <a:ext cx="5562600" cy="609600"/>
          </a:xfrm>
          <a:custGeom>
            <a:avLst/>
            <a:gdLst/>
            <a:ahLst/>
            <a:cxnLst/>
            <a:rect l="l" t="t" r="r" b="b"/>
            <a:pathLst>
              <a:path w="5562600" h="609600">
                <a:moveTo>
                  <a:pt x="76200" y="0"/>
                </a:moveTo>
                <a:lnTo>
                  <a:pt x="5486400" y="0"/>
                </a:lnTo>
                <a:cubicBezTo>
                  <a:pt x="5528456" y="0"/>
                  <a:pt x="5562600" y="34144"/>
                  <a:pt x="5562600" y="76200"/>
                </a:cubicBezTo>
                <a:lnTo>
                  <a:pt x="5562600" y="533400"/>
                </a:lnTo>
                <a:cubicBezTo>
                  <a:pt x="5562600" y="575456"/>
                  <a:pt x="5528456" y="609600"/>
                  <a:pt x="5486400" y="609600"/>
                </a:cubicBezTo>
                <a:lnTo>
                  <a:pt x="76200" y="609600"/>
                </a:lnTo>
                <a:cubicBezTo>
                  <a:pt x="34144" y="609600"/>
                  <a:pt x="0" y="575456"/>
                  <a:pt x="0" y="533400"/>
                </a:cubicBezTo>
                <a:lnTo>
                  <a:pt x="0" y="76200"/>
                </a:lnTo>
                <a:cubicBezTo>
                  <a:pt x="0" y="34144"/>
                  <a:pt x="34144" y="0"/>
                  <a:pt x="76200" y="0"/>
                </a:cubicBezTo>
                <a:close/>
              </a:path>
            </a:pathLst>
          </a:custGeom>
          <a:solidFill>
            <a:srgbClr val="8B0000"/>
          </a:solidFill>
        </p:spPr>
      </p:sp>
      <p:sp>
        <p:nvSpPr>
          <p:cNvPr id="20" name="Text 18"/>
          <p:cNvSpPr/>
          <p:nvPr/>
        </p:nvSpPr>
        <p:spPr>
          <a:xfrm>
            <a:off x="533338" y="6361551"/>
            <a:ext cx="914400" cy="266700"/>
          </a:xfrm>
          <a:prstGeom prst="rect">
            <a:avLst/>
          </a:prstGeom>
          <a:noFill/>
        </p:spPr>
        <p:txBody>
          <a:bodyPr wrap="square" lIns="0" tIns="0" rIns="0" bIns="0" rtlCol="0" anchor="ctr"/>
          <a:lstStyle/>
          <a:p>
            <a:pPr>
              <a:lnSpc>
                <a:spcPct val="130000"/>
              </a:lnSpc>
            </a:pPr>
            <a:r>
              <a:rPr lang="en-US" sz="1350" dirty="0">
                <a:solidFill>
                  <a:srgbClr val="FFFFFF"/>
                </a:solidFill>
                <a:latin typeface="MiSans" pitchFamily="34" charset="0"/>
                <a:ea typeface="MiSans" pitchFamily="34" charset="-122"/>
                <a:cs typeface="MiSans" pitchFamily="34" charset="-120"/>
              </a:rPr>
              <a:t>Utilization</a:t>
            </a:r>
            <a:endParaRPr lang="en-US" sz="1600" dirty="0"/>
          </a:p>
        </p:txBody>
      </p:sp>
      <p:sp>
        <p:nvSpPr>
          <p:cNvPr id="21" name="Text 19"/>
          <p:cNvSpPr/>
          <p:nvPr/>
        </p:nvSpPr>
        <p:spPr>
          <a:xfrm>
            <a:off x="5296356" y="6342594"/>
            <a:ext cx="609600" cy="304800"/>
          </a:xfrm>
          <a:prstGeom prst="rect">
            <a:avLst/>
          </a:prstGeom>
          <a:noFill/>
        </p:spPr>
        <p:txBody>
          <a:bodyPr wrap="square" lIns="0" tIns="0" rIns="0" bIns="0" rtlCol="0" anchor="ctr"/>
          <a:lstStyle/>
          <a:p>
            <a:pPr>
              <a:lnSpc>
                <a:spcPct val="110000"/>
              </a:lnSpc>
            </a:pPr>
            <a:r>
              <a:rPr lang="en-US" sz="18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50%</a:t>
            </a:r>
            <a:endParaRPr lang="en-US" sz="1600" dirty="0"/>
          </a:p>
        </p:txBody>
      </p:sp>
      <p:pic>
        <p:nvPicPr>
          <p:cNvPr id="23" name="Image 0" descr="https://kimi-web-img.moonshot.cn/img/raw.githubusercontent.com/78e5f097bb67726e75ca4e8319a5621e0f749770.png"/>
          <p:cNvPicPr>
            <a:picLocks noChangeAspect="1"/>
          </p:cNvPicPr>
          <p:nvPr/>
        </p:nvPicPr>
        <p:blipFill>
          <a:blip r:embed="rId1"/>
          <a:srcRect l="85" r="85"/>
          <a:stretch>
            <a:fillRect/>
          </a:stretch>
        </p:blipFill>
        <p:spPr>
          <a:xfrm>
            <a:off x="6756400" y="1009015"/>
            <a:ext cx="4622800" cy="2403475"/>
          </a:xfrm>
          <a:prstGeom prst="roundRect">
            <a:avLst>
              <a:gd name="adj" fmla="val 0"/>
            </a:avLst>
          </a:prstGeom>
        </p:spPr>
      </p:pic>
      <p:sp>
        <p:nvSpPr>
          <p:cNvPr id="24" name="Text 21"/>
          <p:cNvSpPr/>
          <p:nvPr/>
        </p:nvSpPr>
        <p:spPr>
          <a:xfrm>
            <a:off x="6448363" y="3506335"/>
            <a:ext cx="5638800" cy="228600"/>
          </a:xfrm>
          <a:prstGeom prst="rect">
            <a:avLst/>
          </a:prstGeom>
          <a:noFill/>
        </p:spPr>
        <p:txBody>
          <a:bodyPr wrap="square" lIns="0" tIns="0" rIns="0" bIns="0" rtlCol="0" anchor="ctr"/>
          <a:lstStyle/>
          <a:p>
            <a:pPr algn="ctr">
              <a:lnSpc>
                <a:spcPct val="130000"/>
              </a:lnSpc>
            </a:pPr>
            <a:r>
              <a:rPr lang="en-US" sz="1200" dirty="0">
                <a:solidFill>
                  <a:srgbClr val="6A7282"/>
                </a:solidFill>
                <a:latin typeface="MiSans" pitchFamily="34" charset="0"/>
                <a:ea typeface="MiSans" pitchFamily="34" charset="-122"/>
                <a:cs typeface="MiSans" pitchFamily="34" charset="-120"/>
              </a:rPr>
              <a:t>Image source: Grafana - GPU Metrics Dashboard</a:t>
            </a:r>
            <a:endParaRPr lang="en-US" sz="1600" dirty="0"/>
          </a:p>
        </p:txBody>
      </p:sp>
      <p:sp>
        <p:nvSpPr>
          <p:cNvPr id="25" name="灯片编号占位符 24"/>
          <p:cNvSpPr>
            <a:spLocks noGrp="1"/>
          </p:cNvSpPr>
          <p:nvPr>
            <p:ph type="sldNum" sz="quarter" idx="11"/>
          </p:nvPr>
        </p:nvSpPr>
        <p:spPr/>
        <p:txBody>
          <a:bodyPr/>
          <a:lstStyle/>
          <a:p>
            <a:fld id="{B33F7469-D28B-482F-B1B6-3B8E7CF51519}" type="slidenum">
              <a:rPr lang="zh-CN" altLang="en-US" smtClean="0"/>
            </a:fld>
            <a:endParaRPr lang="zh-CN" altLang="en-US" dirty="0"/>
          </a:p>
        </p:txBody>
      </p:sp>
      <p:sp>
        <p:nvSpPr>
          <p:cNvPr id="26" name="Text 3"/>
          <p:cNvSpPr/>
          <p:nvPr/>
        </p:nvSpPr>
        <p:spPr>
          <a:xfrm>
            <a:off x="609600" y="1656715"/>
            <a:ext cx="2676525" cy="293370"/>
          </a:xfrm>
          <a:prstGeom prst="rect">
            <a:avLst/>
          </a:prstGeom>
          <a:noFill/>
        </p:spPr>
        <p:txBody>
          <a:bodyPr wrap="square" lIns="0" tIns="0" rIns="0" bIns="0" rtlCol="0" anchor="ctr"/>
          <a:lstStyle/>
          <a:p>
            <a:pPr>
              <a:lnSpc>
                <a:spcPct val="110000"/>
              </a:lnSpc>
            </a:pPr>
            <a:r>
              <a:rPr lang="en-US" sz="16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Even with powerful hardware</a:t>
            </a:r>
            <a:endParaRPr lang="en-US" sz="16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27" name="Text 4"/>
          <p:cNvSpPr/>
          <p:nvPr/>
        </p:nvSpPr>
        <p:spPr>
          <a:xfrm>
            <a:off x="566159" y="2050402"/>
            <a:ext cx="5162550" cy="266700"/>
          </a:xfrm>
          <a:prstGeom prst="rect">
            <a:avLst/>
          </a:prstGeom>
          <a:noFill/>
        </p:spPr>
        <p:txBody>
          <a:bodyPr wrap="square" lIns="0" tIns="0" rIns="0" bIns="0" rtlCol="0" anchor="ctr"/>
          <a:lstStyle/>
          <a:p>
            <a:pPr>
              <a:lnSpc>
                <a:spcPct val="120000"/>
              </a:lnSpc>
            </a:pPr>
            <a:r>
              <a:rPr lang="en-US" sz="1500" dirty="0">
                <a:solidFill>
                  <a:srgbClr val="364153"/>
                </a:solidFill>
                <a:latin typeface="Noto Sans SC" panose="020B0200000000000000" pitchFamily="34" charset="-122"/>
                <a:ea typeface="Noto Sans SC" panose="020B0200000000000000" pitchFamily="34" charset="-122"/>
                <a:cs typeface="Noto Sans SC" panose="020B0200000000000000" pitchFamily="34" charset="-120"/>
              </a:rPr>
              <a:t>if utilization is low → </a:t>
            </a:r>
            <a:r>
              <a:rPr lang="en-US" sz="1500" b="1" dirty="0">
                <a:solidFill>
                  <a:srgbClr val="8B0000"/>
                </a:solidFill>
                <a:latin typeface="Noto Sans SC" panose="020B0200000000000000" pitchFamily="34" charset="-122"/>
                <a:ea typeface="Noto Sans SC" panose="020B0200000000000000" pitchFamily="34" charset="-122"/>
                <a:cs typeface="Noto Sans SC" panose="020B0200000000000000" pitchFamily="34" charset="-120"/>
              </a:rPr>
              <a:t>performance will still be poor</a:t>
            </a:r>
            <a:endParaRPr lang="en-US" sz="1600" dirty="0"/>
          </a:p>
        </p:txBody>
      </p:sp>
      <p:pic>
        <p:nvPicPr>
          <p:cNvPr id="29" name="Image 0" descr="https://kimi-web-img.moonshot.cn/img/lambda.ai/60fab8d7fea072c09cfda0dbddc697bca9dec722.png"/>
          <p:cNvPicPr>
            <a:picLocks noChangeAspect="1"/>
          </p:cNvPicPr>
          <p:nvPr/>
        </p:nvPicPr>
        <p:blipFill>
          <a:blip r:embed="rId2"/>
          <a:srcRect t="46" b="46"/>
          <a:stretch>
            <a:fillRect/>
          </a:stretch>
        </p:blipFill>
        <p:spPr>
          <a:xfrm>
            <a:off x="7231380" y="3885565"/>
            <a:ext cx="3672840" cy="2501900"/>
          </a:xfrm>
          <a:prstGeom prst="roundRect">
            <a:avLst>
              <a:gd name="adj" fmla="val 0"/>
            </a:avLst>
          </a:prstGeom>
        </p:spPr>
      </p:pic>
      <p:sp>
        <p:nvSpPr>
          <p:cNvPr id="30" name="Text 27"/>
          <p:cNvSpPr/>
          <p:nvPr/>
        </p:nvSpPr>
        <p:spPr>
          <a:xfrm>
            <a:off x="6248338" y="6342250"/>
            <a:ext cx="5638800" cy="228600"/>
          </a:xfrm>
          <a:prstGeom prst="rect">
            <a:avLst/>
          </a:prstGeom>
          <a:noFill/>
        </p:spPr>
        <p:txBody>
          <a:bodyPr wrap="square" lIns="0" tIns="0" rIns="0" bIns="0" rtlCol="0" anchor="ctr"/>
          <a:lstStyle/>
          <a:p>
            <a:pPr algn="ctr">
              <a:lnSpc>
                <a:spcPct val="130000"/>
              </a:lnSpc>
            </a:pPr>
            <a:r>
              <a:rPr lang="en-US" sz="1200" dirty="0">
                <a:solidFill>
                  <a:srgbClr val="6A7282"/>
                </a:solidFill>
                <a:latin typeface="MiSans" pitchFamily="34" charset="0"/>
                <a:ea typeface="MiSans" pitchFamily="34" charset="-122"/>
                <a:cs typeface="MiSans" pitchFamily="34" charset="-120"/>
              </a:rPr>
              <a:t>Image source: Lambda Labs - GPU Monitoring Tools</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5"/>
          <p:cNvSpPr>
            <a:spLocks noGrp="1"/>
          </p:cNvSpPr>
          <p:nvPr>
            <p:ph type="sldNum" sz="quarter" idx="11"/>
          </p:nvPr>
        </p:nvSpPr>
        <p:spPr/>
        <p:txBody>
          <a:bodyPr/>
          <a:lstStyle/>
          <a:p>
            <a:fld id="{B33F7469-D28B-482F-B1B6-3B8E7CF51519}" type="slidenum">
              <a:rPr lang="zh-CN" altLang="en-US" smtClean="0"/>
            </a:fld>
            <a:endParaRPr lang="zh-CN" altLang="en-US" dirty="0"/>
          </a:p>
        </p:txBody>
      </p:sp>
      <p:sp>
        <p:nvSpPr>
          <p:cNvPr id="42" name="文本框 41"/>
          <p:cNvSpPr txBox="1"/>
          <p:nvPr/>
        </p:nvSpPr>
        <p:spPr>
          <a:xfrm>
            <a:off x="1383665" y="6374130"/>
            <a:ext cx="4064000" cy="368300"/>
          </a:xfrm>
          <a:prstGeom prst="rect">
            <a:avLst/>
          </a:prstGeom>
          <a:noFill/>
        </p:spPr>
        <p:txBody>
          <a:bodyPr wrap="square" rtlCol="0">
            <a:spAutoFit/>
          </a:bodyPr>
          <a:p>
            <a:endParaRPr lang="zh-CN" altLang="en-US"/>
          </a:p>
        </p:txBody>
      </p:sp>
      <p:sp>
        <p:nvSpPr>
          <p:cNvPr id="3" name="文本框 2"/>
          <p:cNvSpPr txBox="1"/>
          <p:nvPr/>
        </p:nvSpPr>
        <p:spPr>
          <a:xfrm>
            <a:off x="819785" y="593725"/>
            <a:ext cx="7971155" cy="450850"/>
          </a:xfrm>
          <a:prstGeom prst="rect">
            <a:avLst/>
          </a:prstGeom>
          <a:noFill/>
        </p:spPr>
        <p:txBody>
          <a:bodyPr wrap="square" rtlCol="0" anchor="t">
            <a:spAutoFit/>
          </a:bodyPr>
          <a:p>
            <a:pPr>
              <a:lnSpc>
                <a:spcPct val="90000"/>
              </a:lnSpc>
            </a:pPr>
            <a:r>
              <a:rPr lang="en-US" altLang="zh-CN" sz="2600" b="1" dirty="0">
                <a:latin typeface="Noto Sans SC" panose="020B0200000000000000" pitchFamily="34" charset="-122"/>
                <a:ea typeface="Noto Sans SC" panose="020B0200000000000000" pitchFamily="34" charset="-122"/>
                <a:sym typeface="+mn-ea"/>
              </a:rPr>
              <a:t>MLPerf – Industry Standard for ML Performance</a:t>
            </a:r>
            <a:endParaRPr lang="en-US" altLang="zh-CN" sz="2600" b="1" dirty="0">
              <a:latin typeface="Noto Sans SC" panose="020B0200000000000000" pitchFamily="34" charset="-122"/>
              <a:ea typeface="Noto Sans SC" panose="020B0200000000000000" pitchFamily="34" charset="-122"/>
              <a:sym typeface="+mn-ea"/>
            </a:endParaRPr>
          </a:p>
        </p:txBody>
      </p:sp>
      <p:sp>
        <p:nvSpPr>
          <p:cNvPr id="7" name="Shape 1"/>
          <p:cNvSpPr/>
          <p:nvPr>
            <p:custDataLst>
              <p:tags r:id="rId1"/>
            </p:custDataLst>
          </p:nvPr>
        </p:nvSpPr>
        <p:spPr>
          <a:xfrm>
            <a:off x="523875" y="1466850"/>
            <a:ext cx="3099435" cy="4699000"/>
          </a:xfrm>
          <a:custGeom>
            <a:avLst/>
            <a:gdLst/>
            <a:ahLst/>
            <a:cxnLst/>
            <a:rect l="l" t="t" r="r" b="b"/>
            <a:pathLst>
              <a:path w="5569767" h="4698910">
                <a:moveTo>
                  <a:pt x="108874" y="0"/>
                </a:moveTo>
                <a:lnTo>
                  <a:pt x="5460893" y="0"/>
                </a:lnTo>
                <a:cubicBezTo>
                  <a:pt x="5521022" y="0"/>
                  <a:pt x="5569767" y="48744"/>
                  <a:pt x="5569767" y="108874"/>
                </a:cubicBezTo>
                <a:lnTo>
                  <a:pt x="5569767" y="4590036"/>
                </a:lnTo>
                <a:cubicBezTo>
                  <a:pt x="5569767" y="4650165"/>
                  <a:pt x="5521022" y="4698910"/>
                  <a:pt x="5460893" y="4698910"/>
                </a:cubicBezTo>
                <a:lnTo>
                  <a:pt x="108874" y="4698910"/>
                </a:lnTo>
                <a:cubicBezTo>
                  <a:pt x="48744" y="4698910"/>
                  <a:pt x="0" y="4650165"/>
                  <a:pt x="0" y="4590036"/>
                </a:cubicBezTo>
                <a:lnTo>
                  <a:pt x="0" y="108874"/>
                </a:lnTo>
                <a:cubicBezTo>
                  <a:pt x="0" y="48785"/>
                  <a:pt x="48785" y="0"/>
                  <a:pt x="108874" y="0"/>
                </a:cubicBezTo>
                <a:close/>
              </a:path>
            </a:pathLst>
          </a:custGeom>
          <a:gradFill flip="none" rotWithShape="1">
            <a:gsLst>
              <a:gs pos="0">
                <a:srgbClr val="F9FAFB"/>
              </a:gs>
              <a:gs pos="100000">
                <a:srgbClr val="FFFFFF"/>
              </a:gs>
            </a:gsLst>
            <a:lin ang="2700000" scaled="1"/>
          </a:gradFill>
          <a:ln w="25274">
            <a:solidFill>
              <a:srgbClr val="E5E7EB"/>
            </a:solidFill>
            <a:prstDash val="solid"/>
          </a:ln>
        </p:spPr>
      </p:sp>
      <p:sp>
        <p:nvSpPr>
          <p:cNvPr id="9" name="Shape 1"/>
          <p:cNvSpPr/>
          <p:nvPr>
            <p:custDataLst>
              <p:tags r:id="rId2"/>
            </p:custDataLst>
          </p:nvPr>
        </p:nvSpPr>
        <p:spPr>
          <a:xfrm>
            <a:off x="4374515" y="1466850"/>
            <a:ext cx="3099435" cy="4699000"/>
          </a:xfrm>
          <a:custGeom>
            <a:avLst/>
            <a:gdLst/>
            <a:ahLst/>
            <a:cxnLst/>
            <a:rect l="l" t="t" r="r" b="b"/>
            <a:pathLst>
              <a:path w="5569767" h="4698910">
                <a:moveTo>
                  <a:pt x="108874" y="0"/>
                </a:moveTo>
                <a:lnTo>
                  <a:pt x="5460893" y="0"/>
                </a:lnTo>
                <a:cubicBezTo>
                  <a:pt x="5521022" y="0"/>
                  <a:pt x="5569767" y="48744"/>
                  <a:pt x="5569767" y="108874"/>
                </a:cubicBezTo>
                <a:lnTo>
                  <a:pt x="5569767" y="4590036"/>
                </a:lnTo>
                <a:cubicBezTo>
                  <a:pt x="5569767" y="4650165"/>
                  <a:pt x="5521022" y="4698910"/>
                  <a:pt x="5460893" y="4698910"/>
                </a:cubicBezTo>
                <a:lnTo>
                  <a:pt x="108874" y="4698910"/>
                </a:lnTo>
                <a:cubicBezTo>
                  <a:pt x="48744" y="4698910"/>
                  <a:pt x="0" y="4650165"/>
                  <a:pt x="0" y="4590036"/>
                </a:cubicBezTo>
                <a:lnTo>
                  <a:pt x="0" y="108874"/>
                </a:lnTo>
                <a:cubicBezTo>
                  <a:pt x="0" y="48785"/>
                  <a:pt x="48785" y="0"/>
                  <a:pt x="108874" y="0"/>
                </a:cubicBezTo>
                <a:close/>
              </a:path>
            </a:pathLst>
          </a:custGeom>
          <a:gradFill flip="none" rotWithShape="1">
            <a:gsLst>
              <a:gs pos="0">
                <a:srgbClr val="F9FAFB"/>
              </a:gs>
              <a:gs pos="100000">
                <a:srgbClr val="FFFFFF"/>
              </a:gs>
            </a:gsLst>
            <a:lin ang="2700000" scaled="1"/>
          </a:gradFill>
          <a:ln w="25274">
            <a:solidFill>
              <a:srgbClr val="E5E7EB"/>
            </a:solidFill>
            <a:prstDash val="solid"/>
          </a:ln>
        </p:spPr>
      </p:sp>
      <p:sp>
        <p:nvSpPr>
          <p:cNvPr id="10" name="Shape 1"/>
          <p:cNvSpPr/>
          <p:nvPr>
            <p:custDataLst>
              <p:tags r:id="rId3"/>
            </p:custDataLst>
          </p:nvPr>
        </p:nvSpPr>
        <p:spPr>
          <a:xfrm>
            <a:off x="8427720" y="1466850"/>
            <a:ext cx="3099435" cy="4699000"/>
          </a:xfrm>
          <a:custGeom>
            <a:avLst/>
            <a:gdLst/>
            <a:ahLst/>
            <a:cxnLst/>
            <a:rect l="l" t="t" r="r" b="b"/>
            <a:pathLst>
              <a:path w="5569767" h="4698910">
                <a:moveTo>
                  <a:pt x="108874" y="0"/>
                </a:moveTo>
                <a:lnTo>
                  <a:pt x="5460893" y="0"/>
                </a:lnTo>
                <a:cubicBezTo>
                  <a:pt x="5521022" y="0"/>
                  <a:pt x="5569767" y="48744"/>
                  <a:pt x="5569767" y="108874"/>
                </a:cubicBezTo>
                <a:lnTo>
                  <a:pt x="5569767" y="4590036"/>
                </a:lnTo>
                <a:cubicBezTo>
                  <a:pt x="5569767" y="4650165"/>
                  <a:pt x="5521022" y="4698910"/>
                  <a:pt x="5460893" y="4698910"/>
                </a:cubicBezTo>
                <a:lnTo>
                  <a:pt x="108874" y="4698910"/>
                </a:lnTo>
                <a:cubicBezTo>
                  <a:pt x="48744" y="4698910"/>
                  <a:pt x="0" y="4650165"/>
                  <a:pt x="0" y="4590036"/>
                </a:cubicBezTo>
                <a:lnTo>
                  <a:pt x="0" y="108874"/>
                </a:lnTo>
                <a:cubicBezTo>
                  <a:pt x="0" y="48785"/>
                  <a:pt x="48785" y="0"/>
                  <a:pt x="108874" y="0"/>
                </a:cubicBezTo>
                <a:close/>
              </a:path>
            </a:pathLst>
          </a:custGeom>
          <a:gradFill flip="none" rotWithShape="1">
            <a:gsLst>
              <a:gs pos="0">
                <a:srgbClr val="F9FAFB"/>
              </a:gs>
              <a:gs pos="100000">
                <a:srgbClr val="FFFFFF"/>
              </a:gs>
            </a:gsLst>
            <a:lin ang="2700000" scaled="1"/>
          </a:gradFill>
          <a:ln w="25274">
            <a:solidFill>
              <a:srgbClr val="E5E7EB"/>
            </a:solidFill>
            <a:prstDash val="solid"/>
          </a:ln>
        </p:spPr>
      </p:sp>
      <p:sp>
        <p:nvSpPr>
          <p:cNvPr id="12" name="文本框 11" descr="7b0a202020202262756c6c6574223a20227b5c2263617465676f727949645c223a5c225c222c5c2274656d706c61746549645c223a32303233313731337d220a7d0a"/>
          <p:cNvSpPr txBox="1"/>
          <p:nvPr>
            <p:custDataLst>
              <p:tags r:id="rId4"/>
            </p:custDataLst>
          </p:nvPr>
        </p:nvSpPr>
        <p:spPr>
          <a:xfrm>
            <a:off x="727710" y="1699895"/>
            <a:ext cx="2721610" cy="4061460"/>
          </a:xfrm>
          <a:prstGeom prst="rect">
            <a:avLst/>
          </a:prstGeom>
          <a:noFill/>
        </p:spPr>
        <p:txBody>
          <a:bodyPr wrap="square" rtlCol="0">
            <a:spAutoFit/>
          </a:bodyPr>
          <a:p>
            <a:r>
              <a:rPr lang="en-US" altLang="zh-CN" b="1">
                <a:latin typeface="Noto Sans SC" panose="020B0200000000000000" pitchFamily="34" charset="-122"/>
                <a:ea typeface="Noto Sans SC" panose="020B0200000000000000" pitchFamily="34" charset="-122"/>
              </a:rPr>
              <a:t>What is MLPerf?</a:t>
            </a:r>
            <a:endParaRPr lang="en-US" altLang="zh-CN" b="1">
              <a:latin typeface="Noto Sans SC" panose="020B0200000000000000" pitchFamily="34" charset="-122"/>
              <a:ea typeface="Noto Sans SC" panose="020B0200000000000000" pitchFamily="34" charset="-122"/>
            </a:endParaRPr>
          </a:p>
          <a:p>
            <a:r>
              <a:rPr lang="en-US" altLang="zh-CN" sz="1200">
                <a:latin typeface="Noto Sans SC" panose="020B0200000000000000" pitchFamily="34" charset="-122"/>
                <a:ea typeface="Noto Sans SC" panose="020B0200000000000000" pitchFamily="34" charset="-122"/>
              </a:rPr>
              <a:t>An industry-standard benchmark suite for machine learning performance</a:t>
            </a:r>
            <a:endParaRPr lang="en-US" altLang="zh-CN" sz="1200">
              <a:latin typeface="Noto Sans SC" panose="020B0200000000000000" pitchFamily="34" charset="-122"/>
              <a:ea typeface="Noto Sans SC" panose="020B0200000000000000" pitchFamily="34" charset="-122"/>
            </a:endParaRPr>
          </a:p>
          <a:p>
            <a:endParaRPr lang="en-US" altLang="zh-CN" sz="12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sz="1600">
                <a:latin typeface="Noto Sans SC" panose="020B0200000000000000" pitchFamily="34" charset="-122"/>
                <a:ea typeface="Noto Sans SC" panose="020B0200000000000000" pitchFamily="34" charset="-122"/>
              </a:rPr>
              <a:t>Two main suites: MLPerf Training and MLPerf Inference</a:t>
            </a:r>
            <a:endParaRPr lang="en-US" altLang="zh-CN" sz="16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endParaRPr lang="en-US" altLang="zh-CN" sz="16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sz="1600">
                <a:latin typeface="Noto Sans SC" panose="020B0200000000000000" pitchFamily="34" charset="-122"/>
                <a:ea typeface="Noto Sans SC" panose="020B0200000000000000" pitchFamily="34" charset="-122"/>
              </a:rPr>
              <a:t>Over 3,500 individual results from 100+ system configurations (as of 2021)</a:t>
            </a:r>
            <a:endParaRPr lang="en-US" altLang="zh-CN" sz="16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endParaRPr lang="en-US" altLang="zh-CN" sz="16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sz="1600">
                <a:latin typeface="Noto Sans SC" panose="020B0200000000000000" pitchFamily="34" charset="-122"/>
                <a:ea typeface="Noto Sans SC" panose="020B0200000000000000" pitchFamily="34" charset="-122"/>
              </a:rPr>
              <a:t>Performance spans 5 orders of magnitude – from tiny embedded devices to cloud-scale datacenters</a:t>
            </a:r>
            <a:endParaRPr lang="en-US" altLang="zh-CN" sz="1600">
              <a:latin typeface="Noto Sans SC" panose="020B0200000000000000" pitchFamily="34" charset="-122"/>
              <a:ea typeface="Noto Sans SC" panose="020B0200000000000000" pitchFamily="34" charset="-122"/>
            </a:endParaRPr>
          </a:p>
        </p:txBody>
      </p:sp>
      <p:sp>
        <p:nvSpPr>
          <p:cNvPr id="13" name="文本框 12" descr="7b0a202020202262756c6c6574223a20227b5c2263617465676f727949645c223a5c225c222c5c2274656d706c61746549645c223a32303233313731337d220a7d0a"/>
          <p:cNvSpPr txBox="1"/>
          <p:nvPr>
            <p:custDataLst>
              <p:tags r:id="rId7"/>
            </p:custDataLst>
          </p:nvPr>
        </p:nvSpPr>
        <p:spPr>
          <a:xfrm>
            <a:off x="4577715" y="1699895"/>
            <a:ext cx="2663190" cy="3661410"/>
          </a:xfrm>
          <a:prstGeom prst="rect">
            <a:avLst/>
          </a:prstGeom>
          <a:noFill/>
        </p:spPr>
        <p:txBody>
          <a:bodyPr wrap="square" rtlCol="0">
            <a:spAutoFit/>
          </a:bodyPr>
          <a:p>
            <a:r>
              <a:rPr lang="en-US" altLang="zh-CN" b="1">
                <a:latin typeface="Noto Sans SC" panose="020B0200000000000000" pitchFamily="34" charset="-122"/>
                <a:ea typeface="Noto Sans SC" panose="020B0200000000000000" pitchFamily="34" charset="-122"/>
              </a:rPr>
              <a:t>Why MLPerf matters?</a:t>
            </a:r>
            <a:endParaRPr lang="en-US" altLang="zh-CN" b="1">
              <a:latin typeface="Noto Sans SC" panose="020B0200000000000000" pitchFamily="34" charset="-122"/>
              <a:ea typeface="Noto Sans SC" panose="020B0200000000000000" pitchFamily="34" charset="-122"/>
            </a:endParaRPr>
          </a:p>
          <a:p>
            <a:endParaRPr lang="en-US" altLang="zh-CN">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sz="1400">
                <a:latin typeface="Noto Sans SC" panose="020B0200000000000000" pitchFamily="34" charset="-122"/>
                <a:ea typeface="Noto Sans SC" panose="020B0200000000000000" pitchFamily="34" charset="-122"/>
              </a:rPr>
              <a:t>Provides fair, reproducible comparison across hardware and software</a:t>
            </a:r>
            <a:endParaRPr lang="en-US" altLang="zh-CN" sz="14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endParaRPr lang="en-US" altLang="zh-CN" sz="14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sz="1400">
                <a:latin typeface="Noto Sans SC" panose="020B0200000000000000" pitchFamily="34" charset="-122"/>
                <a:ea typeface="Noto Sans SC" panose="020B0200000000000000" pitchFamily="34" charset="-122"/>
              </a:rPr>
              <a:t>Drives performance improvements – 1.3× speedup in 16-chip results between v0.5 and v0.6 despite higher quality targets</a:t>
            </a:r>
            <a:endParaRPr lang="en-US" altLang="zh-CN" sz="14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endParaRPr lang="en-US" altLang="zh-CN" sz="14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sz="1400">
                <a:latin typeface="Noto Sans SC" panose="020B0200000000000000" pitchFamily="34" charset="-122"/>
                <a:ea typeface="Noto Sans SC" panose="020B0200000000000000" pitchFamily="34" charset="-122"/>
              </a:rPr>
              <a:t>Growing adoption: 3 submitters (40+ results) → 14 submitters (500+ results) in early rounds</a:t>
            </a:r>
            <a:endParaRPr lang="en-US" altLang="zh-CN" sz="1400">
              <a:latin typeface="Noto Sans SC" panose="020B0200000000000000" pitchFamily="34" charset="-122"/>
              <a:ea typeface="Noto Sans SC" panose="020B0200000000000000" pitchFamily="34" charset="-122"/>
            </a:endParaRPr>
          </a:p>
        </p:txBody>
      </p:sp>
      <p:sp>
        <p:nvSpPr>
          <p:cNvPr id="14" name="文本框 13" descr="7b0a202020202262756c6c6574223a20227b5c2263617465676f727949645c223a5c225c222c5c2274656d706c61746549645c223a32303233313731337d220a7d0a"/>
          <p:cNvSpPr txBox="1"/>
          <p:nvPr>
            <p:custDataLst>
              <p:tags r:id="rId8"/>
            </p:custDataLst>
          </p:nvPr>
        </p:nvSpPr>
        <p:spPr>
          <a:xfrm>
            <a:off x="8646160" y="1699895"/>
            <a:ext cx="2663190" cy="3912870"/>
          </a:xfrm>
          <a:prstGeom prst="rect">
            <a:avLst/>
          </a:prstGeom>
          <a:noFill/>
        </p:spPr>
        <p:txBody>
          <a:bodyPr wrap="square" rtlCol="0">
            <a:noAutofit/>
          </a:bodyPr>
          <a:p>
            <a:r>
              <a:rPr lang="en-US" altLang="zh-CN" b="1">
                <a:latin typeface="Noto Sans SC" panose="020B0200000000000000" pitchFamily="34" charset="-122"/>
                <a:ea typeface="Noto Sans SC" panose="020B0200000000000000" pitchFamily="34" charset="-122"/>
              </a:rPr>
              <a:t>Key design principles:</a:t>
            </a:r>
            <a:endParaRPr lang="en-US" altLang="zh-CN" b="1">
              <a:latin typeface="Noto Sans SC" panose="020B0200000000000000" pitchFamily="34" charset="-122"/>
              <a:ea typeface="Noto Sans SC" panose="020B0200000000000000" pitchFamily="34" charset="-122"/>
            </a:endParaRPr>
          </a:p>
          <a:p>
            <a:endParaRPr lang="en-US" altLang="zh-CN">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sz="1400" b="1">
                <a:latin typeface="Noto Sans SC" panose="020B0200000000000000" pitchFamily="34" charset="-122"/>
                <a:ea typeface="Noto Sans SC" panose="020B0200000000000000" pitchFamily="34" charset="-122"/>
              </a:rPr>
              <a:t>Closed Division</a:t>
            </a:r>
            <a:r>
              <a:rPr lang="en-US" altLang="zh-CN" sz="1400">
                <a:latin typeface="Noto Sans SC" panose="020B0200000000000000" pitchFamily="34" charset="-122"/>
                <a:ea typeface="Noto Sans SC" panose="020B0200000000000000" pitchFamily="34" charset="-122"/>
              </a:rPr>
              <a:t>: Fixed model for apples-to-apples hardware comparison</a:t>
            </a:r>
            <a:endParaRPr lang="en-US" altLang="zh-CN" sz="14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endParaRPr lang="en-US" altLang="zh-CN" sz="14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sz="1400" b="1">
                <a:latin typeface="Noto Sans SC" panose="020B0200000000000000" pitchFamily="34" charset="-122"/>
                <a:ea typeface="Noto Sans SC" panose="020B0200000000000000" pitchFamily="34" charset="-122"/>
              </a:rPr>
              <a:t>Open Division</a:t>
            </a:r>
            <a:r>
              <a:rPr lang="en-US" altLang="zh-CN" sz="1400">
                <a:latin typeface="Noto Sans SC" panose="020B0200000000000000" pitchFamily="34" charset="-122"/>
                <a:ea typeface="Noto Sans SC" panose="020B0200000000000000" pitchFamily="34" charset="-122"/>
              </a:rPr>
              <a:t>: Any model allowed to encourage innovation</a:t>
            </a:r>
            <a:endParaRPr lang="en-US" altLang="zh-CN" sz="14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endParaRPr lang="en-US" altLang="zh-CN" sz="14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sz="1400" b="1">
                <a:latin typeface="Noto Sans SC" panose="020B0200000000000000" pitchFamily="34" charset="-122"/>
                <a:ea typeface="Noto Sans SC" panose="020B0200000000000000" pitchFamily="34" charset="-122"/>
              </a:rPr>
              <a:t>Time-to-train</a:t>
            </a:r>
            <a:r>
              <a:rPr lang="en-US" altLang="zh-CN" sz="1400">
                <a:latin typeface="Noto Sans SC" panose="020B0200000000000000" pitchFamily="34" charset="-122"/>
                <a:ea typeface="Noto Sans SC" panose="020B0200000000000000" pitchFamily="34" charset="-122"/>
              </a:rPr>
              <a:t> as the primary metric for training (vs. throughput)</a:t>
            </a:r>
            <a:endParaRPr lang="en-US" altLang="zh-CN" sz="14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endParaRPr lang="en-US" altLang="zh-CN" sz="1400">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sz="1400" b="1">
                <a:latin typeface="Noto Sans SC" panose="020B0200000000000000" pitchFamily="34" charset="-122"/>
                <a:ea typeface="Noto Sans SC" panose="020B0200000000000000" pitchFamily="34" charset="-122"/>
              </a:rPr>
              <a:t>Semantic-level benchmarks</a:t>
            </a:r>
            <a:r>
              <a:rPr lang="en-US" altLang="zh-CN" sz="1400">
                <a:latin typeface="Noto Sans SC" panose="020B0200000000000000" pitchFamily="34" charset="-122"/>
                <a:ea typeface="Noto Sans SC" panose="020B0200000000000000" pitchFamily="34" charset="-122"/>
              </a:rPr>
              <a:t>: Submitters reimplement models for their hardware</a:t>
            </a:r>
            <a:endParaRPr lang="en-US" altLang="zh-CN" sz="1400">
              <a:latin typeface="Noto Sans SC" panose="020B0200000000000000" pitchFamily="34" charset="-122"/>
              <a:ea typeface="Noto Sans SC" panose="020B0200000000000000" pitchFamily="34" charset="-122"/>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6233" y="607604"/>
            <a:ext cx="11629571" cy="362857"/>
          </a:xfrm>
          <a:prstGeom prst="rect">
            <a:avLst/>
          </a:prstGeom>
          <a:noFill/>
        </p:spPr>
        <p:txBody>
          <a:bodyPr wrap="square" lIns="0" tIns="0" rIns="0" bIns="0" rtlCol="0" anchor="ctr"/>
          <a:lstStyle/>
          <a:p>
            <a:pPr>
              <a:lnSpc>
                <a:spcPct val="90000"/>
              </a:lnSpc>
            </a:pPr>
            <a:r>
              <a:rPr lang="en-US" altLang="zh-CN" sz="2600" b="1" dirty="0">
                <a:latin typeface="Noto Sans SC" panose="020B0200000000000000" pitchFamily="34" charset="-122"/>
                <a:ea typeface="Noto Sans SC" panose="020B0200000000000000" pitchFamily="34" charset="-122"/>
              </a:rPr>
              <a:t> MLPerf Inference – Scenarios &amp; Metrics</a:t>
            </a:r>
            <a:endParaRPr lang="en-US" altLang="zh-CN" sz="2600" b="1" dirty="0">
              <a:latin typeface="Noto Sans SC" panose="020B0200000000000000" pitchFamily="34" charset="-122"/>
              <a:ea typeface="Noto Sans SC" panose="020B0200000000000000" pitchFamily="34" charset="-122"/>
            </a:endParaRPr>
          </a:p>
        </p:txBody>
      </p:sp>
      <p:sp>
        <p:nvSpPr>
          <p:cNvPr id="36" name="灯片编号占位符 35"/>
          <p:cNvSpPr>
            <a:spLocks noGrp="1"/>
          </p:cNvSpPr>
          <p:nvPr>
            <p:ph type="sldNum" sz="quarter" idx="11"/>
          </p:nvPr>
        </p:nvSpPr>
        <p:spPr/>
        <p:txBody>
          <a:bodyPr/>
          <a:lstStyle/>
          <a:p>
            <a:fld id="{B33F7469-D28B-482F-B1B6-3B8E7CF51519}" type="slidenum">
              <a:rPr lang="zh-CN" altLang="en-US" smtClean="0"/>
            </a:fld>
            <a:endParaRPr lang="zh-CN" altLang="en-US" dirty="0"/>
          </a:p>
        </p:txBody>
      </p:sp>
      <p:pic>
        <p:nvPicPr>
          <p:cNvPr id="37" name="图片 36"/>
          <p:cNvPicPr>
            <a:picLocks noChangeAspect="1"/>
          </p:cNvPicPr>
          <p:nvPr/>
        </p:nvPicPr>
        <p:blipFill>
          <a:blip r:embed="rId1"/>
          <a:stretch>
            <a:fillRect/>
          </a:stretch>
        </p:blipFill>
        <p:spPr>
          <a:xfrm>
            <a:off x="6096000" y="2105025"/>
            <a:ext cx="5728335" cy="2745105"/>
          </a:xfrm>
          <a:prstGeom prst="rect">
            <a:avLst/>
          </a:prstGeom>
        </p:spPr>
      </p:pic>
      <p:sp>
        <p:nvSpPr>
          <p:cNvPr id="39" name="内容占位符 38"/>
          <p:cNvSpPr>
            <a:spLocks noGrp="1"/>
          </p:cNvSpPr>
          <p:nvPr>
            <p:ph sz="quarter" idx="13"/>
          </p:nvPr>
        </p:nvSpPr>
        <p:spPr>
          <a:xfrm>
            <a:off x="419100" y="1265555"/>
            <a:ext cx="5304790" cy="5032375"/>
          </a:xfrm>
        </p:spPr>
        <p:txBody>
          <a:bodyPr/>
          <a:p>
            <a:r>
              <a:rPr lang="en-US" altLang="zh-CN" b="1"/>
              <a:t>Quality targets:</a:t>
            </a:r>
            <a:endParaRPr lang="en-US" altLang="zh-CN" b="1"/>
          </a:p>
          <a:p>
            <a:pPr lvl="1"/>
            <a:r>
              <a:rPr lang="en-US" altLang="zh-CN" sz="1800"/>
              <a:t>Most tasks: within 1% of FP32 reference accuracy</a:t>
            </a:r>
            <a:endParaRPr lang="en-US" altLang="zh-CN" sz="2400"/>
          </a:p>
          <a:p>
            <a:pPr lvl="1"/>
            <a:r>
              <a:rPr lang="en-US" altLang="zh-CN" sz="1800"/>
              <a:t>Medical imaging / recommendation: within 0.1% (real-world stringency)</a:t>
            </a:r>
            <a:endParaRPr lang="en-US" altLang="zh-CN" sz="1800"/>
          </a:p>
          <a:p>
            <a:r>
              <a:rPr lang="en-US" altLang="zh-CN" b="1"/>
              <a:t>Performance varies drastically across scenarios:</a:t>
            </a:r>
            <a:endParaRPr lang="en-US" altLang="zh-CN" b="1"/>
          </a:p>
          <a:p>
            <a:pPr lvl="1"/>
            <a:r>
              <a:rPr lang="en-US" altLang="zh-CN" sz="1800"/>
              <a:t>Server vs Offline throughput ratio: up to 0.55× (GNMT), ~0.8× on average</a:t>
            </a:r>
            <a:endParaRPr lang="en-US" altLang="zh-CN" sz="2400"/>
          </a:p>
          <a:p>
            <a:pPr lvl="1"/>
            <a:r>
              <a:rPr lang="en-US" altLang="zh-CN" sz="1800"/>
              <a:t>Systems optimized for throughput may perform poorly under latency constraints</a:t>
            </a:r>
            <a:endParaRPr lang="en-US" altLang="zh-CN" sz="1800"/>
          </a:p>
        </p:txBody>
      </p:sp>
      <p:sp>
        <p:nvSpPr>
          <p:cNvPr id="42" name="文本框 41"/>
          <p:cNvSpPr txBox="1"/>
          <p:nvPr/>
        </p:nvSpPr>
        <p:spPr>
          <a:xfrm>
            <a:off x="419100" y="6113145"/>
            <a:ext cx="10295255" cy="460375"/>
          </a:xfrm>
          <a:prstGeom prst="rect">
            <a:avLst/>
          </a:prstGeom>
          <a:noFill/>
        </p:spPr>
        <p:txBody>
          <a:bodyPr wrap="square" rtlCol="0">
            <a:spAutoFit/>
          </a:bodyPr>
          <a:p>
            <a:r>
              <a:rPr lang="en-US" altLang="zh-CN" sz="1200">
                <a:solidFill>
                  <a:schemeClr val="bg2">
                    <a:lumMod val="50000"/>
                  </a:schemeClr>
                </a:solidFill>
              </a:rPr>
              <a:t>Reddi, V. J., Cheng, C., Kanter, D., Mattson, P., Schmuelling, G., &amp; Wu, C.-J. (2021). The vision behind MLPerf: Understanding AI inference performance. IEEE Micro, *41*(3), 10–18</a:t>
            </a:r>
            <a:endParaRPr lang="en-US" altLang="zh-CN" sz="1200">
              <a:solidFill>
                <a:schemeClr val="bg2">
                  <a:lumMod val="50000"/>
                </a:schemeClr>
              </a:solidFil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1"/>
          </p:nvPr>
        </p:nvSpPr>
        <p:spPr/>
        <p:txBody>
          <a:bodyPr/>
          <a:p>
            <a:endParaRPr lang="zh-CN" altLang="en-US"/>
          </a:p>
        </p:txBody>
      </p:sp>
      <p:sp>
        <p:nvSpPr>
          <p:cNvPr id="4" name="内容占位符 1"/>
          <p:cNvSpPr>
            <a:spLocks noGrp="1"/>
          </p:cNvSpPr>
          <p:nvPr>
            <p:custDataLst>
              <p:tags r:id="rId1"/>
            </p:custDataLst>
          </p:nvPr>
        </p:nvSpPr>
        <p:spPr>
          <a:xfrm>
            <a:off x="5579216" y="127000"/>
            <a:ext cx="6110447" cy="6858000"/>
          </a:xfrm>
          <a:prstGeom prst="rect">
            <a:avLst/>
          </a:prstGeom>
        </p:spPr>
        <p:txBody>
          <a:bodyPr vert="horz" lIns="91440" tIns="45720" rIns="91440" bIns="45720" rtlCol="0" anchor="ctr">
            <a:normAutofit/>
          </a:bodyPr>
          <a:lstStyle>
            <a:lvl1pPr marL="360045" marR="0" indent="-360045" algn="l" defTabSz="342900" rtl="0" eaLnBrk="1" fontAlgn="auto" latinLnBrk="0" hangingPunct="1">
              <a:lnSpc>
                <a:spcPct val="100000"/>
              </a:lnSpc>
              <a:spcBef>
                <a:spcPts val="3000"/>
              </a:spcBef>
              <a:spcAft>
                <a:spcPts val="0"/>
              </a:spcAft>
              <a:buClr>
                <a:srgbClr val="8B0012"/>
              </a:buClr>
              <a:buSzTx/>
              <a:buFontTx/>
              <a:buChar char="•"/>
              <a:defRPr sz="2800" b="0" i="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Tx/>
              <a:buFontTx/>
              <a:buChar char="◦"/>
              <a:defRPr sz="24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sz="20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sz="16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a:lstStyle>
          <a:p>
            <a:r>
              <a:rPr lang="en-US" altLang="zh-CN">
                <a:solidFill>
                  <a:schemeClr val="tx1"/>
                </a:solidFill>
                <a:cs typeface="Arial" panose="020B0604020202020204" pitchFamily="34" charset="0"/>
              </a:rPr>
              <a:t>Benchmarking &amp; Performance Metrics</a:t>
            </a:r>
            <a:endParaRPr lang="en-US" altLang="zh-CN">
              <a:solidFill>
                <a:schemeClr val="tx1"/>
              </a:solidFill>
              <a:cs typeface="Arial" panose="020B0604020202020204" pitchFamily="34" charset="0"/>
            </a:endParaRPr>
          </a:p>
          <a:p>
            <a:r>
              <a:rPr lang="en-US" altLang="zh-CN" b="1">
                <a:solidFill>
                  <a:srgbClr val="C00000"/>
                </a:solidFill>
              </a:rPr>
              <a:t>Profiling &amp; Roofline Analysis</a:t>
            </a:r>
            <a:endParaRPr lang="en-US" altLang="zh-CN" b="1">
              <a:solidFill>
                <a:srgbClr val="C00000"/>
              </a:solidFill>
            </a:endParaRPr>
          </a:p>
          <a:p>
            <a:r>
              <a:rPr lang="en-US" altLang="zh-CN"/>
              <a:t>Auto-Tuning &amp; KernelGen</a:t>
            </a:r>
            <a:endParaRPr lang="en-US" altLang="zh-CN"/>
          </a:p>
          <a:p>
            <a:r>
              <a:rPr lang="en-US" altLang="zh-CN"/>
              <a:t>End-to-End Optimization</a:t>
            </a:r>
            <a:endParaRPr lang="en-US" altLang="zh-CN"/>
          </a:p>
          <a:p>
            <a:r>
              <a:rPr lang="en-US" altLang="zh-CN"/>
              <a:t>Lab: Performance Analysis in Practice</a:t>
            </a:r>
            <a:endParaRPr lang="en-US" altLang="zh-CN"/>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400" b="1">
                <a:sym typeface="+mn-ea"/>
              </a:rPr>
              <a:t>Profiling answers: Where is the time spent inside the kernel?</a:t>
            </a:r>
            <a:endParaRPr lang="en-US" altLang="zh-CN" sz="2400" b="1">
              <a:sym typeface="+mn-ea"/>
            </a:endParaRPr>
          </a:p>
        </p:txBody>
      </p:sp>
      <p:sp>
        <p:nvSpPr>
          <p:cNvPr id="3" name="内容占位符 2"/>
          <p:cNvSpPr>
            <a:spLocks noGrp="1"/>
          </p:cNvSpPr>
          <p:nvPr>
            <p:ph sz="quarter" idx="13"/>
          </p:nvPr>
        </p:nvSpPr>
        <p:spPr/>
        <p:txBody>
          <a:bodyPr/>
          <a:p>
            <a:r>
              <a:rPr lang="en-US" altLang="zh-CN" sz="2400">
                <a:sym typeface="+mn-ea"/>
              </a:rPr>
              <a:t>Execution model under </a:t>
            </a:r>
            <a:r>
              <a:rPr lang="en-US" altLang="zh-CN">
                <a:sym typeface="+mn-ea"/>
              </a:rPr>
              <a:t>GPU Architecture</a:t>
            </a:r>
            <a:endParaRPr lang="en-US" altLang="zh-CN" sz="2400"/>
          </a:p>
          <a:p>
            <a:pPr lvl="1"/>
            <a:r>
              <a:rPr lang="en-US" altLang="zh-CN" sz="2400">
                <a:sym typeface="+mn-ea"/>
              </a:rPr>
              <a:t>GPU execution without/with batched thread groups</a:t>
            </a:r>
            <a:endParaRPr lang="en-US" altLang="zh-CN" sz="2400"/>
          </a:p>
          <a:p>
            <a:pPr lvl="1"/>
            <a:r>
              <a:rPr lang="en-US" altLang="zh-CN" sz="2400">
                <a:sym typeface="+mn-ea"/>
              </a:rPr>
              <a:t>Single-instruction multiple threads (SIMT) </a:t>
            </a:r>
            <a:endParaRPr lang="en-US" altLang="zh-CN" sz="2400"/>
          </a:p>
          <a:p>
            <a:pPr lvl="1"/>
            <a:r>
              <a:rPr lang="en-US" altLang="zh-CN" sz="2400">
                <a:sym typeface="+mn-ea"/>
              </a:rPr>
              <a:t>Hierachical thread execution model</a:t>
            </a:r>
            <a:endParaRPr lang="en-US" altLang="zh-CN" sz="2400"/>
          </a:p>
          <a:p>
            <a:endParaRPr lang="zh-CN" altLang="en-US"/>
          </a:p>
        </p:txBody>
      </p:sp>
      <p:sp>
        <p:nvSpPr>
          <p:cNvPr id="4" name="页脚占位符 3"/>
          <p:cNvSpPr>
            <a:spLocks noGrp="1"/>
          </p:cNvSpPr>
          <p:nvPr>
            <p:ph type="ftr" sz="quarter" idx="11"/>
          </p:nvPr>
        </p:nvSpPr>
        <p:spPr/>
        <p:txBody>
          <a:bodyPr/>
          <a:p>
            <a:endParaRPr lang="zh-CN" altLang="en-US" dirty="0"/>
          </a:p>
        </p:txBody>
      </p:sp>
      <p:sp>
        <p:nvSpPr>
          <p:cNvPr id="5" name="灯片编号占位符 4"/>
          <p:cNvSpPr>
            <a:spLocks noGrp="1"/>
          </p:cNvSpPr>
          <p:nvPr>
            <p:ph type="sldNum" sz="quarter" idx="12"/>
          </p:nvPr>
        </p:nvSpPr>
        <p:spPr/>
        <p:txBody>
          <a:bodyPr/>
          <a:p>
            <a:fld id="{B33F7469-D28B-482F-B1B6-3B8E7CF51519}"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5814695" y="2959735"/>
            <a:ext cx="5760000" cy="3070468"/>
          </a:xfrm>
          <a:prstGeom prst="rect">
            <a:avLst/>
          </a:prstGeom>
        </p:spPr>
      </p:pic>
      <p:pic>
        <p:nvPicPr>
          <p:cNvPr id="7" name="图片 6"/>
          <p:cNvPicPr>
            <a:picLocks noChangeAspect="1"/>
          </p:cNvPicPr>
          <p:nvPr/>
        </p:nvPicPr>
        <p:blipFill>
          <a:blip r:embed="rId2"/>
          <a:stretch>
            <a:fillRect/>
          </a:stretch>
        </p:blipFill>
        <p:spPr>
          <a:xfrm>
            <a:off x="984250" y="3527425"/>
            <a:ext cx="4320000" cy="1933961"/>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sym typeface="+mn-ea"/>
              </a:rPr>
              <a:t>Occupancy – </a:t>
            </a:r>
            <a:r>
              <a:rPr lang="en-US" altLang="zh-CN">
                <a:sym typeface="+mn-ea"/>
              </a:rPr>
              <a:t>Keeping the GPU Busy</a:t>
            </a:r>
            <a:endParaRPr lang="en-US" altLang="zh-CN">
              <a:sym typeface="+mn-ea"/>
            </a:endParaRPr>
          </a:p>
        </p:txBody>
      </p:sp>
      <p:sp>
        <p:nvSpPr>
          <p:cNvPr id="5" name="内容占位符 4"/>
          <p:cNvSpPr>
            <a:spLocks noGrp="1"/>
          </p:cNvSpPr>
          <p:nvPr>
            <p:ph sz="quarter" idx="13"/>
          </p:nvPr>
        </p:nvSpPr>
        <p:spPr>
          <a:xfrm>
            <a:off x="523875" y="1323975"/>
            <a:ext cx="11277600" cy="5032375"/>
          </a:xfrm>
        </p:spPr>
        <p:txBody>
          <a:bodyPr>
            <a:normAutofit lnSpcReduction="10000"/>
          </a:bodyPr>
          <a:p>
            <a:r>
              <a:rPr lang="en-US" altLang="zh-CN" sz="2400" dirty="0">
                <a:sym typeface="+mn-ea"/>
              </a:rPr>
              <a:t>Occupancy = Active Warps / Maximum Warps per SM</a:t>
            </a:r>
            <a:endParaRPr lang="en-US" altLang="zh-CN" sz="2400" dirty="0">
              <a:sym typeface="+mn-ea"/>
            </a:endParaRPr>
          </a:p>
          <a:p>
            <a:pPr lvl="0"/>
            <a:r>
              <a:rPr lang="en-US" altLang="zh-CN" sz="2400" dirty="0">
                <a:sym typeface="+mn-ea"/>
              </a:rPr>
              <a:t>Three limiting factors:Registers: </a:t>
            </a:r>
            <a:endParaRPr lang="en-US" altLang="zh-CN" sz="2400" dirty="0">
              <a:sym typeface="+mn-ea"/>
            </a:endParaRPr>
          </a:p>
          <a:p>
            <a:pPr lvl="1"/>
            <a:r>
              <a:rPr lang="en-US" altLang="zh-CN" sz="2000" dirty="0">
                <a:sym typeface="+mn-ea"/>
              </a:rPr>
              <a:t>Each SM has limited registers (e.g., 16384)</a:t>
            </a:r>
            <a:endParaRPr lang="en-US" altLang="zh-CN" sz="2000" dirty="0">
              <a:sym typeface="+mn-ea"/>
            </a:endParaRPr>
          </a:p>
          <a:p>
            <a:pPr lvl="1"/>
            <a:r>
              <a:rPr lang="en-US" altLang="zh-CN" sz="1600" dirty="0">
                <a:sym typeface="+mn-ea"/>
              </a:rPr>
              <a:t>Shared Memory: Limited capacity per SM</a:t>
            </a:r>
            <a:endParaRPr lang="en-US" altLang="zh-CN" sz="1600" dirty="0">
              <a:sym typeface="+mn-ea"/>
            </a:endParaRPr>
          </a:p>
          <a:p>
            <a:pPr lvl="1"/>
            <a:r>
              <a:rPr lang="en-US" altLang="zh-CN" sz="1600" dirty="0">
                <a:sym typeface="+mn-ea"/>
              </a:rPr>
              <a:t>Thread Block Size: Hardware limit (NVIDIA: 1024, BI-V150: 4096)</a:t>
            </a:r>
            <a:endParaRPr lang="en-US" altLang="zh-CN" sz="1600" dirty="0">
              <a:sym typeface="+mn-ea"/>
            </a:endParaRPr>
          </a:p>
          <a:p>
            <a:pPr lvl="0"/>
            <a:r>
              <a:rPr lang="en-US" sz="2400" dirty="0">
                <a:sym typeface="+mn-ea"/>
              </a:rPr>
              <a:t>Example: Consider a GPU with 16384 registers per SM running a kernel that requires 35 registers per thread </a:t>
            </a:r>
            <a:endParaRPr lang="en-US" sz="2400" dirty="0"/>
          </a:p>
          <a:p>
            <a:pPr lvl="1"/>
            <a:r>
              <a:rPr lang="en-US" sz="2400" dirty="0">
                <a:solidFill>
                  <a:srgbClr val="8B0012"/>
                </a:solidFill>
                <a:sym typeface="+mn-ea"/>
              </a:rPr>
              <a:t>Each SM can execute at most 468 threads</a:t>
            </a:r>
            <a:endParaRPr lang="en-US" sz="2400" dirty="0">
              <a:solidFill>
                <a:srgbClr val="8B0012"/>
              </a:solidFill>
            </a:endParaRPr>
          </a:p>
          <a:p>
            <a:pPr lvl="1"/>
            <a:r>
              <a:rPr lang="en-US" sz="2400" dirty="0">
                <a:solidFill>
                  <a:srgbClr val="8B0012"/>
                </a:solidFill>
                <a:sym typeface="+mn-ea"/>
              </a:rPr>
              <a:t>This affects the choice of block size</a:t>
            </a:r>
            <a:endParaRPr lang="en-US" sz="2400" dirty="0">
              <a:solidFill>
                <a:srgbClr val="8B0012"/>
              </a:solidFill>
              <a:sym typeface="+mn-ea"/>
            </a:endParaRPr>
          </a:p>
          <a:p>
            <a:pPr lvl="2"/>
            <a:r>
              <a:rPr lang="en-US" dirty="0">
                <a:sym typeface="+mn-ea"/>
              </a:rPr>
              <a:t>A block size of 512 is not possible</a:t>
            </a:r>
            <a:endParaRPr lang="en-US" dirty="0"/>
          </a:p>
          <a:p>
            <a:pPr lvl="2"/>
            <a:r>
              <a:rPr lang="en-US" dirty="0">
                <a:sym typeface="+mn-ea"/>
              </a:rPr>
              <a:t>Only 1 block of 256 threads is allowed at a time, even though 212 more threads could be running</a:t>
            </a:r>
            <a:endParaRPr lang="en-US" dirty="0"/>
          </a:p>
          <a:p>
            <a:pPr lvl="2"/>
            <a:r>
              <a:rPr lang="en-US" dirty="0">
                <a:sym typeface="+mn-ea"/>
              </a:rPr>
              <a:t>3 blockss of 128 threads are allowed, providing 384 threads to be scheduled, etc.</a:t>
            </a:r>
            <a:endParaRPr lang="zh-CN" altLang="en-US"/>
          </a:p>
        </p:txBody>
      </p:sp>
      <p:sp>
        <p:nvSpPr>
          <p:cNvPr id="2" name="页脚占位符 1"/>
          <p:cNvSpPr>
            <a:spLocks noGrp="1"/>
          </p:cNvSpPr>
          <p:nvPr>
            <p:ph type="ftr" sz="quarter" idx="11"/>
          </p:nvPr>
        </p:nvSpPr>
        <p:spPr/>
        <p:txBody>
          <a:bodyPr/>
          <a:p>
            <a:endParaRPr lang="zh-CN" altLang="en-US" dirty="0"/>
          </a:p>
        </p:txBody>
      </p:sp>
      <p:sp>
        <p:nvSpPr>
          <p:cNvPr id="3" name="灯片编号占位符 2"/>
          <p:cNvSpPr>
            <a:spLocks noGrp="1"/>
          </p:cNvSpPr>
          <p:nvPr>
            <p:ph type="sldNum" sz="quarter" idx="12"/>
          </p:nvPr>
        </p:nvSpPr>
        <p:spPr/>
        <p:txBody>
          <a:bodyPr/>
          <a:p>
            <a:fld id="{B33F7469-D28B-482F-B1B6-3B8E7CF51519}" type="slidenum">
              <a:rPr lang="zh-CN" altLang="en-US" smtClean="0"/>
            </a:fld>
            <a:endParaRPr lang="zh-CN" altLang="en-US"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Occupancy – Limiting Factors</a:t>
            </a:r>
            <a:endParaRPr lang="zh-CN" altLang="en-US"/>
          </a:p>
        </p:txBody>
      </p:sp>
      <p:sp>
        <p:nvSpPr>
          <p:cNvPr id="3" name="内容占位符 2"/>
          <p:cNvSpPr>
            <a:spLocks noGrp="1"/>
          </p:cNvSpPr>
          <p:nvPr>
            <p:ph sz="quarter" idx="13"/>
          </p:nvPr>
        </p:nvSpPr>
        <p:spPr>
          <a:xfrm>
            <a:off x="523875" y="1323975"/>
            <a:ext cx="11244580" cy="4853305"/>
          </a:xfrm>
        </p:spPr>
        <p:txBody>
          <a:bodyPr>
            <a:normAutofit lnSpcReduction="10000"/>
          </a:bodyPr>
          <a:p>
            <a:r>
              <a:rPr lang="en-US" sz="2400" dirty="0">
                <a:sym typeface="+mn-ea"/>
              </a:rPr>
              <a:t>The minimum of these three factors is what limits the active number of threads (or occupancy) of a compute unit </a:t>
            </a:r>
            <a:endParaRPr lang="en-US" sz="2400" dirty="0"/>
          </a:p>
          <a:p>
            <a:r>
              <a:rPr lang="en-US" sz="2400" dirty="0">
                <a:sym typeface="+mn-ea"/>
              </a:rPr>
              <a:t>The interactions between the factors are complex</a:t>
            </a:r>
            <a:endParaRPr lang="en-US" sz="2400" dirty="0"/>
          </a:p>
          <a:p>
            <a:pPr lvl="1"/>
            <a:r>
              <a:rPr lang="en-US" sz="2400" dirty="0">
                <a:solidFill>
                  <a:srgbClr val="8B0012"/>
                </a:solidFill>
                <a:sym typeface="+mn-ea"/>
              </a:rPr>
              <a:t>The limiting factor may have either thread or </a:t>
            </a:r>
            <a:r>
              <a:rPr lang="en-US" sz="2400" dirty="0" err="1">
                <a:solidFill>
                  <a:srgbClr val="8B0012"/>
                </a:solidFill>
                <a:sym typeface="+mn-ea"/>
              </a:rPr>
              <a:t>wavefront</a:t>
            </a:r>
            <a:r>
              <a:rPr lang="en-US" sz="2400" dirty="0">
                <a:solidFill>
                  <a:srgbClr val="8B0012"/>
                </a:solidFill>
                <a:sym typeface="+mn-ea"/>
              </a:rPr>
              <a:t> granularity</a:t>
            </a:r>
            <a:endParaRPr lang="en-US" sz="2400" dirty="0">
              <a:solidFill>
                <a:srgbClr val="8B0012"/>
              </a:solidFill>
            </a:endParaRPr>
          </a:p>
          <a:p>
            <a:pPr lvl="1"/>
            <a:r>
              <a:rPr lang="en-US" sz="2400" dirty="0">
                <a:solidFill>
                  <a:srgbClr val="8B0012"/>
                </a:solidFill>
                <a:sym typeface="+mn-ea"/>
              </a:rPr>
              <a:t>Changing work group size may affect register or shared memory usage</a:t>
            </a:r>
            <a:endParaRPr lang="en-US" sz="2400" dirty="0">
              <a:solidFill>
                <a:srgbClr val="8B0012"/>
              </a:solidFill>
            </a:endParaRPr>
          </a:p>
          <a:p>
            <a:pPr lvl="1"/>
            <a:r>
              <a:rPr lang="en-US" sz="2400" dirty="0">
                <a:solidFill>
                  <a:srgbClr val="8B0012"/>
                </a:solidFill>
                <a:sym typeface="+mn-ea"/>
              </a:rPr>
              <a:t>Reducing any factor (such as register usage) slightly may have allow another work group to be active</a:t>
            </a:r>
            <a:endParaRPr lang="en-US" sz="2400" dirty="0">
              <a:solidFill>
                <a:srgbClr val="8B0012"/>
              </a:solidFill>
            </a:endParaRPr>
          </a:p>
          <a:p>
            <a:r>
              <a:rPr lang="en-US" sz="2400" dirty="0">
                <a:sym typeface="+mn-ea"/>
              </a:rPr>
              <a:t>The Nsight occupancy calculator from NVIDIA plots these factors visually allowing the tradeoffs to be visualized</a:t>
            </a:r>
            <a:endParaRPr lang="zh-CN" altLang="en-US"/>
          </a:p>
        </p:txBody>
      </p:sp>
      <p:sp>
        <p:nvSpPr>
          <p:cNvPr id="4" name="页脚占位符 3"/>
          <p:cNvSpPr>
            <a:spLocks noGrp="1"/>
          </p:cNvSpPr>
          <p:nvPr>
            <p:ph type="ftr" sz="quarter" idx="11"/>
          </p:nvPr>
        </p:nvSpPr>
        <p:spPr/>
        <p:txBody>
          <a:bodyPr/>
          <a:p>
            <a:endParaRPr lang="zh-CN" altLang="en-US" dirty="0"/>
          </a:p>
        </p:txBody>
      </p:sp>
      <p:sp>
        <p:nvSpPr>
          <p:cNvPr id="5" name="灯片编号占位符 4"/>
          <p:cNvSpPr>
            <a:spLocks noGrp="1"/>
          </p:cNvSpPr>
          <p:nvPr>
            <p:ph type="sldNum" sz="quarter" idx="12"/>
          </p:nvPr>
        </p:nvSpPr>
        <p:spPr/>
        <p:txBody>
          <a:bodyPr/>
          <a:p>
            <a:fld id="{B33F7469-D28B-482F-B1B6-3B8E7CF51519}" type="slidenum">
              <a:rPr lang="zh-CN" altLang="en-US" smtClean="0"/>
            </a:fld>
            <a:endParaRPr lang="zh-CN" altLang="en-US" dirty="0"/>
          </a:p>
        </p:txBody>
      </p:sp>
      <p:pic>
        <p:nvPicPr>
          <p:cNvPr id="101" name="图片 100"/>
          <p:cNvPicPr/>
          <p:nvPr/>
        </p:nvPicPr>
        <p:blipFill>
          <a:blip r:embed="rId1"/>
          <a:stretch>
            <a:fillRect/>
          </a:stretch>
        </p:blipFill>
        <p:spPr>
          <a:xfrm>
            <a:off x="7623175" y="4791075"/>
            <a:ext cx="3486150" cy="188595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Occupancy: Tradeoffs</a:t>
            </a:r>
            <a:endParaRPr lang="zh-CN" altLang="en-US"/>
          </a:p>
        </p:txBody>
      </p:sp>
      <p:sp>
        <p:nvSpPr>
          <p:cNvPr id="3" name="内容占位符 2"/>
          <p:cNvSpPr>
            <a:spLocks noGrp="1"/>
          </p:cNvSpPr>
          <p:nvPr>
            <p:ph sz="quarter" idx="13"/>
          </p:nvPr>
        </p:nvSpPr>
        <p:spPr>
          <a:xfrm>
            <a:off x="523875" y="1323975"/>
            <a:ext cx="8530590" cy="4853305"/>
          </a:xfrm>
        </p:spPr>
        <p:txBody>
          <a:bodyPr>
            <a:normAutofit lnSpcReduction="10000"/>
          </a:bodyPr>
          <a:p>
            <a:r>
              <a:rPr lang="en-US" sz="2400">
                <a:sym typeface="+mn-ea"/>
              </a:rPr>
              <a:t>Shared memory and registers are persistent within SM when other warps execute</a:t>
            </a:r>
            <a:endParaRPr lang="en-US" sz="2400"/>
          </a:p>
          <a:p>
            <a:pPr lvl="1"/>
            <a:r>
              <a:rPr lang="en-US" sz="2400">
                <a:sym typeface="+mn-ea"/>
              </a:rPr>
              <a:t>Allows for lower overhead context switch</a:t>
            </a:r>
            <a:endParaRPr lang="en-US" sz="2400"/>
          </a:p>
          <a:p>
            <a:r>
              <a:rPr lang="en-US" sz="2400">
                <a:sym typeface="+mn-ea"/>
              </a:rPr>
              <a:t>The number of active warps that can be supported per SM is limited</a:t>
            </a:r>
            <a:endParaRPr lang="en-US" sz="2400"/>
          </a:p>
          <a:p>
            <a:pPr lvl="1"/>
            <a:r>
              <a:rPr lang="en-US" sz="2400">
                <a:sym typeface="+mn-ea"/>
              </a:rPr>
              <a:t>Decided by the </a:t>
            </a:r>
            <a:r>
              <a:rPr lang="en-US" sz="2400" u="sng">
                <a:sym typeface="+mn-ea"/>
              </a:rPr>
              <a:t>shared memory per block</a:t>
            </a:r>
            <a:r>
              <a:rPr lang="en-US" sz="2400">
                <a:sym typeface="+mn-ea"/>
              </a:rPr>
              <a:t> and </a:t>
            </a:r>
            <a:r>
              <a:rPr lang="en-US" sz="2400" u="sng">
                <a:sym typeface="+mn-ea"/>
              </a:rPr>
              <a:t>register usage per thread</a:t>
            </a:r>
            <a:endParaRPr lang="en-US" sz="2400"/>
          </a:p>
          <a:p>
            <a:r>
              <a:rPr lang="en-US" sz="2400">
                <a:sym typeface="+mn-ea"/>
              </a:rPr>
              <a:t>The number of active warps possible on an SM can be expressed using a metric called utilization</a:t>
            </a:r>
            <a:endParaRPr lang="en-US" sz="2400"/>
          </a:p>
          <a:p>
            <a:r>
              <a:rPr lang="en-US" sz="2400">
                <a:sym typeface="+mn-ea"/>
              </a:rPr>
              <a:t>Larger numbers of active warps allow for better latency hiding on both NV and AMD hardware</a:t>
            </a:r>
            <a:endParaRPr lang="zh-CN" altLang="en-US"/>
          </a:p>
        </p:txBody>
      </p:sp>
      <p:sp>
        <p:nvSpPr>
          <p:cNvPr id="4" name="页脚占位符 3"/>
          <p:cNvSpPr>
            <a:spLocks noGrp="1"/>
          </p:cNvSpPr>
          <p:nvPr>
            <p:ph type="ftr" sz="quarter" idx="11"/>
          </p:nvPr>
        </p:nvSpPr>
        <p:spPr/>
        <p:txBody>
          <a:bodyPr/>
          <a:p>
            <a:endParaRPr lang="zh-CN" altLang="en-US" dirty="0"/>
          </a:p>
        </p:txBody>
      </p:sp>
      <p:sp>
        <p:nvSpPr>
          <p:cNvPr id="5" name="灯片编号占位符 4"/>
          <p:cNvSpPr>
            <a:spLocks noGrp="1"/>
          </p:cNvSpPr>
          <p:nvPr>
            <p:ph type="sldNum" sz="quarter" idx="12"/>
          </p:nvPr>
        </p:nvSpPr>
        <p:spPr/>
        <p:txBody>
          <a:bodyPr/>
          <a:p>
            <a:fld id="{B33F7469-D28B-482F-B1B6-3B8E7CF51519}" type="slidenum">
              <a:rPr lang="zh-CN" altLang="en-US" smtClean="0"/>
            </a:fld>
            <a:endParaRPr lang="zh-CN" altLang="en-US" dirty="0"/>
          </a:p>
        </p:txBody>
      </p:sp>
      <p:pic>
        <p:nvPicPr>
          <p:cNvPr id="8" name="图片 7"/>
          <p:cNvPicPr>
            <a:picLocks noChangeAspect="1"/>
          </p:cNvPicPr>
          <p:nvPr/>
        </p:nvPicPr>
        <p:blipFill>
          <a:blip r:embed="rId1"/>
          <a:stretch>
            <a:fillRect/>
          </a:stretch>
        </p:blipFill>
        <p:spPr>
          <a:xfrm>
            <a:off x="9150350" y="1370330"/>
            <a:ext cx="2520000" cy="4117936"/>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Profiling Tools on BI-V150 (Days Platform)</a:t>
            </a:r>
            <a:endParaRPr lang="en-US" altLang="zh-CN"/>
          </a:p>
        </p:txBody>
      </p:sp>
      <p:sp>
        <p:nvSpPr>
          <p:cNvPr id="4" name="页脚占位符 3"/>
          <p:cNvSpPr>
            <a:spLocks noGrp="1"/>
          </p:cNvSpPr>
          <p:nvPr>
            <p:ph type="ftr" sz="quarter" idx="11"/>
          </p:nvPr>
        </p:nvSpPr>
        <p:spPr/>
        <p:txBody>
          <a:bodyPr/>
          <a:p>
            <a:endParaRPr lang="zh-CN" altLang="en-US" dirty="0"/>
          </a:p>
        </p:txBody>
      </p:sp>
      <p:sp>
        <p:nvSpPr>
          <p:cNvPr id="5" name="灯片编号占位符 4"/>
          <p:cNvSpPr>
            <a:spLocks noGrp="1"/>
          </p:cNvSpPr>
          <p:nvPr>
            <p:ph type="sldNum" sz="quarter" idx="12"/>
          </p:nvPr>
        </p:nvSpPr>
        <p:spPr/>
        <p:txBody>
          <a:bodyPr/>
          <a:p>
            <a:fld id="{B33F7469-D28B-482F-B1B6-3B8E7CF51519}" type="slidenum">
              <a:rPr lang="zh-CN" altLang="en-US" smtClean="0"/>
            </a:fld>
            <a:endParaRPr lang="zh-CN" altLang="en-US" dirty="0"/>
          </a:p>
        </p:txBody>
      </p:sp>
      <p:sp>
        <p:nvSpPr>
          <p:cNvPr id="7" name="Shape 1"/>
          <p:cNvSpPr/>
          <p:nvPr>
            <p:custDataLst>
              <p:tags r:id="rId1"/>
            </p:custDataLst>
          </p:nvPr>
        </p:nvSpPr>
        <p:spPr>
          <a:xfrm>
            <a:off x="523875" y="1466850"/>
            <a:ext cx="3099435" cy="4699000"/>
          </a:xfrm>
          <a:custGeom>
            <a:avLst/>
            <a:gdLst/>
            <a:ahLst/>
            <a:cxnLst/>
            <a:rect l="l" t="t" r="r" b="b"/>
            <a:pathLst>
              <a:path w="5569767" h="4698910">
                <a:moveTo>
                  <a:pt x="108874" y="0"/>
                </a:moveTo>
                <a:lnTo>
                  <a:pt x="5460893" y="0"/>
                </a:lnTo>
                <a:cubicBezTo>
                  <a:pt x="5521022" y="0"/>
                  <a:pt x="5569767" y="48744"/>
                  <a:pt x="5569767" y="108874"/>
                </a:cubicBezTo>
                <a:lnTo>
                  <a:pt x="5569767" y="4590036"/>
                </a:lnTo>
                <a:cubicBezTo>
                  <a:pt x="5569767" y="4650165"/>
                  <a:pt x="5521022" y="4698910"/>
                  <a:pt x="5460893" y="4698910"/>
                </a:cubicBezTo>
                <a:lnTo>
                  <a:pt x="108874" y="4698910"/>
                </a:lnTo>
                <a:cubicBezTo>
                  <a:pt x="48744" y="4698910"/>
                  <a:pt x="0" y="4650165"/>
                  <a:pt x="0" y="4590036"/>
                </a:cubicBezTo>
                <a:lnTo>
                  <a:pt x="0" y="108874"/>
                </a:lnTo>
                <a:cubicBezTo>
                  <a:pt x="0" y="48785"/>
                  <a:pt x="48785" y="0"/>
                  <a:pt x="108874" y="0"/>
                </a:cubicBezTo>
                <a:close/>
              </a:path>
            </a:pathLst>
          </a:custGeom>
          <a:gradFill flip="none" rotWithShape="1">
            <a:gsLst>
              <a:gs pos="0">
                <a:srgbClr val="F9FAFB"/>
              </a:gs>
              <a:gs pos="100000">
                <a:srgbClr val="FFFFFF"/>
              </a:gs>
            </a:gsLst>
            <a:lin ang="2700000" scaled="1"/>
          </a:gradFill>
          <a:ln w="25274">
            <a:solidFill>
              <a:srgbClr val="E5E7EB"/>
            </a:solidFill>
            <a:prstDash val="solid"/>
          </a:ln>
        </p:spPr>
      </p:sp>
      <p:sp>
        <p:nvSpPr>
          <p:cNvPr id="9" name="Shape 1"/>
          <p:cNvSpPr/>
          <p:nvPr>
            <p:custDataLst>
              <p:tags r:id="rId2"/>
            </p:custDataLst>
          </p:nvPr>
        </p:nvSpPr>
        <p:spPr>
          <a:xfrm>
            <a:off x="4374515" y="1466850"/>
            <a:ext cx="3099435" cy="4699000"/>
          </a:xfrm>
          <a:custGeom>
            <a:avLst/>
            <a:gdLst/>
            <a:ahLst/>
            <a:cxnLst/>
            <a:rect l="l" t="t" r="r" b="b"/>
            <a:pathLst>
              <a:path w="5569767" h="4698910">
                <a:moveTo>
                  <a:pt x="108874" y="0"/>
                </a:moveTo>
                <a:lnTo>
                  <a:pt x="5460893" y="0"/>
                </a:lnTo>
                <a:cubicBezTo>
                  <a:pt x="5521022" y="0"/>
                  <a:pt x="5569767" y="48744"/>
                  <a:pt x="5569767" y="108874"/>
                </a:cubicBezTo>
                <a:lnTo>
                  <a:pt x="5569767" y="4590036"/>
                </a:lnTo>
                <a:cubicBezTo>
                  <a:pt x="5569767" y="4650165"/>
                  <a:pt x="5521022" y="4698910"/>
                  <a:pt x="5460893" y="4698910"/>
                </a:cubicBezTo>
                <a:lnTo>
                  <a:pt x="108874" y="4698910"/>
                </a:lnTo>
                <a:cubicBezTo>
                  <a:pt x="48744" y="4698910"/>
                  <a:pt x="0" y="4650165"/>
                  <a:pt x="0" y="4590036"/>
                </a:cubicBezTo>
                <a:lnTo>
                  <a:pt x="0" y="108874"/>
                </a:lnTo>
                <a:cubicBezTo>
                  <a:pt x="0" y="48785"/>
                  <a:pt x="48785" y="0"/>
                  <a:pt x="108874" y="0"/>
                </a:cubicBezTo>
                <a:close/>
              </a:path>
            </a:pathLst>
          </a:custGeom>
          <a:gradFill flip="none" rotWithShape="1">
            <a:gsLst>
              <a:gs pos="0">
                <a:srgbClr val="F9FAFB"/>
              </a:gs>
              <a:gs pos="100000">
                <a:srgbClr val="FFFFFF"/>
              </a:gs>
            </a:gsLst>
            <a:lin ang="2700000" scaled="1"/>
          </a:gradFill>
          <a:ln w="25274">
            <a:solidFill>
              <a:srgbClr val="E5E7EB"/>
            </a:solidFill>
            <a:prstDash val="solid"/>
          </a:ln>
        </p:spPr>
      </p:sp>
      <p:sp>
        <p:nvSpPr>
          <p:cNvPr id="10" name="Shape 1"/>
          <p:cNvSpPr/>
          <p:nvPr>
            <p:custDataLst>
              <p:tags r:id="rId3"/>
            </p:custDataLst>
          </p:nvPr>
        </p:nvSpPr>
        <p:spPr>
          <a:xfrm>
            <a:off x="8427720" y="1466850"/>
            <a:ext cx="3099435" cy="4699000"/>
          </a:xfrm>
          <a:custGeom>
            <a:avLst/>
            <a:gdLst/>
            <a:ahLst/>
            <a:cxnLst/>
            <a:rect l="l" t="t" r="r" b="b"/>
            <a:pathLst>
              <a:path w="5569767" h="4698910">
                <a:moveTo>
                  <a:pt x="108874" y="0"/>
                </a:moveTo>
                <a:lnTo>
                  <a:pt x="5460893" y="0"/>
                </a:lnTo>
                <a:cubicBezTo>
                  <a:pt x="5521022" y="0"/>
                  <a:pt x="5569767" y="48744"/>
                  <a:pt x="5569767" y="108874"/>
                </a:cubicBezTo>
                <a:lnTo>
                  <a:pt x="5569767" y="4590036"/>
                </a:lnTo>
                <a:cubicBezTo>
                  <a:pt x="5569767" y="4650165"/>
                  <a:pt x="5521022" y="4698910"/>
                  <a:pt x="5460893" y="4698910"/>
                </a:cubicBezTo>
                <a:lnTo>
                  <a:pt x="108874" y="4698910"/>
                </a:lnTo>
                <a:cubicBezTo>
                  <a:pt x="48744" y="4698910"/>
                  <a:pt x="0" y="4650165"/>
                  <a:pt x="0" y="4590036"/>
                </a:cubicBezTo>
                <a:lnTo>
                  <a:pt x="0" y="108874"/>
                </a:lnTo>
                <a:cubicBezTo>
                  <a:pt x="0" y="48785"/>
                  <a:pt x="48785" y="0"/>
                  <a:pt x="108874" y="0"/>
                </a:cubicBezTo>
                <a:close/>
              </a:path>
            </a:pathLst>
          </a:custGeom>
          <a:gradFill flip="none" rotWithShape="1">
            <a:gsLst>
              <a:gs pos="0">
                <a:srgbClr val="F9FAFB"/>
              </a:gs>
              <a:gs pos="100000">
                <a:srgbClr val="FFFFFF"/>
              </a:gs>
            </a:gsLst>
            <a:lin ang="2700000" scaled="1"/>
          </a:gradFill>
          <a:ln w="25274">
            <a:solidFill>
              <a:srgbClr val="E5E7EB"/>
            </a:solidFill>
            <a:prstDash val="solid"/>
          </a:ln>
        </p:spPr>
      </p:sp>
      <p:sp>
        <p:nvSpPr>
          <p:cNvPr id="12" name="文本框 11" descr="7b0a202020202262756c6c6574223a20227b5c2263617465676f727949645c223a5c225c222c5c2274656d706c61746549645c223a32303233313731337d220a7d0a"/>
          <p:cNvSpPr txBox="1"/>
          <p:nvPr>
            <p:custDataLst>
              <p:tags r:id="rId4"/>
            </p:custDataLst>
          </p:nvPr>
        </p:nvSpPr>
        <p:spPr>
          <a:xfrm>
            <a:off x="727710" y="1699895"/>
            <a:ext cx="2721610" cy="3969385"/>
          </a:xfrm>
          <a:prstGeom prst="rect">
            <a:avLst/>
          </a:prstGeom>
          <a:noFill/>
        </p:spPr>
        <p:txBody>
          <a:bodyPr wrap="square" rtlCol="0">
            <a:spAutoFit/>
          </a:bodyPr>
          <a:p>
            <a:r>
              <a:rPr lang="en-US" altLang="zh-CN" b="1">
                <a:latin typeface="Noto Sans SC" panose="020B0200000000000000" pitchFamily="34" charset="-122"/>
                <a:ea typeface="Noto Sans SC" panose="020B0200000000000000" pitchFamily="34" charset="-122"/>
              </a:rPr>
              <a:t>ixSMI: System-level monitoring</a:t>
            </a:r>
            <a:endParaRPr lang="en-US" altLang="zh-CN" b="1">
              <a:latin typeface="Noto Sans SC" panose="020B0200000000000000" pitchFamily="34" charset="-122"/>
              <a:ea typeface="Noto Sans SC" panose="020B0200000000000000" pitchFamily="34" charset="-122"/>
            </a:endParaRPr>
          </a:p>
          <a:p>
            <a:endParaRPr lang="en-US" altLang="zh-CN">
              <a:latin typeface="Noto Sans SC" panose="020B0200000000000000" pitchFamily="34" charset="-122"/>
              <a:ea typeface="Noto Sans SC" panose="020B0200000000000000" pitchFamily="34" charset="-122"/>
            </a:endParaRPr>
          </a:p>
          <a:p>
            <a:pPr marL="285750" indent="-285750">
              <a:buFont typeface="Wingdings" panose="05000000000000000000" charset="0"/>
              <a:buBlip>
                <a:blip r:embed="rId5">
                  <a:extLst>
                    <a:ext uri="{96DAC541-7B7A-43D3-8B79-37D633B846F1}">
                      <asvg:svgBlip xmlns:asvg="http://schemas.microsoft.com/office/drawing/2016/SVG/main" r:embed="rId6"/>
                    </a:ext>
                  </a:extLst>
                </a:blip>
              </a:buBlip>
            </a:pPr>
            <a:r>
              <a:rPr lang="en-US" altLang="zh-CN" b="1">
                <a:latin typeface="Noto Sans SC" panose="020B0200000000000000" pitchFamily="34" charset="-122"/>
                <a:ea typeface="Noto Sans SC" panose="020B0200000000000000" pitchFamily="34" charset="-122"/>
              </a:rPr>
              <a:t>ixsmi</a:t>
            </a:r>
            <a:endParaRPr lang="en-US" altLang="zh-CN" b="1">
              <a:latin typeface="Noto Sans SC" panose="020B0200000000000000" pitchFamily="34" charset="-122"/>
              <a:ea typeface="Noto Sans SC" panose="020B0200000000000000" pitchFamily="34" charset="-122"/>
            </a:endParaRPr>
          </a:p>
          <a:p>
            <a:pPr marL="285750" indent="-285750">
              <a:buFont typeface="Wingdings" panose="05000000000000000000" charset="0"/>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View GPU status (temp, power, memory)</a:t>
            </a:r>
            <a:endParaRPr lang="en-US" altLang="zh-CN">
              <a:latin typeface="Noto Sans SC" panose="020B0200000000000000" pitchFamily="34" charset="-122"/>
              <a:ea typeface="Noto Sans SC" panose="020B0200000000000000" pitchFamily="34" charset="-122"/>
            </a:endParaRPr>
          </a:p>
          <a:p>
            <a:pPr marL="285750" indent="-285750">
              <a:buFont typeface="Wingdings" panose="05000000000000000000" charset="0"/>
              <a:buBlip>
                <a:blip r:embed="rId5">
                  <a:extLst>
                    <a:ext uri="{96DAC541-7B7A-43D3-8B79-37D633B846F1}">
                      <asvg:svgBlip xmlns:asvg="http://schemas.microsoft.com/office/drawing/2016/SVG/main" r:embed="rId6"/>
                    </a:ext>
                  </a:extLst>
                </a:blip>
              </a:buBlip>
            </a:pPr>
            <a:endParaRPr lang="en-US" altLang="zh-CN">
              <a:latin typeface="Noto Sans SC" panose="020B0200000000000000" pitchFamily="34" charset="-122"/>
              <a:ea typeface="Noto Sans SC" panose="020B0200000000000000" pitchFamily="34" charset="-122"/>
            </a:endParaRPr>
          </a:p>
          <a:p>
            <a:pPr marL="285750" indent="-285750">
              <a:buFont typeface="Wingdings" panose="05000000000000000000" charset="0"/>
              <a:buBlip>
                <a:blip r:embed="rId5">
                  <a:extLst>
                    <a:ext uri="{96DAC541-7B7A-43D3-8B79-37D633B846F1}">
                      <asvg:svgBlip xmlns:asvg="http://schemas.microsoft.com/office/drawing/2016/SVG/main" r:embed="rId6"/>
                    </a:ext>
                  </a:extLst>
                </a:blip>
              </a:buBlip>
            </a:pPr>
            <a:r>
              <a:rPr lang="en-US" altLang="zh-CN" b="1">
                <a:latin typeface="Noto Sans SC" panose="020B0200000000000000" pitchFamily="34" charset="-122"/>
                <a:ea typeface="Noto Sans SC" panose="020B0200000000000000" pitchFamily="34" charset="-122"/>
              </a:rPr>
              <a:t>ixsmi dmon </a:t>
            </a:r>
            <a:endParaRPr lang="en-US" altLang="zh-CN" b="1">
              <a:latin typeface="Noto Sans SC" panose="020B0200000000000000" pitchFamily="34" charset="-122"/>
              <a:ea typeface="Noto Sans SC" panose="020B0200000000000000" pitchFamily="34" charset="-122"/>
            </a:endParaRPr>
          </a:p>
          <a:p>
            <a:pPr marL="285750" indent="-285750">
              <a:buFont typeface="Wingdings" panose="05000000000000000000" charset="0"/>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Real-time device monitoring</a:t>
            </a:r>
            <a:endParaRPr lang="en-US" altLang="zh-CN">
              <a:latin typeface="Noto Sans SC" panose="020B0200000000000000" pitchFamily="34" charset="-122"/>
              <a:ea typeface="Noto Sans SC" panose="020B0200000000000000" pitchFamily="34" charset="-122"/>
            </a:endParaRPr>
          </a:p>
          <a:p>
            <a:pPr marL="285750" indent="-285750">
              <a:buFont typeface="Wingdings" panose="05000000000000000000" charset="0"/>
              <a:buBlip>
                <a:blip r:embed="rId5">
                  <a:extLst>
                    <a:ext uri="{96DAC541-7B7A-43D3-8B79-37D633B846F1}">
                      <asvg:svgBlip xmlns:asvg="http://schemas.microsoft.com/office/drawing/2016/SVG/main" r:embed="rId6"/>
                    </a:ext>
                  </a:extLst>
                </a:blip>
              </a:buBlip>
            </a:pPr>
            <a:endParaRPr lang="en-US" altLang="zh-CN">
              <a:latin typeface="Noto Sans SC" panose="020B0200000000000000" pitchFamily="34" charset="-122"/>
              <a:ea typeface="Noto Sans SC" panose="020B0200000000000000" pitchFamily="34" charset="-122"/>
            </a:endParaRPr>
          </a:p>
          <a:p>
            <a:pPr marL="285750" indent="-285750">
              <a:buFont typeface="Wingdings" panose="05000000000000000000" charset="0"/>
              <a:buBlip>
                <a:blip r:embed="rId5">
                  <a:extLst>
                    <a:ext uri="{96DAC541-7B7A-43D3-8B79-37D633B846F1}">
                      <asvg:svgBlip xmlns:asvg="http://schemas.microsoft.com/office/drawing/2016/SVG/main" r:embed="rId6"/>
                    </a:ext>
                  </a:extLst>
                </a:blip>
              </a:buBlip>
            </a:pPr>
            <a:r>
              <a:rPr lang="en-US" altLang="zh-CN" b="1">
                <a:latin typeface="Noto Sans SC" panose="020B0200000000000000" pitchFamily="34" charset="-122"/>
                <a:ea typeface="Noto Sans SC" panose="020B0200000000000000" pitchFamily="34" charset="-122"/>
              </a:rPr>
              <a:t>ixsmi pmon</a:t>
            </a:r>
            <a:endParaRPr lang="en-US" altLang="zh-CN" b="1">
              <a:latin typeface="Noto Sans SC" panose="020B0200000000000000" pitchFamily="34" charset="-122"/>
              <a:ea typeface="Noto Sans SC" panose="020B0200000000000000" pitchFamily="34" charset="-122"/>
            </a:endParaRPr>
          </a:p>
          <a:p>
            <a:pPr marL="285750" indent="-285750">
              <a:buFont typeface="Wingdings" panose="05000000000000000000" charset="0"/>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Process monitoring</a:t>
            </a:r>
            <a:endParaRPr lang="en-US" altLang="zh-CN">
              <a:latin typeface="Noto Sans SC" panose="020B0200000000000000" pitchFamily="34" charset="-122"/>
              <a:ea typeface="Noto Sans SC" panose="020B0200000000000000" pitchFamily="34" charset="-122"/>
            </a:endParaRPr>
          </a:p>
        </p:txBody>
      </p:sp>
      <p:sp>
        <p:nvSpPr>
          <p:cNvPr id="13" name="文本框 12" descr="7b0a202020202262756c6c6574223a20227b5c2263617465676f727949645c223a5c225c222c5c2274656d706c61746549645c223a32303233313731337d220a7d0a"/>
          <p:cNvSpPr txBox="1"/>
          <p:nvPr>
            <p:custDataLst>
              <p:tags r:id="rId7"/>
            </p:custDataLst>
          </p:nvPr>
        </p:nvSpPr>
        <p:spPr>
          <a:xfrm>
            <a:off x="4577715" y="1699895"/>
            <a:ext cx="2663190" cy="3692525"/>
          </a:xfrm>
          <a:prstGeom prst="rect">
            <a:avLst/>
          </a:prstGeom>
          <a:noFill/>
        </p:spPr>
        <p:txBody>
          <a:bodyPr wrap="square" rtlCol="0">
            <a:spAutoFit/>
          </a:bodyPr>
          <a:p>
            <a:r>
              <a:rPr lang="en-US" altLang="zh-CN" b="1">
                <a:latin typeface="Noto Sans SC" panose="020B0200000000000000" pitchFamily="34" charset="-122"/>
                <a:ea typeface="Noto Sans SC" panose="020B0200000000000000" pitchFamily="34" charset="-122"/>
              </a:rPr>
              <a:t>ixSYS: System-wide trace capture</a:t>
            </a:r>
            <a:endParaRPr lang="en-US" altLang="zh-CN" b="1">
              <a:latin typeface="Noto Sans SC" panose="020B0200000000000000" pitchFamily="34" charset="-122"/>
              <a:ea typeface="Noto Sans SC" panose="020B0200000000000000" pitchFamily="34" charset="-122"/>
            </a:endParaRPr>
          </a:p>
          <a:p>
            <a:endParaRPr lang="en-US" altLang="zh-CN" b="1">
              <a:latin typeface="Noto Sans SC" panose="020B0200000000000000" pitchFamily="34" charset="-122"/>
              <a:ea typeface="Noto Sans SC" panose="020B0200000000000000" pitchFamily="34" charset="-122"/>
            </a:endParaRPr>
          </a:p>
          <a:p>
            <a:pPr marL="285750" indent="-285750">
              <a:buFont typeface="Arial" panose="020B0604020202020204" pitchFamily="34" charset="0"/>
              <a:buBlip>
                <a:blip r:embed="rId5">
                  <a:extLst>
                    <a:ext uri="{96DAC541-7B7A-43D3-8B79-37D633B846F1}">
                      <asvg:svgBlip xmlns:asvg="http://schemas.microsoft.com/office/drawing/2016/SVG/main" r:embed="rId6"/>
                    </a:ext>
                  </a:extLst>
                </a:blip>
              </a:buBlip>
            </a:pPr>
            <a:r>
              <a:rPr lang="en-US" altLang="zh-CN">
                <a:highlight>
                  <a:srgbClr val="C0C0C0"/>
                </a:highlight>
                <a:latin typeface="Noto Sans SC" panose="020B0200000000000000" pitchFamily="34" charset="-122"/>
                <a:ea typeface="Noto Sans SC" panose="020B0200000000000000" pitchFamily="34" charset="-122"/>
              </a:rPr>
              <a:t>ixsys -t cuda,nvtx -o output.trace ./program</a:t>
            </a:r>
            <a:endParaRPr lang="en-US" altLang="zh-CN">
              <a:highlight>
                <a:srgbClr val="C0C0C0"/>
              </a:highlight>
              <a:latin typeface="Noto Sans SC" panose="020B0200000000000000" pitchFamily="34" charset="-122"/>
              <a:ea typeface="Noto Sans SC" panose="020B0200000000000000" pitchFamily="34" charset="-122"/>
            </a:endParaRPr>
          </a:p>
          <a:p>
            <a:pPr marL="285750" indent="-285750">
              <a:buFont typeface="Arial" panose="020B0604020202020204" pitchFamily="34" charset="0"/>
              <a:buBlip>
                <a:blip r:embed="rId5">
                  <a:extLst>
                    <a:ext uri="{96DAC541-7B7A-43D3-8B79-37D633B846F1}">
                      <asvg:svgBlip xmlns:asvg="http://schemas.microsoft.com/office/drawing/2016/SVG/main" r:embed="rId6"/>
                    </a:ext>
                  </a:extLst>
                </a:blip>
              </a:buBlip>
            </a:pPr>
            <a:endParaRPr lang="en-US" altLang="zh-CN">
              <a:latin typeface="Noto Sans SC" panose="020B0200000000000000" pitchFamily="34" charset="-122"/>
              <a:ea typeface="Noto Sans SC" panose="020B0200000000000000" pitchFamily="34" charset="-122"/>
            </a:endParaRPr>
          </a:p>
          <a:p>
            <a:pPr marL="285750" indent="-285750">
              <a:buFont typeface="Arial" panose="020B0604020202020204" pitchFamily="34" charset="0"/>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Captures CUDA API calls</a:t>
            </a:r>
            <a:endParaRPr lang="en-US" altLang="zh-CN">
              <a:latin typeface="Noto Sans SC" panose="020B0200000000000000" pitchFamily="34" charset="-122"/>
              <a:ea typeface="Noto Sans SC" panose="020B0200000000000000" pitchFamily="34" charset="-122"/>
            </a:endParaRPr>
          </a:p>
          <a:p>
            <a:pPr marL="285750" indent="-285750">
              <a:buFont typeface="Arial" panose="020B0604020202020204" pitchFamily="34" charset="0"/>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kernel execution</a:t>
            </a:r>
            <a:endParaRPr lang="en-US" altLang="zh-CN">
              <a:latin typeface="Noto Sans SC" panose="020B0200000000000000" pitchFamily="34" charset="-122"/>
              <a:ea typeface="Noto Sans SC" panose="020B0200000000000000" pitchFamily="34" charset="-122"/>
            </a:endParaRPr>
          </a:p>
          <a:p>
            <a:pPr marL="285750" indent="-285750">
              <a:buFont typeface="Arial" panose="020B0604020202020204" pitchFamily="34" charset="0"/>
              <a:buBlip>
                <a:blip r:embed="rId5">
                  <a:extLst>
                    <a:ext uri="{96DAC541-7B7A-43D3-8B79-37D633B846F1}">
                      <asvg:svgBlip xmlns:asvg="http://schemas.microsoft.com/office/drawing/2016/SVG/main" r:embed="rId6"/>
                    </a:ext>
                  </a:extLst>
                </a:blip>
              </a:buBlip>
            </a:pPr>
            <a:endParaRPr lang="en-US" altLang="zh-CN">
              <a:latin typeface="Noto Sans SC" panose="020B0200000000000000" pitchFamily="34" charset="-122"/>
              <a:ea typeface="Noto Sans SC" panose="020B0200000000000000" pitchFamily="34" charset="-122"/>
            </a:endParaRPr>
          </a:p>
          <a:p>
            <a:pPr marL="285750" indent="-285750">
              <a:buFont typeface="Arial" panose="020B0604020202020204" pitchFamily="34" charset="0"/>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Web-based visualization UI</a:t>
            </a:r>
            <a:endParaRPr lang="en-US" altLang="zh-CN">
              <a:latin typeface="Noto Sans SC" panose="020B0200000000000000" pitchFamily="34" charset="-122"/>
              <a:ea typeface="Noto Sans SC" panose="020B0200000000000000" pitchFamily="34" charset="-122"/>
            </a:endParaRPr>
          </a:p>
        </p:txBody>
      </p:sp>
      <p:sp>
        <p:nvSpPr>
          <p:cNvPr id="14" name="文本框 13" descr="7b0a202020202262756c6c6574223a20227b5c2263617465676f727949645c223a5c225c222c5c2274656d706c61746549645c223a32303233313731337d220a7d0a"/>
          <p:cNvSpPr txBox="1"/>
          <p:nvPr>
            <p:custDataLst>
              <p:tags r:id="rId8"/>
            </p:custDataLst>
          </p:nvPr>
        </p:nvSpPr>
        <p:spPr>
          <a:xfrm>
            <a:off x="8750300" y="1826895"/>
            <a:ext cx="2663190" cy="3912870"/>
          </a:xfrm>
          <a:prstGeom prst="rect">
            <a:avLst/>
          </a:prstGeom>
          <a:noFill/>
        </p:spPr>
        <p:txBody>
          <a:bodyPr wrap="square" rtlCol="0">
            <a:noAutofit/>
          </a:bodyPr>
          <a:p>
            <a:r>
              <a:rPr lang="en-US" altLang="zh-CN" b="1">
                <a:latin typeface="Noto Sans SC" panose="020B0200000000000000" pitchFamily="34" charset="-122"/>
                <a:ea typeface="Noto Sans SC" panose="020B0200000000000000" pitchFamily="34" charset="-122"/>
              </a:rPr>
              <a:t>ixKN: Kernel-level performance analysis</a:t>
            </a:r>
            <a:endParaRPr lang="en-US" altLang="zh-CN" b="1">
              <a:latin typeface="Noto Sans SC" panose="020B0200000000000000" pitchFamily="34" charset="-122"/>
              <a:ea typeface="Noto Sans SC" panose="020B0200000000000000" pitchFamily="34" charset="-122"/>
            </a:endParaRPr>
          </a:p>
          <a:p>
            <a:endParaRPr lang="en-US" altLang="zh-CN">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a:highlight>
                  <a:srgbClr val="C0C0C0"/>
                </a:highlight>
                <a:latin typeface="Noto Sans SC" panose="020B0200000000000000" pitchFamily="34" charset="-122"/>
                <a:ea typeface="Noto Sans SC" panose="020B0200000000000000" pitchFamily="34" charset="-122"/>
              </a:rPr>
              <a:t>ixkn-cli --set default ./program</a:t>
            </a:r>
            <a:endParaRPr lang="en-US" altLang="zh-CN">
              <a:highlight>
                <a:srgbClr val="C0C0C0"/>
              </a:highlight>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endParaRPr lang="en-US" altLang="zh-CN">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endParaRPr lang="en-US" altLang="zh-CN">
              <a:latin typeface="Noto Sans SC" panose="020B0200000000000000" pitchFamily="34" charset="-122"/>
              <a:ea typeface="Noto Sans SC" panose="020B0200000000000000" pitchFamily="34" charset="-122"/>
            </a:endParaRPr>
          </a:p>
          <a:p>
            <a:pPr>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Sections</a:t>
            </a:r>
            <a:endParaRPr lang="en-US" altLang="zh-CN">
              <a:latin typeface="Noto Sans SC" panose="020B0200000000000000" pitchFamily="34" charset="-122"/>
              <a:ea typeface="Noto Sans SC" panose="020B0200000000000000" pitchFamily="34" charset="-122"/>
            </a:endParaRPr>
          </a:p>
          <a:p>
            <a:pPr lvl="1">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Instruction</a:t>
            </a:r>
            <a:endParaRPr lang="en-US" altLang="zh-CN">
              <a:latin typeface="Noto Sans SC" panose="020B0200000000000000" pitchFamily="34" charset="-122"/>
              <a:ea typeface="Noto Sans SC" panose="020B0200000000000000" pitchFamily="34" charset="-122"/>
            </a:endParaRPr>
          </a:p>
          <a:p>
            <a:pPr lvl="1">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LaunchStats</a:t>
            </a:r>
            <a:endParaRPr lang="en-US" altLang="zh-CN">
              <a:latin typeface="Noto Sans SC" panose="020B0200000000000000" pitchFamily="34" charset="-122"/>
              <a:ea typeface="Noto Sans SC" panose="020B0200000000000000" pitchFamily="34" charset="-122"/>
            </a:endParaRPr>
          </a:p>
          <a:p>
            <a:pPr lvl="1">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Occupancy </a:t>
            </a:r>
            <a:endParaRPr lang="en-US" altLang="zh-CN">
              <a:latin typeface="Noto Sans SC" panose="020B0200000000000000" pitchFamily="34" charset="-122"/>
              <a:ea typeface="Noto Sans SC" panose="020B0200000000000000" pitchFamily="34" charset="-122"/>
            </a:endParaRPr>
          </a:p>
          <a:p>
            <a:pPr lvl="1">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WarpStateStats,</a:t>
            </a:r>
            <a:endParaRPr lang="en-US" altLang="zh-CN">
              <a:latin typeface="Noto Sans SC" panose="020B0200000000000000" pitchFamily="34" charset="-122"/>
              <a:ea typeface="Noto Sans SC" panose="020B0200000000000000" pitchFamily="34" charset="-122"/>
            </a:endParaRPr>
          </a:p>
          <a:p>
            <a:pPr lvl="1">
              <a:buBlip>
                <a:blip r:embed="rId5">
                  <a:extLst>
                    <a:ext uri="{96DAC541-7B7A-43D3-8B79-37D633B846F1}">
                      <asvg:svgBlip xmlns:asvg="http://schemas.microsoft.com/office/drawing/2016/SVG/main" r:embed="rId6"/>
                    </a:ext>
                  </a:extLst>
                </a:blip>
              </a:buBlip>
            </a:pPr>
            <a:r>
              <a:rPr lang="en-US" altLang="zh-CN">
                <a:latin typeface="Noto Sans SC" panose="020B0200000000000000" pitchFamily="34" charset="-122"/>
                <a:ea typeface="Noto Sans SC" panose="020B0200000000000000" pitchFamily="34" charset="-122"/>
              </a:rPr>
              <a:t>Memory</a:t>
            </a:r>
            <a:endParaRPr lang="en-US" altLang="zh-CN">
              <a:latin typeface="Noto Sans SC" panose="020B0200000000000000" pitchFamily="34" charset="-122"/>
              <a:ea typeface="Noto Sans SC" panose="020B0200000000000000" pitchFamily="34" charset="-122"/>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ixKN – A Deep Dive into Kernel Performance</a:t>
            </a:r>
            <a:endParaRPr lang="en-US" altLang="zh-CN"/>
          </a:p>
        </p:txBody>
      </p:sp>
      <p:sp>
        <p:nvSpPr>
          <p:cNvPr id="3" name="内容占位符 2"/>
          <p:cNvSpPr>
            <a:spLocks noGrp="1"/>
          </p:cNvSpPr>
          <p:nvPr>
            <p:ph sz="quarter" idx="13"/>
          </p:nvPr>
        </p:nvSpPr>
        <p:spPr>
          <a:xfrm>
            <a:off x="7546340" y="1278255"/>
            <a:ext cx="3734435" cy="603885"/>
          </a:xfrm>
        </p:spPr>
        <p:txBody>
          <a:bodyPr>
            <a:normAutofit/>
          </a:bodyPr>
          <a:p>
            <a:pPr marL="0" indent="0">
              <a:buNone/>
            </a:pPr>
            <a:r>
              <a:rPr lang="en-US" altLang="zh-CN" b="1"/>
              <a:t>WarpStateStats example</a:t>
            </a:r>
            <a:endParaRPr lang="en-US" altLang="zh-CN" b="1"/>
          </a:p>
        </p:txBody>
      </p:sp>
      <p:sp>
        <p:nvSpPr>
          <p:cNvPr id="4" name="页脚占位符 3"/>
          <p:cNvSpPr>
            <a:spLocks noGrp="1"/>
          </p:cNvSpPr>
          <p:nvPr>
            <p:ph type="ftr" sz="quarter" idx="11"/>
          </p:nvPr>
        </p:nvSpPr>
        <p:spPr/>
        <p:txBody>
          <a:bodyPr/>
          <a:p>
            <a:endParaRPr lang="zh-CN" altLang="en-US" dirty="0"/>
          </a:p>
        </p:txBody>
      </p:sp>
      <p:sp>
        <p:nvSpPr>
          <p:cNvPr id="5" name="灯片编号占位符 4"/>
          <p:cNvSpPr>
            <a:spLocks noGrp="1"/>
          </p:cNvSpPr>
          <p:nvPr>
            <p:ph type="sldNum" sz="quarter" idx="12"/>
          </p:nvPr>
        </p:nvSpPr>
        <p:spPr/>
        <p:txBody>
          <a:bodyPr/>
          <a:p>
            <a:fld id="{B33F7469-D28B-482F-B1B6-3B8E7CF51519}" type="slidenum">
              <a:rPr lang="zh-CN" altLang="en-US" smtClean="0"/>
            </a:fld>
            <a:endParaRPr lang="zh-CN" altLang="en-US" dirty="0"/>
          </a:p>
        </p:txBody>
      </p:sp>
      <p:graphicFrame>
        <p:nvGraphicFramePr>
          <p:cNvPr id="13" name="表格 12"/>
          <p:cNvGraphicFramePr/>
          <p:nvPr>
            <p:custDataLst>
              <p:tags r:id="rId1"/>
            </p:custDataLst>
          </p:nvPr>
        </p:nvGraphicFramePr>
        <p:xfrm>
          <a:off x="741680" y="1882140"/>
          <a:ext cx="6058535" cy="3779520"/>
        </p:xfrm>
        <a:graphic>
          <a:graphicData uri="http://schemas.openxmlformats.org/drawingml/2006/table">
            <a:tbl>
              <a:tblPr firstRow="1" bandRow="1">
                <a:tableStyleId>{3ADD4C58-21AE-48A7-8FEC-21AD27C05888}</a:tableStyleId>
              </a:tblPr>
              <a:tblGrid>
                <a:gridCol w="1304290"/>
                <a:gridCol w="4754245"/>
              </a:tblGrid>
              <a:tr h="624205">
                <a:tc>
                  <a:txBody>
                    <a:bodyPr/>
                    <a:p>
                      <a:pPr algn="ctr">
                        <a:lnSpc>
                          <a:spcPts val="1070"/>
                        </a:lnSpc>
                      </a:pPr>
                      <a:r>
                        <a:rPr lang="en-US" altLang="zh-CN" sz="1400">
                          <a:latin typeface="Noto Sans SC" panose="020B0200000000000000" pitchFamily="34" charset="-122"/>
                          <a:ea typeface="Noto Sans SC" panose="020B0200000000000000" pitchFamily="34" charset="-122"/>
                        </a:rPr>
                        <a:t>Section</a:t>
                      </a:r>
                      <a:endParaRPr lang="en-US" altLang="zh-CN" sz="1400">
                        <a:latin typeface="Noto Sans SC" panose="020B0200000000000000" pitchFamily="34" charset="-122"/>
                        <a:ea typeface="Noto Sans SC" panose="020B0200000000000000" pitchFamily="34" charset="-122"/>
                      </a:endParaRPr>
                    </a:p>
                  </a:txBody>
                  <a:tcPr marL="0" marR="87403" marT="54746" marB="54746" anchor="ctr" anchorCtr="0"/>
                </a:tc>
                <a:tc>
                  <a:txBody>
                    <a:bodyPr/>
                    <a:p>
                      <a:pPr algn="ctr">
                        <a:lnSpc>
                          <a:spcPts val="1070"/>
                        </a:lnSpc>
                      </a:pPr>
                      <a:r>
                        <a:rPr lang="en-US" altLang="zh-CN" sz="1400">
                          <a:latin typeface="Noto Sans SC" panose="020B0200000000000000" pitchFamily="34" charset="-122"/>
                          <a:ea typeface="Noto Sans SC" panose="020B0200000000000000" pitchFamily="34" charset="-122"/>
                        </a:rPr>
                        <a:t>What It Tells You</a:t>
                      </a:r>
                      <a:endParaRPr lang="en-US" altLang="zh-CN" sz="1400">
                        <a:latin typeface="Noto Sans SC" panose="020B0200000000000000" pitchFamily="34" charset="-122"/>
                        <a:ea typeface="Noto Sans SC" panose="020B0200000000000000" pitchFamily="34" charset="-122"/>
                      </a:endParaRPr>
                    </a:p>
                  </a:txBody>
                  <a:tcPr marL="87403" marR="87403" marT="54746" marB="54746" anchor="ctr" anchorCtr="0"/>
                </a:tc>
              </a:tr>
              <a:tr h="568325">
                <a:tc>
                  <a:txBody>
                    <a:bodyPr/>
                    <a:p>
                      <a:pPr algn="ctr">
                        <a:lnSpc>
                          <a:spcPts val="1070"/>
                        </a:lnSpc>
                      </a:pPr>
                      <a:r>
                        <a:rPr lang="en-US" altLang="zh-CN" sz="1400">
                          <a:latin typeface="Noto Sans SC" panose="020B0200000000000000" pitchFamily="34" charset="-122"/>
                          <a:ea typeface="Noto Sans SC" panose="020B0200000000000000" pitchFamily="34" charset="-122"/>
                        </a:rPr>
                        <a:t>LaunchStats</a:t>
                      </a:r>
                      <a:endParaRPr lang="en-US" altLang="zh-CN" sz="1400">
                        <a:latin typeface="Noto Sans SC" panose="020B0200000000000000" pitchFamily="34" charset="-122"/>
                        <a:ea typeface="Noto Sans SC" panose="020B0200000000000000" pitchFamily="34" charset="-122"/>
                      </a:endParaRPr>
                    </a:p>
                  </a:txBody>
                  <a:tcPr marL="0" marR="87403" marT="54746" marB="54746" anchor="ctr" anchorCtr="0"/>
                </a:tc>
                <a:tc>
                  <a:txBody>
                    <a:bodyPr/>
                    <a:p>
                      <a:pPr algn="ctr">
                        <a:lnSpc>
                          <a:spcPts val="1070"/>
                        </a:lnSpc>
                      </a:pPr>
                      <a:r>
                        <a:rPr lang="en-US" altLang="zh-CN" sz="1400">
                          <a:latin typeface="Noto Sans SC" panose="020B0200000000000000" pitchFamily="34" charset="-122"/>
                          <a:ea typeface="Noto Sans SC" panose="020B0200000000000000" pitchFamily="34" charset="-122"/>
                        </a:rPr>
                        <a:t>Grid/Block config, resource usage</a:t>
                      </a:r>
                      <a:endParaRPr lang="en-US" altLang="zh-CN" sz="1400">
                        <a:latin typeface="Noto Sans SC" panose="020B0200000000000000" pitchFamily="34" charset="-122"/>
                        <a:ea typeface="Noto Sans SC" panose="020B0200000000000000" pitchFamily="34" charset="-122"/>
                      </a:endParaRPr>
                    </a:p>
                  </a:txBody>
                  <a:tcPr marL="87403" marR="0" marT="54746" marB="54746" anchor="ctr" anchorCtr="0"/>
                </a:tc>
              </a:tr>
              <a:tr h="567690">
                <a:tc>
                  <a:txBody>
                    <a:bodyPr/>
                    <a:p>
                      <a:pPr algn="ctr">
                        <a:lnSpc>
                          <a:spcPts val="1070"/>
                        </a:lnSpc>
                      </a:pPr>
                      <a:r>
                        <a:rPr lang="en-US" altLang="zh-CN" sz="1400">
                          <a:latin typeface="Noto Sans SC" panose="020B0200000000000000" pitchFamily="34" charset="-122"/>
                          <a:ea typeface="Noto Sans SC" panose="020B0200000000000000" pitchFamily="34" charset="-122"/>
                        </a:rPr>
                        <a:t>Occupancy</a:t>
                      </a:r>
                      <a:endParaRPr lang="en-US" altLang="zh-CN" sz="1400">
                        <a:latin typeface="Noto Sans SC" panose="020B0200000000000000" pitchFamily="34" charset="-122"/>
                        <a:ea typeface="Noto Sans SC" panose="020B0200000000000000" pitchFamily="34" charset="-122"/>
                      </a:endParaRPr>
                    </a:p>
                  </a:txBody>
                  <a:tcPr marL="0" marR="87403" marT="54746" marB="54746" anchor="ctr" anchorCtr="0"/>
                </a:tc>
                <a:tc>
                  <a:txBody>
                    <a:bodyPr/>
                    <a:p>
                      <a:pPr algn="ctr">
                        <a:lnSpc>
                          <a:spcPts val="1070"/>
                        </a:lnSpc>
                      </a:pPr>
                      <a:r>
                        <a:rPr lang="en-US" altLang="zh-CN" sz="1400">
                          <a:latin typeface="Noto Sans SC" panose="020B0200000000000000" pitchFamily="34" charset="-122"/>
                          <a:ea typeface="Noto Sans SC" panose="020B0200000000000000" pitchFamily="34" charset="-122"/>
                        </a:rPr>
                        <a:t>Active warps vs. maximum, utilization rate</a:t>
                      </a:r>
                      <a:endParaRPr lang="en-US" altLang="zh-CN" sz="1400">
                        <a:latin typeface="Noto Sans SC" panose="020B0200000000000000" pitchFamily="34" charset="-122"/>
                        <a:ea typeface="Noto Sans SC" panose="020B0200000000000000" pitchFamily="34" charset="-122"/>
                      </a:endParaRPr>
                    </a:p>
                  </a:txBody>
                  <a:tcPr marL="87403" marR="0" marT="54746" marB="54746" anchor="ctr" anchorCtr="0"/>
                </a:tc>
              </a:tr>
              <a:tr h="883285">
                <a:tc>
                  <a:txBody>
                    <a:bodyPr/>
                    <a:p>
                      <a:pPr algn="ctr">
                        <a:lnSpc>
                          <a:spcPts val="1070"/>
                        </a:lnSpc>
                      </a:pPr>
                      <a:r>
                        <a:rPr lang="en-US" altLang="zh-CN" sz="1400">
                          <a:latin typeface="Noto Sans SC" panose="020B0200000000000000" pitchFamily="34" charset="-122"/>
                          <a:ea typeface="Noto Sans SC" panose="020B0200000000000000" pitchFamily="34" charset="-122"/>
                        </a:rPr>
                        <a:t>WarpStateStats</a:t>
                      </a:r>
                      <a:endParaRPr lang="en-US" altLang="zh-CN" sz="1400">
                        <a:latin typeface="Noto Sans SC" panose="020B0200000000000000" pitchFamily="34" charset="-122"/>
                        <a:ea typeface="Noto Sans SC" panose="020B0200000000000000" pitchFamily="34" charset="-122"/>
                      </a:endParaRPr>
                    </a:p>
                  </a:txBody>
                  <a:tcPr marL="0" marR="87403" marT="54746" marB="54746" anchor="ctr" anchorCtr="0"/>
                </a:tc>
                <a:tc>
                  <a:txBody>
                    <a:bodyPr/>
                    <a:p>
                      <a:pPr algn="ctr">
                        <a:lnSpc>
                          <a:spcPts val="1070"/>
                        </a:lnSpc>
                      </a:pPr>
                      <a:r>
                        <a:rPr lang="en-US" altLang="zh-CN" sz="1400">
                          <a:latin typeface="Noto Sans SC" panose="020B0200000000000000" pitchFamily="34" charset="-122"/>
                          <a:ea typeface="Noto Sans SC" panose="020B0200000000000000" pitchFamily="34" charset="-122"/>
                        </a:rPr>
                        <a:t>Why warps are stalling (memory, sync, compute)</a:t>
                      </a:r>
                      <a:endParaRPr lang="en-US" altLang="zh-CN" sz="1400">
                        <a:latin typeface="Noto Sans SC" panose="020B0200000000000000" pitchFamily="34" charset="-122"/>
                        <a:ea typeface="Noto Sans SC" panose="020B0200000000000000" pitchFamily="34" charset="-122"/>
                      </a:endParaRPr>
                    </a:p>
                  </a:txBody>
                  <a:tcPr marL="87403" marR="0" marT="54746" marB="54746" anchor="ctr" anchorCtr="0"/>
                </a:tc>
              </a:tr>
              <a:tr h="567690">
                <a:tc>
                  <a:txBody>
                    <a:bodyPr/>
                    <a:p>
                      <a:pPr algn="ctr">
                        <a:lnSpc>
                          <a:spcPts val="1070"/>
                        </a:lnSpc>
                      </a:pPr>
                      <a:r>
                        <a:rPr lang="en-US" altLang="zh-CN" sz="1400">
                          <a:latin typeface="Noto Sans SC" panose="020B0200000000000000" pitchFamily="34" charset="-122"/>
                          <a:ea typeface="Noto Sans SC" panose="020B0200000000000000" pitchFamily="34" charset="-122"/>
                        </a:rPr>
                        <a:t>Instruction</a:t>
                      </a:r>
                      <a:endParaRPr lang="en-US" altLang="zh-CN" sz="1400">
                        <a:latin typeface="Noto Sans SC" panose="020B0200000000000000" pitchFamily="34" charset="-122"/>
                        <a:ea typeface="Noto Sans SC" panose="020B0200000000000000" pitchFamily="34" charset="-122"/>
                      </a:endParaRPr>
                    </a:p>
                  </a:txBody>
                  <a:tcPr marL="0" marR="87403" marT="54746" marB="54746" anchor="ctr" anchorCtr="0"/>
                </a:tc>
                <a:tc>
                  <a:txBody>
                    <a:bodyPr/>
                    <a:p>
                      <a:pPr algn="ctr">
                        <a:lnSpc>
                          <a:spcPts val="1070"/>
                        </a:lnSpc>
                      </a:pPr>
                      <a:r>
                        <a:rPr lang="en-US" altLang="zh-CN" sz="1400">
                          <a:latin typeface="Noto Sans SC" panose="020B0200000000000000" pitchFamily="34" charset="-122"/>
                          <a:ea typeface="Noto Sans SC" panose="020B0200000000000000" pitchFamily="34" charset="-122"/>
                        </a:rPr>
                        <a:t>Instruction mix and execution counts</a:t>
                      </a:r>
                      <a:endParaRPr lang="en-US" altLang="zh-CN" sz="1400">
                        <a:latin typeface="Noto Sans SC" panose="020B0200000000000000" pitchFamily="34" charset="-122"/>
                        <a:ea typeface="Noto Sans SC" panose="020B0200000000000000" pitchFamily="34" charset="-122"/>
                      </a:endParaRPr>
                    </a:p>
                  </a:txBody>
                  <a:tcPr marL="87403" marR="0" marT="54746" marB="54746" anchor="ctr" anchorCtr="0"/>
                </a:tc>
              </a:tr>
              <a:tr h="568325">
                <a:tc>
                  <a:txBody>
                    <a:bodyPr/>
                    <a:p>
                      <a:pPr algn="ctr">
                        <a:lnSpc>
                          <a:spcPts val="1070"/>
                        </a:lnSpc>
                      </a:pPr>
                      <a:r>
                        <a:rPr lang="en-US" altLang="zh-CN" sz="1400">
                          <a:latin typeface="Noto Sans SC" panose="020B0200000000000000" pitchFamily="34" charset="-122"/>
                          <a:ea typeface="Noto Sans SC" panose="020B0200000000000000" pitchFamily="34" charset="-122"/>
                        </a:rPr>
                        <a:t>Memory</a:t>
                      </a:r>
                      <a:endParaRPr lang="en-US" altLang="zh-CN" sz="1400">
                        <a:latin typeface="Noto Sans SC" panose="020B0200000000000000" pitchFamily="34" charset="-122"/>
                        <a:ea typeface="Noto Sans SC" panose="020B0200000000000000" pitchFamily="34" charset="-122"/>
                      </a:endParaRPr>
                    </a:p>
                  </a:txBody>
                  <a:tcPr marL="0" marR="87403" marT="54746" marB="54746" anchor="ctr" anchorCtr="0"/>
                </a:tc>
                <a:tc>
                  <a:txBody>
                    <a:bodyPr/>
                    <a:p>
                      <a:pPr algn="ctr">
                        <a:lnSpc>
                          <a:spcPts val="1070"/>
                        </a:lnSpc>
                      </a:pPr>
                      <a:r>
                        <a:rPr lang="en-US" altLang="zh-CN" sz="1400">
                          <a:latin typeface="Noto Sans SC" panose="020B0200000000000000" pitchFamily="34" charset="-122"/>
                          <a:ea typeface="Noto Sans SC" panose="020B0200000000000000" pitchFamily="34" charset="-122"/>
                        </a:rPr>
                        <a:t>Shared memory bank conflicts, cache hit rates</a:t>
                      </a:r>
                      <a:endParaRPr lang="en-US" altLang="zh-CN" sz="1400">
                        <a:latin typeface="Noto Sans SC" panose="020B0200000000000000" pitchFamily="34" charset="-122"/>
                        <a:ea typeface="Noto Sans SC" panose="020B0200000000000000" pitchFamily="34" charset="-122"/>
                      </a:endParaRPr>
                    </a:p>
                  </a:txBody>
                  <a:tcPr marL="87403" marR="0" marT="54746" marB="54746" anchor="ctr" anchorCtr="0"/>
                </a:tc>
              </a:tr>
            </a:tbl>
          </a:graphicData>
        </a:graphic>
      </p:graphicFrame>
      <p:pic>
        <p:nvPicPr>
          <p:cNvPr id="14" name="图片 13" descr="生成WarpStateStats饼图及结论框"/>
          <p:cNvPicPr>
            <a:picLocks noChangeAspect="1"/>
          </p:cNvPicPr>
          <p:nvPr/>
        </p:nvPicPr>
        <p:blipFill>
          <a:blip r:embed="rId2"/>
          <a:srcRect l="5796" t="17778" r="4546" b="7037"/>
          <a:stretch>
            <a:fillRect/>
          </a:stretch>
        </p:blipFill>
        <p:spPr>
          <a:xfrm>
            <a:off x="7242810" y="1924050"/>
            <a:ext cx="4341495" cy="3641090"/>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741680" y="431800"/>
            <a:ext cx="8511540" cy="701040"/>
          </a:xfrm>
        </p:spPr>
        <p:txBody>
          <a:bodyPr/>
          <a:p>
            <a:r>
              <a:rPr lang="en-US" altLang="zh-CN" b="1">
                <a:sym typeface="+mn-ea"/>
              </a:rPr>
              <a:t>The Roofline Model – Visualizing Performance Limits</a:t>
            </a:r>
            <a:endParaRPr lang="en-US" altLang="zh-CN" b="1">
              <a:sym typeface="+mn-ea"/>
            </a:endParaRPr>
          </a:p>
        </p:txBody>
      </p:sp>
      <p:sp>
        <p:nvSpPr>
          <p:cNvPr id="5" name="内容占位符 4"/>
          <p:cNvSpPr>
            <a:spLocks noGrp="1"/>
          </p:cNvSpPr>
          <p:nvPr>
            <p:ph sz="quarter" idx="13"/>
          </p:nvPr>
        </p:nvSpPr>
        <p:spPr>
          <a:xfrm>
            <a:off x="523875" y="1684020"/>
            <a:ext cx="6562725" cy="4304665"/>
          </a:xfrm>
        </p:spPr>
        <p:txBody>
          <a:bodyPr>
            <a:normAutofit fontScale="80000"/>
          </a:bodyPr>
          <a:p>
            <a:r>
              <a:rPr lang="en-US" altLang="zh-CN"/>
              <a:t>A visual performance analysis model that answers:</a:t>
            </a:r>
            <a:endParaRPr lang="en-US" altLang="zh-CN"/>
          </a:p>
          <a:p>
            <a:pPr lvl="1"/>
            <a:r>
              <a:rPr lang="en-US" altLang="zh-CN"/>
              <a:t>Is my program compute-bound or memory-bound?</a:t>
            </a:r>
            <a:endParaRPr lang="en-US" altLang="zh-CN"/>
          </a:p>
          <a:p>
            <a:pPr lvl="1"/>
            <a:r>
              <a:rPr lang="en-US" altLang="zh-CN"/>
              <a:t>How far am I from the hardware limit?</a:t>
            </a:r>
            <a:endParaRPr lang="en-US" altLang="zh-CN"/>
          </a:p>
          <a:p>
            <a:r>
              <a:rPr lang="en-US" altLang="zh-CN"/>
              <a:t>The core insight: Performance is limited by two constraints:</a:t>
            </a:r>
            <a:endParaRPr lang="en-US" altLang="zh-CN"/>
          </a:p>
          <a:p>
            <a:pPr lvl="1"/>
            <a:r>
              <a:rPr lang="en-US" altLang="zh-CN"/>
              <a:t>Compute ceiling (horizontal line): P ≤ π (peak FLOP/s)</a:t>
            </a:r>
            <a:endParaRPr lang="en-US" altLang="zh-CN"/>
          </a:p>
          <a:p>
            <a:pPr lvl="1"/>
            <a:r>
              <a:rPr lang="en-US" altLang="zh-CN"/>
              <a:t>Bandwidth slope (diagonal line): P ≤ β × I (bandwidth × arithmetic intensity)</a:t>
            </a:r>
            <a:endParaRPr lang="en-US" altLang="zh-CN"/>
          </a:p>
          <a:p>
            <a:pPr lvl="0"/>
            <a:r>
              <a:rPr lang="en-US" altLang="zh-CN"/>
              <a:t>Ridge point: Intersection of horizontal and diagonal lines divides the space into two regions:</a:t>
            </a:r>
            <a:endParaRPr lang="en-US" altLang="zh-CN"/>
          </a:p>
          <a:p>
            <a:pPr lvl="1"/>
            <a:r>
              <a:rPr lang="en-US" altLang="zh-CN"/>
              <a:t>Left of ridge → Memory-bound (performance limited by bandwidth)</a:t>
            </a:r>
            <a:endParaRPr lang="en-US" altLang="zh-CN"/>
          </a:p>
          <a:p>
            <a:pPr lvl="1"/>
            <a:r>
              <a:rPr lang="en-US" altLang="zh-CN"/>
              <a:t>Right of ridge → Compute-bound (performance limited by arithmetic)</a:t>
            </a:r>
            <a:endParaRPr lang="en-US" altLang="zh-CN"/>
          </a:p>
        </p:txBody>
      </p:sp>
      <p:sp>
        <p:nvSpPr>
          <p:cNvPr id="2" name="页脚占位符 1"/>
          <p:cNvSpPr>
            <a:spLocks noGrp="1"/>
          </p:cNvSpPr>
          <p:nvPr>
            <p:ph type="ftr" sz="quarter" idx="11"/>
          </p:nvPr>
        </p:nvSpPr>
        <p:spPr/>
        <p:txBody>
          <a:bodyPr/>
          <a:p>
            <a:r>
              <a:rPr lang="en-US" altLang="zh-CN" dirty="0"/>
              <a:t>Y. Zhou et al., “Squeezing Operator Performance Potential for the Ascend Architecture,” in ASPLOS ’25, ACM, pp. 1156–1171, 2025.</a:t>
            </a:r>
            <a:endParaRPr lang="en-US" altLang="zh-CN" dirty="0"/>
          </a:p>
        </p:txBody>
      </p:sp>
      <p:sp>
        <p:nvSpPr>
          <p:cNvPr id="3" name="灯片编号占位符 2"/>
          <p:cNvSpPr>
            <a:spLocks noGrp="1"/>
          </p:cNvSpPr>
          <p:nvPr>
            <p:ph type="sldNum" sz="quarter" idx="12"/>
          </p:nvPr>
        </p:nvSpPr>
        <p:spPr/>
        <p:txBody>
          <a:bodyPr/>
          <a:p>
            <a:fld id="{B33F7469-D28B-482F-B1B6-3B8E7CF51519}"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7281545" y="2608580"/>
            <a:ext cx="4519930" cy="2221865"/>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741680" y="431800"/>
            <a:ext cx="8511540" cy="701040"/>
          </a:xfrm>
        </p:spPr>
        <p:txBody>
          <a:bodyPr/>
          <a:p>
            <a:r>
              <a:rPr lang="en-US" altLang="zh-CN" b="1">
                <a:sym typeface="+mn-ea"/>
              </a:rPr>
              <a:t>Beyond DRAM – Hierarchical &amp; Component-Based Roofline</a:t>
            </a:r>
            <a:endParaRPr lang="en-US" altLang="zh-CN" b="1">
              <a:sym typeface="+mn-ea"/>
            </a:endParaRPr>
          </a:p>
        </p:txBody>
      </p:sp>
      <p:sp>
        <p:nvSpPr>
          <p:cNvPr id="5" name="内容占位符 4"/>
          <p:cNvSpPr>
            <a:spLocks noGrp="1"/>
          </p:cNvSpPr>
          <p:nvPr>
            <p:ph sz="quarter" idx="13"/>
          </p:nvPr>
        </p:nvSpPr>
        <p:spPr>
          <a:xfrm>
            <a:off x="419100" y="1323975"/>
            <a:ext cx="6562725" cy="5032375"/>
          </a:xfrm>
        </p:spPr>
        <p:txBody>
          <a:bodyPr>
            <a:normAutofit fontScale="75000"/>
          </a:bodyPr>
          <a:p>
            <a:r>
              <a:rPr lang="en-US" altLang="zh-CN" sz="2400"/>
              <a:t>Hierarchical Roofline:</a:t>
            </a:r>
            <a:endParaRPr lang="en-US" altLang="zh-CN" sz="2400"/>
          </a:p>
          <a:p>
            <a:pPr lvl="1"/>
            <a:r>
              <a:rPr lang="en-US" altLang="zh-CN" sz="2000"/>
              <a:t>CPUs/GPUs have multi-level caches (L1, L2, DRAM)</a:t>
            </a:r>
            <a:endParaRPr lang="en-US" altLang="zh-CN" sz="2000"/>
          </a:p>
          <a:p>
            <a:pPr lvl="1"/>
            <a:r>
              <a:rPr lang="en-US" altLang="zh-CN" sz="2000"/>
              <a:t>Any layer can be a bottleneck → build bandwidth ceilings for each layer</a:t>
            </a:r>
            <a:endParaRPr lang="en-US" altLang="zh-CN" sz="2000"/>
          </a:p>
          <a:p>
            <a:pPr lvl="1"/>
            <a:r>
              <a:rPr lang="en-US" altLang="zh-CN" sz="2000"/>
              <a:t>Also supports multiple precision/compute units (FP32, FP16, Tensor Core)</a:t>
            </a:r>
            <a:endParaRPr lang="en-US" altLang="zh-CN" sz="2000"/>
          </a:p>
          <a:p>
            <a:r>
              <a:rPr lang="en-US" altLang="zh-CN" sz="2400"/>
              <a:t>Challenge: Roofline on DSAs (Ascend):</a:t>
            </a:r>
            <a:endParaRPr lang="en-US" altLang="zh-CN" sz="2400"/>
          </a:p>
          <a:p>
            <a:pPr lvl="1"/>
            <a:r>
              <a:rPr lang="en-US" altLang="zh-CN" sz="2000"/>
              <a:t>Ascend has unique compute units and memory transfers</a:t>
            </a:r>
            <a:endParaRPr lang="en-US" altLang="zh-CN" sz="2000"/>
          </a:p>
          <a:p>
            <a:pPr lvl="1"/>
            <a:r>
              <a:rPr lang="en-US" altLang="zh-CN" sz="2000"/>
              <a:t>Naive approach: build rooflines for every precision-transfer combination</a:t>
            </a:r>
            <a:endParaRPr lang="en-US" altLang="zh-CN" sz="2000"/>
          </a:p>
          <a:p>
            <a:pPr lvl="1"/>
            <a:r>
              <a:rPr lang="en-US" altLang="zh-CN" sz="2000"/>
              <a:t>For Ascend: 180 combinations → visualization complexity explodes!</a:t>
            </a:r>
            <a:endParaRPr lang="en-US" altLang="zh-CN" sz="2000"/>
          </a:p>
          <a:p>
            <a:r>
              <a:rPr lang="en-US" altLang="zh-CN" sz="2400"/>
              <a:t>Component-Based Roofline Model:</a:t>
            </a:r>
            <a:endParaRPr lang="en-US" altLang="zh-CN" sz="2400"/>
          </a:p>
          <a:p>
            <a:pPr lvl="1"/>
            <a:r>
              <a:rPr lang="en-US" altLang="zh-CN" sz="2000"/>
              <a:t>Proposed in ASPLOS 2025 paper "Squeezing Operator Performance Potential for the Ascend Architecture"</a:t>
            </a:r>
            <a:endParaRPr lang="en-US" altLang="zh-CN" sz="2000"/>
          </a:p>
          <a:p>
            <a:pPr lvl="1"/>
            <a:r>
              <a:rPr lang="en-US" altLang="zh-CN" sz="2000"/>
              <a:t>Core idea: Abstract components to capture operator performance → identify bottleneck components</a:t>
            </a:r>
            <a:endParaRPr lang="en-US" altLang="zh-CN" sz="2000"/>
          </a:p>
          <a:p>
            <a:pPr lvl="1"/>
            <a:r>
              <a:rPr lang="en-US" altLang="zh-CN" sz="2000"/>
              <a:t>Instead of 180 combinations → focus on component-level bottlenecks</a:t>
            </a:r>
            <a:endParaRPr lang="en-US" altLang="zh-CN" sz="2000"/>
          </a:p>
          <a:p>
            <a:pPr lvl="1"/>
            <a:r>
              <a:rPr lang="en-US" altLang="zh-CN" sz="2000"/>
              <a:t>Results: 1.07× to 2.15× end-to-end speedups across 11 real-world tasks</a:t>
            </a:r>
            <a:endParaRPr lang="en-US" altLang="zh-CN" sz="2000"/>
          </a:p>
        </p:txBody>
      </p:sp>
      <p:sp>
        <p:nvSpPr>
          <p:cNvPr id="2" name="页脚占位符 1"/>
          <p:cNvSpPr>
            <a:spLocks noGrp="1"/>
          </p:cNvSpPr>
          <p:nvPr>
            <p:ph type="ftr" sz="quarter" idx="11"/>
          </p:nvPr>
        </p:nvSpPr>
        <p:spPr/>
        <p:txBody>
          <a:bodyPr/>
          <a:p>
            <a:r>
              <a:rPr lang="en-US" altLang="zh-CN" dirty="0"/>
              <a:t>Y. Zhou et al., “Squeezing Operator Performance Potential for the Ascend Architecture,” in ASPLOS ’25, ACM, pp. 1156–1171, 2025.</a:t>
            </a:r>
            <a:endParaRPr lang="en-US" altLang="zh-CN" dirty="0"/>
          </a:p>
        </p:txBody>
      </p:sp>
      <p:sp>
        <p:nvSpPr>
          <p:cNvPr id="3" name="灯片编号占位符 2"/>
          <p:cNvSpPr>
            <a:spLocks noGrp="1"/>
          </p:cNvSpPr>
          <p:nvPr>
            <p:ph type="sldNum" sz="quarter" idx="12"/>
          </p:nvPr>
        </p:nvSpPr>
        <p:spPr/>
        <p:txBody>
          <a:bodyPr/>
          <a:p>
            <a:fld id="{B33F7469-D28B-482F-B1B6-3B8E7CF51519}"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7646670" y="3782695"/>
            <a:ext cx="3223895" cy="2268855"/>
          </a:xfrm>
          <a:prstGeom prst="rect">
            <a:avLst/>
          </a:prstGeom>
        </p:spPr>
      </p:pic>
      <p:pic>
        <p:nvPicPr>
          <p:cNvPr id="8" name="图片 7"/>
          <p:cNvPicPr>
            <a:picLocks noChangeAspect="1"/>
          </p:cNvPicPr>
          <p:nvPr/>
        </p:nvPicPr>
        <p:blipFill>
          <a:blip r:embed="rId2"/>
          <a:stretch>
            <a:fillRect/>
          </a:stretch>
        </p:blipFill>
        <p:spPr>
          <a:xfrm>
            <a:off x="7334885" y="1132840"/>
            <a:ext cx="3755390" cy="2392045"/>
          </a:xfrm>
          <a:prstGeom prst="rect">
            <a:avLst/>
          </a:prstGeom>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1"/>
          </p:nvPr>
        </p:nvSpPr>
        <p:spPr/>
        <p:txBody>
          <a:bodyPr/>
          <a:p>
            <a:endParaRPr lang="zh-CN" altLang="en-US"/>
          </a:p>
        </p:txBody>
      </p:sp>
      <p:sp>
        <p:nvSpPr>
          <p:cNvPr id="4" name="内容占位符 1"/>
          <p:cNvSpPr>
            <a:spLocks noGrp="1"/>
          </p:cNvSpPr>
          <p:nvPr>
            <p:custDataLst>
              <p:tags r:id="rId1"/>
            </p:custDataLst>
          </p:nvPr>
        </p:nvSpPr>
        <p:spPr>
          <a:xfrm>
            <a:off x="5579216" y="127000"/>
            <a:ext cx="6110447" cy="6858000"/>
          </a:xfrm>
          <a:prstGeom prst="rect">
            <a:avLst/>
          </a:prstGeom>
        </p:spPr>
        <p:txBody>
          <a:bodyPr vert="horz" lIns="91440" tIns="45720" rIns="91440" bIns="45720" rtlCol="0" anchor="ctr">
            <a:normAutofit/>
          </a:bodyPr>
          <a:lstStyle>
            <a:lvl1pPr marL="360045" marR="0" indent="-360045" algn="l" defTabSz="342900" rtl="0" eaLnBrk="1" fontAlgn="auto" latinLnBrk="0" hangingPunct="1">
              <a:lnSpc>
                <a:spcPct val="100000"/>
              </a:lnSpc>
              <a:spcBef>
                <a:spcPts val="3000"/>
              </a:spcBef>
              <a:spcAft>
                <a:spcPts val="0"/>
              </a:spcAft>
              <a:buClr>
                <a:srgbClr val="8B0012"/>
              </a:buClr>
              <a:buSzTx/>
              <a:buFontTx/>
              <a:buChar char="•"/>
              <a:defRPr sz="2800" b="0" i="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Tx/>
              <a:buFontTx/>
              <a:buChar char="◦"/>
              <a:defRPr sz="24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sz="20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sz="16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a:lstStyle>
          <a:p>
            <a:r>
              <a:rPr lang="en-US" altLang="zh-CN">
                <a:solidFill>
                  <a:schemeClr val="tx1"/>
                </a:solidFill>
                <a:cs typeface="Arial" panose="020B0604020202020204" pitchFamily="34" charset="0"/>
              </a:rPr>
              <a:t>Benchmarking &amp; Performance Metrics</a:t>
            </a:r>
            <a:endParaRPr lang="en-US" altLang="zh-CN">
              <a:solidFill>
                <a:schemeClr val="tx1"/>
              </a:solidFill>
              <a:cs typeface="Arial" panose="020B0604020202020204" pitchFamily="34" charset="0"/>
            </a:endParaRPr>
          </a:p>
          <a:p>
            <a:r>
              <a:rPr lang="en-US" altLang="zh-CN">
                <a:solidFill>
                  <a:schemeClr val="tx1"/>
                </a:solidFill>
              </a:rPr>
              <a:t>Profiling &amp; Roofline Analysis</a:t>
            </a:r>
            <a:endParaRPr lang="en-US" altLang="zh-CN" b="1">
              <a:solidFill>
                <a:srgbClr val="C00000"/>
              </a:solidFill>
            </a:endParaRPr>
          </a:p>
          <a:p>
            <a:r>
              <a:rPr lang="en-US" altLang="zh-CN" b="1">
                <a:solidFill>
                  <a:srgbClr val="C00000"/>
                </a:solidFill>
              </a:rPr>
              <a:t>Auto-Tuning &amp; KernelGen</a:t>
            </a:r>
            <a:endParaRPr lang="en-US" altLang="zh-CN" b="1">
              <a:solidFill>
                <a:srgbClr val="C00000"/>
              </a:solidFill>
            </a:endParaRPr>
          </a:p>
          <a:p>
            <a:r>
              <a:rPr lang="en-US" altLang="zh-CN"/>
              <a:t>End-to-End Optimization</a:t>
            </a:r>
            <a:endParaRPr lang="en-US" altLang="zh-CN"/>
          </a:p>
          <a:p>
            <a:r>
              <a:rPr lang="en-US" altLang="zh-CN"/>
              <a:t>Lab: Performance Analysis in Practice</a:t>
            </a:r>
            <a:endParaRPr lang="en-US" altLang="zh-CN"/>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Automatic Tuning</a:t>
            </a:r>
            <a:endParaRPr lang="zh-CN" altLang="en-US" dirty="0"/>
          </a:p>
        </p:txBody>
      </p:sp>
      <p:sp>
        <p:nvSpPr>
          <p:cNvPr id="3" name="灯片编号占位符 2"/>
          <p:cNvSpPr>
            <a:spLocks noGrp="1"/>
          </p:cNvSpPr>
          <p:nvPr>
            <p:ph type="sldNum" sz="quarter" idx="12"/>
          </p:nvPr>
        </p:nvSpPr>
        <p:spPr/>
        <p:txBody>
          <a:bodyPr/>
          <a:lstStyle/>
          <a:p>
            <a:fld id="{B33F7469-D28B-482F-B1B6-3B8E7CF51519}" type="slidenum">
              <a:rPr lang="zh-CN" altLang="en-US" smtClean="0"/>
            </a:fld>
            <a:endParaRPr lang="zh-CN" altLang="en-US" dirty="0"/>
          </a:p>
        </p:txBody>
      </p:sp>
      <p:sp>
        <p:nvSpPr>
          <p:cNvPr id="4" name="内容占位符 3"/>
          <p:cNvSpPr>
            <a:spLocks noGrp="1"/>
          </p:cNvSpPr>
          <p:nvPr>
            <p:ph sz="quarter" idx="13"/>
          </p:nvPr>
        </p:nvSpPr>
        <p:spPr>
          <a:xfrm>
            <a:off x="523873" y="1323976"/>
            <a:ext cx="11277601" cy="4852988"/>
          </a:xfrm>
        </p:spPr>
        <p:txBody>
          <a:bodyPr/>
          <a:lstStyle/>
          <a:p>
            <a:r>
              <a:rPr lang="en-US" altLang="zh-CN" dirty="0"/>
              <a:t>Automatic Tuning Algorithm and Underlying Implementation</a:t>
            </a:r>
            <a:endParaRPr lang="en-US" altLang="zh-CN" dirty="0"/>
          </a:p>
          <a:p>
            <a:pPr lvl="1"/>
            <a:r>
              <a:rPr lang="en-US" altLang="zh-CN" dirty="0"/>
              <a:t>From Template Search to AI-Driven Operator Tuning</a:t>
            </a:r>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7" name="AutoShape 2" descr="AI-Driven Optimization of Blockchain Scalability, Security, and Privacy  Protection"/>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028" name="Picture 4" descr="Automatic Kernel Optimization for Deep Learning on All Hardware Platform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2345" y="2666468"/>
            <a:ext cx="4566590" cy="31428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utomated Filter Tuning – AI Software &amp; Hardware | SpaceFore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4015" y="2666468"/>
            <a:ext cx="5990338" cy="33695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What is Kernel Auto-tuning?</a:t>
            </a:r>
            <a:endParaRPr lang="zh-CN" altLang="en-US" dirty="0"/>
          </a:p>
        </p:txBody>
      </p:sp>
      <p:sp>
        <p:nvSpPr>
          <p:cNvPr id="3" name="内容占位符 2"/>
          <p:cNvSpPr>
            <a:spLocks noGrp="1"/>
          </p:cNvSpPr>
          <p:nvPr>
            <p:ph sz="quarter" idx="13"/>
          </p:nvPr>
        </p:nvSpPr>
        <p:spPr/>
        <p:txBody>
          <a:bodyPr>
            <a:normAutofit/>
          </a:bodyPr>
          <a:lstStyle/>
          <a:p>
            <a:r>
              <a:rPr lang="en-US" altLang="zh-CN" dirty="0"/>
              <a:t>Automation of Code Generation:</a:t>
            </a:r>
            <a:endParaRPr lang="en-US" altLang="zh-CN" dirty="0"/>
          </a:p>
          <a:p>
            <a:pPr lvl="1"/>
            <a:r>
              <a:rPr lang="en-US" altLang="zh-CN" dirty="0"/>
              <a:t>Input: Mathematical calculation expressions (e.g., tensor multiplication, convolution).</a:t>
            </a:r>
            <a:endParaRPr lang="en-US" altLang="zh-CN" dirty="0"/>
          </a:p>
          <a:p>
            <a:pPr lvl="1"/>
            <a:r>
              <a:rPr lang="en-US" altLang="zh-CN" dirty="0"/>
              <a:t>Output: Low-level code optimized for specific hardware (e.g., CUDA, LLVM IR).</a:t>
            </a:r>
            <a:endParaRPr lang="en-US" altLang="zh-CN" dirty="0"/>
          </a:p>
          <a:p>
            <a:r>
              <a:rPr lang="en-US" altLang="zh-CN" dirty="0"/>
              <a:t>Common Tuning Dimensions (Schedule Primitives):</a:t>
            </a:r>
            <a:endParaRPr lang="en-US" altLang="zh-CN" dirty="0"/>
          </a:p>
          <a:p>
            <a:pPr lvl="1"/>
            <a:r>
              <a:rPr lang="en-US" altLang="zh-CN" dirty="0"/>
              <a:t>Tiling: Improves cache hit rate.</a:t>
            </a:r>
            <a:endParaRPr lang="en-US" altLang="zh-CN" dirty="0"/>
          </a:p>
          <a:p>
            <a:pPr lvl="1"/>
            <a:r>
              <a:rPr lang="en-US" altLang="zh-CN" dirty="0"/>
              <a:t>Unrolling: Reduces branch overhead.</a:t>
            </a:r>
            <a:endParaRPr lang="en-US" altLang="zh-CN" dirty="0"/>
          </a:p>
          <a:p>
            <a:pPr lvl="1"/>
            <a:r>
              <a:rPr lang="en-US" altLang="zh-CN" dirty="0"/>
              <a:t>Vectorization: Utilizes SIMD instructions (e.g., AVX, </a:t>
            </a:r>
            <a:r>
              <a:rPr lang="en-US" altLang="zh-CN" dirty="0" err="1"/>
              <a:t>TensorCore</a:t>
            </a:r>
            <a:r>
              <a:rPr lang="en-US" altLang="zh-CN" dirty="0"/>
              <a:t>).</a:t>
            </a:r>
            <a:endParaRPr lang="en-US" altLang="zh-CN" dirty="0"/>
          </a:p>
          <a:p>
            <a:pPr lvl="1"/>
            <a:r>
              <a:rPr lang="en-US" altLang="zh-CN" dirty="0"/>
              <a:t>Binding: Block/Thread mapping in the GPU.</a:t>
            </a:r>
            <a:endParaRPr lang="en-US" altLang="zh-CN"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pic>
        <p:nvPicPr>
          <p:cNvPr id="3074" name="Picture 2" descr="GitHub - KernelTuner/kernel_tuner: Kernel Tune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44498" y="4942682"/>
            <a:ext cx="1323975" cy="1323975"/>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2"/>
          <a:stretch>
            <a:fillRect/>
          </a:stretch>
        </p:blipFill>
        <p:spPr>
          <a:xfrm>
            <a:off x="7791869" y="3368302"/>
            <a:ext cx="4529898" cy="2808661"/>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Application of Simulated Annealing</a:t>
            </a:r>
            <a:endParaRPr lang="zh-CN" altLang="en-US" dirty="0"/>
          </a:p>
        </p:txBody>
      </p:sp>
      <p:sp>
        <p:nvSpPr>
          <p:cNvPr id="3" name="内容占位符 2"/>
          <p:cNvSpPr>
            <a:spLocks noGrp="1"/>
          </p:cNvSpPr>
          <p:nvPr>
            <p:ph sz="quarter" idx="13"/>
          </p:nvPr>
        </p:nvSpPr>
        <p:spPr/>
        <p:txBody>
          <a:bodyPr>
            <a:normAutofit/>
          </a:bodyPr>
          <a:lstStyle/>
          <a:p>
            <a:r>
              <a:rPr lang="en-US" altLang="zh-CN" dirty="0"/>
              <a:t>State Representation: The current set of template parameters</a:t>
            </a:r>
            <a:endParaRPr lang="en-US" altLang="zh-CN" dirty="0"/>
          </a:p>
          <a:p>
            <a:r>
              <a:rPr lang="en-US" altLang="zh-CN" dirty="0"/>
              <a:t>Neighbor Transition: Fine-tuning one of the parameters </a:t>
            </a:r>
            <a:endParaRPr lang="en-US" altLang="zh-CN" dirty="0"/>
          </a:p>
          <a:p>
            <a:r>
              <a:rPr lang="en-US" altLang="zh-CN" dirty="0"/>
              <a:t>Cooling Schedule:</a:t>
            </a:r>
            <a:endParaRPr lang="en-US" altLang="zh-CN" dirty="0"/>
          </a:p>
          <a:p>
            <a:pPr lvl="1"/>
            <a:r>
              <a:rPr lang="en-US" altLang="zh-CN" dirty="0"/>
              <a:t>Initial High Temperature: High probability of accepting poor solutions (large-scale exploration).</a:t>
            </a:r>
            <a:endParaRPr lang="en-US" altLang="zh-CN" dirty="0"/>
          </a:p>
          <a:p>
            <a:pPr lvl="1"/>
            <a:r>
              <a:rPr lang="en-US" altLang="zh-CN" dirty="0"/>
              <a:t>Later Low Temperature: Almost only accepting good solutions (local convergence exploration).</a:t>
            </a:r>
            <a:endParaRPr lang="en-US" altLang="zh-CN" dirty="0"/>
          </a:p>
          <a:p>
            <a:r>
              <a:rPr lang="en-US" altLang="zh-CN" dirty="0"/>
              <a:t>Early versions of </a:t>
            </a:r>
            <a:r>
              <a:rPr lang="en-US" altLang="zh-CN" dirty="0" err="1"/>
              <a:t>AutoTVM</a:t>
            </a:r>
            <a:r>
              <a:rPr lang="en-US" altLang="zh-CN" dirty="0"/>
              <a:t> widely used simulated annealing to find optimal parameters in the candidate space.</a:t>
            </a:r>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5613150" y="4261910"/>
            <a:ext cx="5576934" cy="2596090"/>
          </a:xfrm>
          <a:prstGeom prst="rect">
            <a:avLst/>
          </a:prstGeom>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Advanced Exploration Algorithm: Genetic Algorithm</a:t>
            </a:r>
            <a:endParaRPr lang="zh-CN" altLang="en-US" dirty="0"/>
          </a:p>
        </p:txBody>
      </p:sp>
      <p:sp>
        <p:nvSpPr>
          <p:cNvPr id="3" name="内容占位符 2"/>
          <p:cNvSpPr>
            <a:spLocks noGrp="1"/>
          </p:cNvSpPr>
          <p:nvPr>
            <p:ph sz="quarter" idx="13"/>
          </p:nvPr>
        </p:nvSpPr>
        <p:spPr/>
        <p:txBody>
          <a:bodyPr>
            <a:normAutofit/>
          </a:bodyPr>
          <a:lstStyle/>
          <a:p>
            <a:r>
              <a:rPr lang="en-US" altLang="zh-CN" dirty="0"/>
              <a:t>Inspiration: Darwin's theory of evolution, "survival of the fittest."</a:t>
            </a:r>
            <a:endParaRPr lang="en-US" altLang="zh-CN" dirty="0"/>
          </a:p>
          <a:p>
            <a:r>
              <a:rPr lang="en-US" altLang="zh-CN" dirty="0"/>
              <a:t>Core Algorithm Steps:</a:t>
            </a:r>
            <a:endParaRPr lang="en-US" altLang="zh-CN" dirty="0"/>
          </a:p>
          <a:p>
            <a:pPr lvl="1"/>
            <a:r>
              <a:rPr lang="en-US" altLang="zh-CN" dirty="0"/>
              <a:t>Population: Randomly generate a batch of initial configurations.</a:t>
            </a:r>
            <a:endParaRPr lang="en-US" altLang="zh-CN" dirty="0"/>
          </a:p>
          <a:p>
            <a:pPr lvl="1"/>
            <a:r>
              <a:rPr lang="en-US" altLang="zh-CN" dirty="0"/>
              <a:t>Fitness Evaluation: Evaluate performance using a cost model.</a:t>
            </a:r>
            <a:endParaRPr lang="en-US" altLang="zh-CN" dirty="0"/>
          </a:p>
          <a:p>
            <a:pPr lvl="1"/>
            <a:r>
              <a:rPr lang="en-US" altLang="zh-CN" dirty="0"/>
              <a:t>Crossover: Swap some parameters between two superior configurations to produce offspring.</a:t>
            </a:r>
            <a:endParaRPr lang="en-US" altLang="zh-CN" dirty="0"/>
          </a:p>
          <a:p>
            <a:pPr lvl="1"/>
            <a:r>
              <a:rPr lang="en-US" altLang="zh-CN" dirty="0"/>
              <a:t>Mutation: Randomly change some parameters (introducing new genes to prevent premature convergence).</a:t>
            </a:r>
            <a:endParaRPr lang="en-US" altLang="zh-CN" dirty="0"/>
          </a:p>
          <a:p>
            <a:pPr lvl="1"/>
            <a:r>
              <a:rPr lang="en-US" altLang="zh-CN" dirty="0"/>
              <a:t>Selection: Eliminate poorly performing configurations and retain the better ones for the next generation.</a:t>
            </a:r>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pic>
        <p:nvPicPr>
          <p:cNvPr id="8194" name="Picture 2" descr="What is a Genetic Algorithm? | Generative Design Prime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56095" y="1144587"/>
            <a:ext cx="2835905" cy="214583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My New Genetic Algorithm For Time Series | by Tech Future | Becoming Human:  Artificial Intelligence Magazine"/>
          <p:cNvPicPr>
            <a:picLocks noChangeAspect="1" noChangeArrowheads="1"/>
          </p:cNvPicPr>
          <p:nvPr/>
        </p:nvPicPr>
        <p:blipFill rotWithShape="1">
          <a:blip r:embed="rId2">
            <a:extLst>
              <a:ext uri="{28A0092B-C50C-407E-A947-70E740481C1C}">
                <a14:useLocalDpi xmlns:a14="http://schemas.microsoft.com/office/drawing/2010/main" val="0"/>
              </a:ext>
            </a:extLst>
          </a:blip>
          <a:srcRect t="30205" b="3863"/>
          <a:stretch>
            <a:fillRect/>
          </a:stretch>
        </p:blipFill>
        <p:spPr bwMode="auto">
          <a:xfrm>
            <a:off x="4234475" y="4580142"/>
            <a:ext cx="4601707" cy="22778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 Advanced Techniques </a:t>
            </a:r>
            <a:endParaRPr lang="en-US" altLang="zh-CN" b="1"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pic>
        <p:nvPicPr>
          <p:cNvPr id="9218" name="Picture 2" descr="Shallow Understanding on Bayesian Optimization | by Ramraj Chandradevan |  TDS Archive | Medium"/>
          <p:cNvPicPr>
            <a:picLocks noChangeAspect="1" noChangeArrowheads="1"/>
          </p:cNvPicPr>
          <p:nvPr>
            <p:ph sz="quarter" idx="13"/>
          </p:nvPr>
        </p:nvPicPr>
        <p:blipFill>
          <a:blip r:embed="rId1">
            <a:extLst>
              <a:ext uri="{28A0092B-C50C-407E-A947-70E740481C1C}">
                <a14:useLocalDpi xmlns:a14="http://schemas.microsoft.com/office/drawing/2010/main" val="0"/>
              </a:ext>
            </a:extLst>
          </a:blip>
          <a:srcRect/>
          <a:stretch>
            <a:fillRect/>
          </a:stretch>
        </p:blipFill>
        <p:spPr bwMode="auto">
          <a:xfrm>
            <a:off x="9136380" y="958850"/>
            <a:ext cx="2738755" cy="2703830"/>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nvSpPr>
        <p:spPr>
          <a:xfrm>
            <a:off x="523875" y="1323975"/>
            <a:ext cx="8551545" cy="4853305"/>
          </a:xfrm>
          <a:prstGeom prst="rect">
            <a:avLst/>
          </a:prstGeom>
        </p:spPr>
        <p:txBody>
          <a:bodyPr vert="horz" lIns="91440" tIns="45720" rIns="91440" bIns="45720" rtlCol="0" anchor="t">
            <a:normAutofit lnSpcReduction="10000"/>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pPr marL="0" indent="0">
              <a:buNone/>
            </a:pPr>
            <a:r>
              <a:rPr lang="en-US" altLang="zh-CN" sz="2800" b="1" dirty="0">
                <a:sym typeface="+mn-ea"/>
              </a:rPr>
              <a:t>Bayesian</a:t>
            </a:r>
            <a:endParaRPr lang="en-US" altLang="zh-CN" sz="2800" dirty="0"/>
          </a:p>
          <a:p>
            <a:r>
              <a:rPr lang="en-US" altLang="zh-CN" dirty="0"/>
              <a:t>Suitable Scenarios: Optimization of black-box functions where a single evaluation is extremely costly </a:t>
            </a:r>
            <a:endParaRPr lang="en-US" altLang="zh-CN" dirty="0"/>
          </a:p>
          <a:p>
            <a:r>
              <a:rPr lang="en-US" altLang="zh-CN" dirty="0"/>
              <a:t>Core Components</a:t>
            </a:r>
            <a:endParaRPr lang="en-US" altLang="zh-CN" dirty="0"/>
          </a:p>
          <a:p>
            <a:pPr lvl="1"/>
            <a:r>
              <a:rPr lang="en-US" altLang="zh-CN" sz="2400" dirty="0">
                <a:sym typeface="+mn-ea"/>
              </a:rPr>
              <a:t>Surrogate Model: Typically uses a Gaussian process</a:t>
            </a:r>
            <a:endParaRPr lang="en-US" altLang="zh-CN" sz="2400" dirty="0"/>
          </a:p>
          <a:p>
            <a:pPr lvl="1"/>
            <a:r>
              <a:rPr lang="en-US" altLang="zh-CN" sz="2400" dirty="0">
                <a:sym typeface="+mn-ea"/>
              </a:rPr>
              <a:t>Acquisition Function: Often uses EI (Expected Improvement).</a:t>
            </a:r>
            <a:endParaRPr lang="zh-CN" altLang="en-US" sz="2400" dirty="0"/>
          </a:p>
          <a:p>
            <a:pPr marL="0" indent="0">
              <a:buNone/>
            </a:pPr>
            <a:r>
              <a:rPr lang="en-US" altLang="zh-CN" b="1" dirty="0">
                <a:cs typeface="Calibri" panose="020F0502020204030204" charset="0"/>
                <a:sym typeface="+mn-ea"/>
              </a:rPr>
              <a:t>Reinforcement Learning</a:t>
            </a:r>
            <a:endParaRPr lang="zh-CN" altLang="en-US" b="1" dirty="0">
              <a:cs typeface="Calibri" panose="020F0502020204030204" charset="0"/>
            </a:endParaRPr>
          </a:p>
          <a:p>
            <a:r>
              <a:rPr lang="en-US" altLang="zh-CN" dirty="0">
                <a:sym typeface="+mn-ea"/>
              </a:rPr>
              <a:t>Tuning from a Reinforcement Learning Perspective (MDP - Markov Decision Process)</a:t>
            </a:r>
            <a:endParaRPr lang="en-US" altLang="zh-CN" dirty="0"/>
          </a:p>
          <a:p>
            <a:endParaRPr lang="en-US" altLang="zh-CN" dirty="0"/>
          </a:p>
          <a:p>
            <a:endParaRPr lang="en-US" altLang="zh-CN" dirty="0"/>
          </a:p>
          <a:p>
            <a:pPr lvl="1"/>
            <a:endParaRPr lang="zh-CN" altLang="en-US" dirty="0"/>
          </a:p>
        </p:txBody>
      </p:sp>
      <p:pic>
        <p:nvPicPr>
          <p:cNvPr id="12" name="图片 11"/>
          <p:cNvPicPr>
            <a:picLocks noChangeAspect="1"/>
          </p:cNvPicPr>
          <p:nvPr/>
        </p:nvPicPr>
        <p:blipFill>
          <a:blip r:embed="rId2"/>
          <a:stretch>
            <a:fillRect/>
          </a:stretch>
        </p:blipFill>
        <p:spPr>
          <a:xfrm>
            <a:off x="8347710" y="3836670"/>
            <a:ext cx="3777615" cy="2259965"/>
          </a:xfrm>
          <a:prstGeom prst="rect">
            <a:avLst/>
          </a:prstGeom>
        </p:spPr>
      </p:pic>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页脚占位符 3"/>
          <p:cNvSpPr>
            <a:spLocks noGrp="1"/>
          </p:cNvSpPr>
          <p:nvPr>
            <p:ph type="ftr" sz="quarter" idx="11"/>
          </p:nvPr>
        </p:nvSpPr>
        <p:spPr/>
        <p:txBody>
          <a:bodyPr/>
          <a:p>
            <a:endParaRPr lang="zh-CN" altLang="en-US" dirty="0"/>
          </a:p>
        </p:txBody>
      </p:sp>
      <p:sp>
        <p:nvSpPr>
          <p:cNvPr id="5" name="灯片编号占位符 4"/>
          <p:cNvSpPr>
            <a:spLocks noGrp="1"/>
          </p:cNvSpPr>
          <p:nvPr>
            <p:ph type="sldNum" sz="quarter" idx="12"/>
          </p:nvPr>
        </p:nvSpPr>
        <p:spPr/>
        <p:txBody>
          <a:bodyPr/>
          <a:p>
            <a:fld id="{B33F7469-D28B-482F-B1B6-3B8E7CF51519}" type="slidenum">
              <a:rPr lang="zh-CN" altLang="en-US" smtClean="0"/>
            </a:fld>
            <a:endParaRPr lang="zh-CN" altLang="en-US" dirty="0"/>
          </a:p>
        </p:txBody>
      </p:sp>
      <p:sp>
        <p:nvSpPr>
          <p:cNvPr id="2" name="AutoShape 2"/>
          <p:cNvSpPr/>
          <p:nvPr/>
        </p:nvSpPr>
        <p:spPr>
          <a:xfrm>
            <a:off x="762000" y="5715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0000"/>
                </a:solidFill>
                <a:latin typeface="Noto Sans SC" panose="020B0200000000000000" pitchFamily="34" charset="-122"/>
                <a:ea typeface="Noto Sans SC" panose="020B0200000000000000" pitchFamily="34" charset="-122"/>
                <a:cs typeface="Noto Sans SC" panose="020B0200000000000000" pitchFamily="34" charset="-122"/>
                <a:sym typeface="Noto Sans SC" panose="020B0200000000000000" pitchFamily="34" charset="-122"/>
              </a:rPr>
              <a:t>KernelGen </a:t>
            </a:r>
            <a:r>
              <a:rPr lang="en-US" altLang="zh-CN" sz="3600" b="1" i="0" u="none" strike="noStrike">
                <a:solidFill>
                  <a:srgbClr val="000000"/>
                </a:solidFill>
                <a:latin typeface="Noto Sans SC" panose="020B0200000000000000" pitchFamily="34" charset="-122"/>
                <a:ea typeface="Noto Sans SC" panose="020B0200000000000000" pitchFamily="34" charset="-122"/>
                <a:cs typeface="Arial" panose="020B0604020202020204" pitchFamily="34" charset="0"/>
                <a:sym typeface="Noto Sans SC" panose="020B0200000000000000" pitchFamily="34" charset="-122"/>
              </a:rPr>
              <a:t>background &amp;&amp; workflow</a:t>
            </a:r>
            <a:endParaRPr lang="en-US" sz="1100"/>
          </a:p>
        </p:txBody>
      </p:sp>
      <p:sp>
        <p:nvSpPr>
          <p:cNvPr id="9" name="AutoShape 7"/>
          <p:cNvSpPr/>
          <p:nvPr>
            <p:custDataLst>
              <p:tags r:id="rId1"/>
            </p:custDataLst>
          </p:nvPr>
        </p:nvSpPr>
        <p:spPr>
          <a:xfrm>
            <a:off x="523875" y="1968500"/>
            <a:ext cx="5334000" cy="1079500"/>
          </a:xfrm>
          <a:prstGeom prst="roundRect">
            <a:avLst>
              <a:gd name="adj" fmla="val 1176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p>
        </p:txBody>
      </p:sp>
      <p:pic>
        <p:nvPicPr>
          <p:cNvPr id="10" name="Picture 8"/>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375" y="2159000"/>
            <a:ext cx="304800" cy="304800"/>
          </a:xfrm>
          <a:prstGeom prst="rect">
            <a:avLst/>
          </a:prstGeom>
        </p:spPr>
      </p:pic>
      <p:sp>
        <p:nvSpPr>
          <p:cNvPr id="11" name="AutoShape 9"/>
          <p:cNvSpPr/>
          <p:nvPr>
            <p:custDataLst>
              <p:tags r:id="rId5"/>
            </p:custDataLst>
          </p:nvPr>
        </p:nvSpPr>
        <p:spPr>
          <a:xfrm>
            <a:off x="1095375" y="21209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DC2626"/>
                </a:solidFill>
                <a:latin typeface="Noto Sans SC" panose="020B0200000000000000" pitchFamily="34" charset="-122"/>
                <a:ea typeface="Noto Sans SC" panose="020B0200000000000000" pitchFamily="34" charset="-122"/>
                <a:cs typeface="Noto Sans SC" panose="020B0200000000000000" pitchFamily="34" charset="-122"/>
                <a:sym typeface="Noto Sans SC" panose="020B0200000000000000" pitchFamily="34" charset="-122"/>
              </a:rPr>
              <a:t>KernelGen core objectives</a:t>
            </a:r>
            <a:endParaRPr lang="en-US" sz="1100"/>
          </a:p>
        </p:txBody>
      </p:sp>
      <p:sp>
        <p:nvSpPr>
          <p:cNvPr id="12" name="AutoShape 10"/>
          <p:cNvSpPr/>
          <p:nvPr>
            <p:custDataLst>
              <p:tags r:id="rId6"/>
            </p:custDataLst>
          </p:nvPr>
        </p:nvSpPr>
        <p:spPr>
          <a:xfrm>
            <a:off x="1095375" y="2476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000" b="0" i="0" u="none" strike="noStrike">
                <a:solidFill>
                  <a:srgbClr val="4B5563"/>
                </a:solidFill>
                <a:latin typeface="Noto Sans SC" panose="020B0200000000000000" pitchFamily="34" charset="-122"/>
                <a:ea typeface="Noto Sans SC" panose="020B0200000000000000" pitchFamily="34" charset="-122"/>
                <a:cs typeface="Noto Sans SC" panose="020B0200000000000000" pitchFamily="34" charset="-122"/>
                <a:sym typeface="Noto Sans SC" panose="020B0200000000000000" pitchFamily="34" charset="-122"/>
              </a:rPr>
              <a:t>Utilizing AI technology to automatically generate GPU kernel code, achieving ultimate performance optimization for target hardware and resolving the challenges of manual programming.</a:t>
            </a:r>
            <a:endParaRPr lang="en-US" sz="1000"/>
          </a:p>
        </p:txBody>
      </p:sp>
      <p:sp>
        <p:nvSpPr>
          <p:cNvPr id="13" name="AutoShape 11"/>
          <p:cNvSpPr/>
          <p:nvPr>
            <p:custDataLst>
              <p:tags r:id="rId7"/>
            </p:custDataLst>
          </p:nvPr>
        </p:nvSpPr>
        <p:spPr>
          <a:xfrm>
            <a:off x="523875" y="3175000"/>
            <a:ext cx="5334000" cy="1079500"/>
          </a:xfrm>
          <a:prstGeom prst="roundRect">
            <a:avLst>
              <a:gd name="adj" fmla="val 1176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p>
        </p:txBody>
      </p:sp>
      <p:pic>
        <p:nvPicPr>
          <p:cNvPr id="14" name="Picture 12"/>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14375" y="3365500"/>
            <a:ext cx="304800" cy="304800"/>
          </a:xfrm>
          <a:prstGeom prst="rect">
            <a:avLst/>
          </a:prstGeom>
        </p:spPr>
      </p:pic>
      <p:sp>
        <p:nvSpPr>
          <p:cNvPr id="15" name="AutoShape 13"/>
          <p:cNvSpPr/>
          <p:nvPr>
            <p:custDataLst>
              <p:tags r:id="rId11"/>
            </p:custDataLst>
          </p:nvPr>
        </p:nvSpPr>
        <p:spPr>
          <a:xfrm>
            <a:off x="1095375" y="33274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DC2626"/>
                </a:solidFill>
                <a:latin typeface="Noto Sans SC" panose="020B0200000000000000" pitchFamily="34" charset="-122"/>
                <a:ea typeface="Noto Sans SC" panose="020B0200000000000000" pitchFamily="34" charset="-122"/>
                <a:cs typeface="Noto Sans SC" panose="020B0200000000000000" pitchFamily="34" charset="-122"/>
                <a:sym typeface="Noto Sans SC" panose="020B0200000000000000" pitchFamily="34" charset="-122"/>
              </a:rPr>
              <a:t>The industry faces challenges</a:t>
            </a:r>
            <a:endParaRPr lang="en-US" sz="1100"/>
          </a:p>
        </p:txBody>
      </p:sp>
      <p:sp>
        <p:nvSpPr>
          <p:cNvPr id="16" name="AutoShape 14"/>
          <p:cNvSpPr/>
          <p:nvPr>
            <p:custDataLst>
              <p:tags r:id="rId12"/>
            </p:custDataLst>
          </p:nvPr>
        </p:nvSpPr>
        <p:spPr>
          <a:xfrm>
            <a:off x="1095375" y="3683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a:solidFill>
                  <a:srgbClr val="4B5563"/>
                </a:solidFill>
                <a:latin typeface="Noto Sans SC" panose="020B0200000000000000" pitchFamily="34" charset="-122"/>
                <a:ea typeface="Noto Sans SC" panose="020B0200000000000000" pitchFamily="34" charset="-122"/>
                <a:cs typeface="Noto Sans SC" panose="020B0200000000000000" pitchFamily="34" charset="-122"/>
              </a:rPr>
              <a:t>The GPU programming model is complex, with large differences between architectures, lacking general optimization strategies, and having extremely high thresholds for parallel computing scheduling and memory management.</a:t>
            </a:r>
            <a:endParaRPr lang="en-US"/>
          </a:p>
        </p:txBody>
      </p:sp>
      <p:sp>
        <p:nvSpPr>
          <p:cNvPr id="17" name="AutoShape 15"/>
          <p:cNvSpPr/>
          <p:nvPr>
            <p:custDataLst>
              <p:tags r:id="rId13"/>
            </p:custDataLst>
          </p:nvPr>
        </p:nvSpPr>
        <p:spPr>
          <a:xfrm>
            <a:off x="523875" y="4381500"/>
            <a:ext cx="5334000" cy="1079500"/>
          </a:xfrm>
          <a:prstGeom prst="roundRect">
            <a:avLst>
              <a:gd name="adj" fmla="val 1176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p>
        </p:txBody>
      </p:sp>
      <p:pic>
        <p:nvPicPr>
          <p:cNvPr id="18" name="Picture 16"/>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14375" y="4572000"/>
            <a:ext cx="304800" cy="304800"/>
          </a:xfrm>
          <a:prstGeom prst="rect">
            <a:avLst/>
          </a:prstGeom>
        </p:spPr>
      </p:pic>
      <p:sp>
        <p:nvSpPr>
          <p:cNvPr id="19" name="AutoShape 17"/>
          <p:cNvSpPr/>
          <p:nvPr>
            <p:custDataLst>
              <p:tags r:id="rId17"/>
            </p:custDataLst>
          </p:nvPr>
        </p:nvSpPr>
        <p:spPr>
          <a:xfrm>
            <a:off x="1095375" y="45339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DC2626"/>
                </a:solidFill>
                <a:latin typeface="Noto Sans SC" panose="020B0200000000000000" pitchFamily="34" charset="-122"/>
                <a:ea typeface="Noto Sans SC" panose="020B0200000000000000" pitchFamily="34" charset="-122"/>
                <a:cs typeface="Noto Sans SC" panose="020B0200000000000000" pitchFamily="34" charset="-122"/>
                <a:sym typeface="Noto Sans SC" panose="020B0200000000000000" pitchFamily="34" charset="-122"/>
              </a:rPr>
              <a:t>Core value of the project</a:t>
            </a:r>
            <a:endParaRPr lang="en-US" sz="1100"/>
          </a:p>
        </p:txBody>
      </p:sp>
      <p:sp>
        <p:nvSpPr>
          <p:cNvPr id="20" name="AutoShape 18"/>
          <p:cNvSpPr/>
          <p:nvPr>
            <p:custDataLst>
              <p:tags r:id="rId18"/>
            </p:custDataLst>
          </p:nvPr>
        </p:nvSpPr>
        <p:spPr>
          <a:xfrm>
            <a:off x="1095375" y="4889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000" b="0" i="0" u="none" strike="noStrike">
                <a:solidFill>
                  <a:srgbClr val="4B5563"/>
                </a:solidFill>
                <a:latin typeface="Noto Sans SC" panose="020B0200000000000000" pitchFamily="34" charset="-122"/>
                <a:ea typeface="Noto Sans SC" panose="020B0200000000000000" pitchFamily="34" charset="-122"/>
                <a:cs typeface="Noto Sans SC" panose="020B0200000000000000" pitchFamily="34" charset="-122"/>
                <a:sym typeface="Noto Sans SC" panose="020B0200000000000000" pitchFamily="34" charset="-122"/>
              </a:rPr>
              <a:t>Significantly lowering the threshold for GPU application development, unleashing the potential of hardware computing power, and improving the execution efficiency of computing tasks as well as resource utilization.</a:t>
            </a:r>
            <a:endParaRPr lang="en-US" sz="1000"/>
          </a:p>
        </p:txBody>
      </p:sp>
      <p:pic>
        <p:nvPicPr>
          <p:cNvPr id="3" name="图片 2" descr="图片优化与英文翻译及步骤介绍"/>
          <p:cNvPicPr>
            <a:picLocks noChangeAspect="1"/>
          </p:cNvPicPr>
          <p:nvPr/>
        </p:nvPicPr>
        <p:blipFill>
          <a:blip r:embed="rId19"/>
          <a:stretch>
            <a:fillRect/>
          </a:stretch>
        </p:blipFill>
        <p:spPr>
          <a:xfrm>
            <a:off x="7859395" y="1372235"/>
            <a:ext cx="2921635" cy="5128895"/>
          </a:xfrm>
          <a:prstGeom prst="rect">
            <a:avLst/>
          </a:prstGeom>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1"/>
          </p:nvPr>
        </p:nvSpPr>
        <p:spPr/>
        <p:txBody>
          <a:bodyPr/>
          <a:p>
            <a:endParaRPr lang="zh-CN" altLang="en-US"/>
          </a:p>
        </p:txBody>
      </p:sp>
      <p:sp>
        <p:nvSpPr>
          <p:cNvPr id="4" name="内容占位符 1"/>
          <p:cNvSpPr>
            <a:spLocks noGrp="1"/>
          </p:cNvSpPr>
          <p:nvPr>
            <p:custDataLst>
              <p:tags r:id="rId1"/>
            </p:custDataLst>
          </p:nvPr>
        </p:nvSpPr>
        <p:spPr>
          <a:xfrm>
            <a:off x="5579216" y="127000"/>
            <a:ext cx="6110447" cy="6858000"/>
          </a:xfrm>
          <a:prstGeom prst="rect">
            <a:avLst/>
          </a:prstGeom>
        </p:spPr>
        <p:txBody>
          <a:bodyPr vert="horz" lIns="91440" tIns="45720" rIns="91440" bIns="45720" rtlCol="0" anchor="ctr">
            <a:normAutofit/>
          </a:bodyPr>
          <a:lstStyle>
            <a:lvl1pPr marL="360045" marR="0" indent="-360045" algn="l" defTabSz="342900" rtl="0" eaLnBrk="1" fontAlgn="auto" latinLnBrk="0" hangingPunct="1">
              <a:lnSpc>
                <a:spcPct val="100000"/>
              </a:lnSpc>
              <a:spcBef>
                <a:spcPts val="3000"/>
              </a:spcBef>
              <a:spcAft>
                <a:spcPts val="0"/>
              </a:spcAft>
              <a:buClr>
                <a:srgbClr val="8B0012"/>
              </a:buClr>
              <a:buSzTx/>
              <a:buFontTx/>
              <a:buChar char="•"/>
              <a:defRPr sz="2800" b="0" i="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Tx/>
              <a:buFontTx/>
              <a:buChar char="◦"/>
              <a:defRPr sz="24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sz="20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sz="16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a:lstStyle>
          <a:p>
            <a:r>
              <a:rPr lang="en-US" altLang="zh-CN">
                <a:solidFill>
                  <a:schemeClr val="tx1"/>
                </a:solidFill>
                <a:cs typeface="Arial" panose="020B0604020202020204" pitchFamily="34" charset="0"/>
              </a:rPr>
              <a:t>Benchmarking &amp; Performance Metrics</a:t>
            </a:r>
            <a:endParaRPr lang="en-US" altLang="zh-CN">
              <a:solidFill>
                <a:schemeClr val="tx1"/>
              </a:solidFill>
              <a:cs typeface="Arial" panose="020B0604020202020204" pitchFamily="34" charset="0"/>
            </a:endParaRPr>
          </a:p>
          <a:p>
            <a:r>
              <a:rPr lang="en-US" altLang="zh-CN">
                <a:solidFill>
                  <a:schemeClr val="tx1"/>
                </a:solidFill>
              </a:rPr>
              <a:t>Profiling &amp; Roofline Analysis</a:t>
            </a:r>
            <a:endParaRPr lang="en-US" altLang="zh-CN">
              <a:solidFill>
                <a:schemeClr val="tx1"/>
              </a:solidFill>
            </a:endParaRPr>
          </a:p>
          <a:p>
            <a:r>
              <a:rPr lang="en-US" altLang="zh-CN"/>
              <a:t>Auto-Tuning &amp; KernelGen</a:t>
            </a:r>
            <a:endParaRPr lang="en-US" altLang="zh-CN"/>
          </a:p>
          <a:p>
            <a:r>
              <a:rPr lang="en-US" altLang="zh-CN" b="1">
                <a:solidFill>
                  <a:srgbClr val="C00000"/>
                </a:solidFill>
              </a:rPr>
              <a:t>End-to-End Optimization</a:t>
            </a:r>
            <a:endParaRPr lang="en-US" altLang="zh-CN" b="1">
              <a:solidFill>
                <a:srgbClr val="C00000"/>
              </a:solidFill>
            </a:endParaRPr>
          </a:p>
          <a:p>
            <a:r>
              <a:rPr lang="en-US" altLang="zh-CN"/>
              <a:t>Lab: Performance Analysis in Practice</a:t>
            </a:r>
            <a:endParaRPr lang="en-US" altLang="zh-CN"/>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1680" y="431800"/>
            <a:ext cx="8501380" cy="701040"/>
          </a:xfrm>
        </p:spPr>
        <p:txBody>
          <a:bodyPr/>
          <a:lstStyle/>
          <a:p>
            <a:r>
              <a:rPr lang="en-US" altLang="zh-CN" b="1" dirty="0"/>
              <a:t>What is end-to-end collaborative optimization?</a:t>
            </a:r>
            <a:endParaRPr lang="zh-CN" altLang="en-US" b="1" dirty="0"/>
          </a:p>
        </p:txBody>
      </p:sp>
      <p:sp>
        <p:nvSpPr>
          <p:cNvPr id="3" name="内容占位符 2"/>
          <p:cNvSpPr>
            <a:spLocks noGrp="1"/>
          </p:cNvSpPr>
          <p:nvPr>
            <p:ph sz="quarter" idx="13"/>
          </p:nvPr>
        </p:nvSpPr>
        <p:spPr>
          <a:xfrm>
            <a:off x="523875" y="1323975"/>
            <a:ext cx="7669512" cy="4852988"/>
          </a:xfrm>
        </p:spPr>
        <p:txBody>
          <a:bodyPr>
            <a:normAutofit lnSpcReduction="10000"/>
          </a:bodyPr>
          <a:lstStyle/>
          <a:p>
            <a:r>
              <a:rPr lang="en-US" altLang="zh-CN" dirty="0"/>
              <a:t>Limitations of local optimization:</a:t>
            </a:r>
            <a:endParaRPr lang="en-US" altLang="zh-CN" dirty="0"/>
          </a:p>
          <a:p>
            <a:pPr lvl="1"/>
            <a:r>
              <a:rPr lang="en-US" altLang="zh-CN" dirty="0"/>
              <a:t>Amdahl's Law</a:t>
            </a:r>
            <a:endParaRPr lang="en-US" altLang="zh-CN" dirty="0"/>
          </a:p>
          <a:p>
            <a:r>
              <a:rPr lang="en-US" altLang="zh-CN" dirty="0"/>
              <a:t>Full-chain funnel model:</a:t>
            </a:r>
            <a:endParaRPr lang="en-US" altLang="zh-CN" dirty="0"/>
          </a:p>
          <a:p>
            <a:pPr lvl="1"/>
            <a:r>
              <a:rPr lang="en-US" altLang="zh-CN" dirty="0"/>
              <a:t>Top layer (algorithm layer): theoretical computational load (FLOPs) and memory requirements.</a:t>
            </a:r>
            <a:endParaRPr lang="en-US" altLang="zh-CN" dirty="0"/>
          </a:p>
          <a:p>
            <a:pPr lvl="1"/>
            <a:r>
              <a:rPr lang="en-US" altLang="zh-CN" dirty="0"/>
              <a:t>Middle layer (compilation/framework layer): execution path of the computation graph and the lifetime of GPU memory.</a:t>
            </a:r>
            <a:endParaRPr lang="en-US" altLang="zh-CN" dirty="0"/>
          </a:p>
          <a:p>
            <a:pPr lvl="1"/>
            <a:r>
              <a:rPr lang="en-US" altLang="zh-CN" dirty="0"/>
              <a:t>Bottom layer (operator/hardware layer): execution efficiency of specific instructions.</a:t>
            </a:r>
            <a:endParaRPr lang="en-US" altLang="zh-CN" dirty="0"/>
          </a:p>
          <a:p>
            <a:r>
              <a:rPr lang="en-US" altLang="zh-CN" dirty="0"/>
              <a:t>Reverse feedback mechanism</a:t>
            </a:r>
            <a:endParaRPr lang="en-US" altLang="zh-CN" dirty="0"/>
          </a:p>
          <a:p>
            <a:pPr lvl="1"/>
            <a:r>
              <a:rPr lang="en-US" altLang="zh-CN" dirty="0"/>
              <a:t>The characteristics of the underlying hardware (such as </a:t>
            </a:r>
            <a:r>
              <a:rPr lang="en-US" altLang="zh-CN" dirty="0" err="1"/>
              <a:t>TensorCore's</a:t>
            </a:r>
            <a:r>
              <a:rPr lang="en-US" altLang="zh-CN" dirty="0"/>
              <a:t> dedicated FP16/FP8) in turn guide the design and quantization strategy of the top-level algorithm.</a:t>
            </a:r>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pic>
        <p:nvPicPr>
          <p:cNvPr id="9" name="图片 8"/>
          <p:cNvPicPr>
            <a:picLocks noChangeAspect="1"/>
          </p:cNvPicPr>
          <p:nvPr/>
        </p:nvPicPr>
        <p:blipFill rotWithShape="1">
          <a:blip r:embed="rId1"/>
          <a:srcRect t="13711" b="9931"/>
          <a:stretch>
            <a:fillRect/>
          </a:stretch>
        </p:blipFill>
        <p:spPr>
          <a:xfrm>
            <a:off x="8291043" y="1916348"/>
            <a:ext cx="3900957" cy="4440003"/>
          </a:xfrm>
          <a:prstGeom prst="rect">
            <a:avLst/>
          </a:prstGeom>
        </p:spPr>
      </p:pic>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"Double Walls" of Large Model Inference</a:t>
            </a:r>
            <a:endParaRPr lang="zh-CN" altLang="en-US" dirty="0"/>
          </a:p>
        </p:txBody>
      </p:sp>
      <p:sp>
        <p:nvSpPr>
          <p:cNvPr id="3" name="内容占位符 2"/>
          <p:cNvSpPr>
            <a:spLocks noGrp="1"/>
          </p:cNvSpPr>
          <p:nvPr>
            <p:ph sz="quarter" idx="13"/>
          </p:nvPr>
        </p:nvSpPr>
        <p:spPr>
          <a:xfrm>
            <a:off x="419100" y="1307465"/>
            <a:ext cx="5931535" cy="5048885"/>
          </a:xfrm>
        </p:spPr>
        <p:txBody>
          <a:bodyPr>
            <a:normAutofit/>
          </a:bodyPr>
          <a:lstStyle/>
          <a:p>
            <a:r>
              <a:rPr lang="en-US" altLang="zh-CN" dirty="0"/>
              <a:t>Memory Wall:</a:t>
            </a:r>
            <a:endParaRPr lang="en-US" altLang="zh-CN" dirty="0"/>
          </a:p>
          <a:p>
            <a:pPr lvl="1"/>
            <a:r>
              <a:rPr lang="en-US" altLang="zh-CN" dirty="0"/>
              <a:t>The decoding phase of LLM inference is primarily limited by memory access bandwidth.</a:t>
            </a:r>
            <a:endParaRPr lang="en-US" altLang="zh-CN" dirty="0"/>
          </a:p>
          <a:p>
            <a:pPr lvl="1"/>
            <a:r>
              <a:rPr lang="en-US" altLang="zh-CN" dirty="0"/>
              <a:t>The massive key-value cache consumes a significant amount of GPU memory, limiting concurrent batch size.</a:t>
            </a:r>
            <a:endParaRPr lang="en-US" altLang="zh-CN"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pic>
        <p:nvPicPr>
          <p:cNvPr id="8" name="图片 7"/>
          <p:cNvPicPr>
            <a:picLocks noChangeAspect="1"/>
          </p:cNvPicPr>
          <p:nvPr/>
        </p:nvPicPr>
        <p:blipFill>
          <a:blip r:embed="rId1"/>
          <a:stretch>
            <a:fillRect/>
          </a:stretch>
        </p:blipFill>
        <p:spPr>
          <a:xfrm>
            <a:off x="523875" y="3503295"/>
            <a:ext cx="5617210" cy="2853055"/>
          </a:xfrm>
          <a:prstGeom prst="rect">
            <a:avLst/>
          </a:prstGeom>
        </p:spPr>
      </p:pic>
      <p:sp>
        <p:nvSpPr>
          <p:cNvPr id="6" name="内容占位符 2"/>
          <p:cNvSpPr>
            <a:spLocks noGrp="1"/>
          </p:cNvSpPr>
          <p:nvPr/>
        </p:nvSpPr>
        <p:spPr>
          <a:xfrm>
            <a:off x="6477000" y="1307465"/>
            <a:ext cx="5084445" cy="4088765"/>
          </a:xfrm>
          <a:prstGeom prst="rect">
            <a:avLst/>
          </a:prstGeom>
        </p:spPr>
        <p:txBody>
          <a:bodyPr vert="horz" lIns="91440" tIns="45720" rIns="91440" bIns="45720" rtlCol="0" anchor="t">
            <a:norm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pPr>
              <a:buFont typeface="Wingdings" panose="05000000000000000000" charset="0"/>
              <a:buChar char="l"/>
            </a:pPr>
            <a:r>
              <a:rPr lang="en-US" altLang="zh-CN" dirty="0"/>
              <a:t>Compute Wall:</a:t>
            </a:r>
            <a:endParaRPr lang="en-US" altLang="zh-CN" dirty="0"/>
          </a:p>
          <a:p>
            <a:pPr lvl="1"/>
            <a:r>
              <a:rPr lang="en-US" altLang="zh-CN" dirty="0"/>
              <a:t>During the prefill phase, when handling long contexts, the computational cost of the attention mechanism increases quadratically with sequence length (compute-bound).</a:t>
            </a:r>
            <a:endParaRPr lang="en-US" altLang="zh-CN" dirty="0"/>
          </a:p>
          <a:p>
            <a:endParaRPr lang="zh-CN" altLang="en-US" dirty="0"/>
          </a:p>
        </p:txBody>
      </p:sp>
      <p:pic>
        <p:nvPicPr>
          <p:cNvPr id="7" name="Picture 2" descr="Microsoft CEO says that rather than seeing AI Scaling Laws hit a wall, if  anything we are seeing the emergence of a new Scaling Law for test-time  (inference) compute : r/singular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635" y="3503295"/>
            <a:ext cx="5330825" cy="31984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Compiler-Level Optimization Strategies</a:t>
            </a:r>
            <a:endParaRPr lang="zh-CN" altLang="en-US" dirty="0"/>
          </a:p>
        </p:txBody>
      </p:sp>
      <p:sp>
        <p:nvSpPr>
          <p:cNvPr id="3" name="内容占位符 2"/>
          <p:cNvSpPr>
            <a:spLocks noGrp="1"/>
          </p:cNvSpPr>
          <p:nvPr>
            <p:ph sz="quarter" idx="13"/>
          </p:nvPr>
        </p:nvSpPr>
        <p:spPr/>
        <p:txBody>
          <a:bodyPr>
            <a:normAutofit/>
          </a:bodyPr>
          <a:lstStyle/>
          <a:p>
            <a:r>
              <a:rPr lang="en-US" altLang="zh-CN" dirty="0"/>
              <a:t>Graph Optimization:</a:t>
            </a:r>
            <a:endParaRPr lang="en-US" altLang="zh-CN" dirty="0"/>
          </a:p>
          <a:p>
            <a:pPr lvl="1"/>
            <a:r>
              <a:rPr lang="en-US" altLang="zh-CN" dirty="0"/>
              <a:t>Operator Fusion: Merging multiple small operators (e.g., </a:t>
            </a:r>
            <a:r>
              <a:rPr lang="en-US" altLang="zh-CN" dirty="0" err="1"/>
              <a:t>MatMul</a:t>
            </a:r>
            <a:r>
              <a:rPr lang="en-US" altLang="zh-CN" dirty="0"/>
              <a:t> + Bias + </a:t>
            </a:r>
            <a:r>
              <a:rPr lang="en-US" altLang="zh-CN" dirty="0" err="1"/>
              <a:t>ReLU</a:t>
            </a:r>
            <a:r>
              <a:rPr lang="en-US" altLang="zh-CN" dirty="0"/>
              <a:t>) into a large kernel.</a:t>
            </a:r>
            <a:endParaRPr lang="en-US" altLang="zh-CN" dirty="0"/>
          </a:p>
          <a:p>
            <a:pPr lvl="1"/>
            <a:r>
              <a:rPr lang="en-US" altLang="zh-CN" dirty="0"/>
              <a:t>Benefits: Avoids repeated read/write operations to GPU memory (DRAM -&gt; SRAM -&gt; DRAM) for intermediate results; instead, it's completed directly in registers or shared memory, significantly improving bandwidth utilization.</a:t>
            </a:r>
            <a:endParaRPr lang="en-US" altLang="zh-CN" dirty="0"/>
          </a:p>
          <a:p>
            <a:pPr lvl="1"/>
            <a:r>
              <a:rPr lang="en-US" altLang="zh-CN" dirty="0"/>
              <a:t>Constant Folding &amp; Dead Code Elimination</a:t>
            </a:r>
            <a:endParaRPr lang="en-US" altLang="zh-CN" dirty="0"/>
          </a:p>
          <a:p>
            <a:endParaRPr lang="en-US" altLang="zh-CN"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pic>
        <p:nvPicPr>
          <p:cNvPr id="19458" name="Picture 2" descr="Literature Review] Applying Graph Explanation to Operator Fusi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3873" y="3862467"/>
            <a:ext cx="5666244" cy="2859009"/>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2"/>
          <a:stretch>
            <a:fillRect/>
          </a:stretch>
        </p:blipFill>
        <p:spPr>
          <a:xfrm>
            <a:off x="6650524" y="4043694"/>
            <a:ext cx="4856430" cy="2677782"/>
          </a:xfrm>
          <a:prstGeom prst="rect">
            <a:avLst/>
          </a:prstGeom>
        </p:spPr>
      </p:pic>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Operator Implementation</a:t>
            </a:r>
            <a:endParaRPr lang="zh-CN" altLang="en-US" dirty="0"/>
          </a:p>
        </p:txBody>
      </p:sp>
      <p:sp>
        <p:nvSpPr>
          <p:cNvPr id="3" name="内容占位符 2"/>
          <p:cNvSpPr>
            <a:spLocks noGrp="1"/>
          </p:cNvSpPr>
          <p:nvPr>
            <p:ph sz="quarter" idx="13"/>
          </p:nvPr>
        </p:nvSpPr>
        <p:spPr>
          <a:xfrm>
            <a:off x="523875" y="1132840"/>
            <a:ext cx="11277600" cy="4411980"/>
          </a:xfrm>
        </p:spPr>
        <p:txBody>
          <a:bodyPr>
            <a:normAutofit/>
          </a:bodyPr>
          <a:lstStyle/>
          <a:p>
            <a:r>
              <a:rPr lang="en-US" altLang="zh-CN" dirty="0"/>
              <a:t>Following up on the Automatic Tuning:</a:t>
            </a:r>
            <a:endParaRPr lang="en-US" altLang="zh-CN" dirty="0"/>
          </a:p>
          <a:p>
            <a:pPr lvl="1"/>
            <a:r>
              <a:rPr lang="en-US" altLang="zh-CN" dirty="0"/>
              <a:t>The optimal schedule found by </a:t>
            </a:r>
            <a:r>
              <a:rPr lang="en-US" altLang="zh-CN" dirty="0" err="1"/>
              <a:t>AutoTVM</a:t>
            </a:r>
            <a:r>
              <a:rPr lang="en-US" altLang="zh-CN" dirty="0"/>
              <a:t> or heuristic algorithms is compiled into the final hardware instructions.</a:t>
            </a:r>
            <a:endParaRPr lang="en-US" altLang="zh-CN" dirty="0"/>
          </a:p>
          <a:p>
            <a:r>
              <a:rPr lang="en-US" altLang="zh-CN" dirty="0"/>
              <a:t>Core Optimization Techniques:</a:t>
            </a:r>
            <a:endParaRPr lang="en-US" altLang="zh-CN" dirty="0"/>
          </a:p>
          <a:p>
            <a:pPr lvl="1"/>
            <a:r>
              <a:rPr lang="en-US" altLang="zh-CN" dirty="0" err="1"/>
              <a:t>FlashAttention</a:t>
            </a:r>
            <a:r>
              <a:rPr lang="en-US" altLang="zh-CN" dirty="0"/>
              <a:t> and its variants: Avoiding instantiating the complete Attention matrix into GPU memory through Tiling and </a:t>
            </a:r>
            <a:r>
              <a:rPr lang="en-US" altLang="zh-CN" dirty="0" err="1"/>
              <a:t>Recomputation</a:t>
            </a:r>
            <a:r>
              <a:rPr lang="en-US" altLang="zh-CN" dirty="0"/>
              <a:t>.</a:t>
            </a:r>
            <a:endParaRPr lang="en-US" altLang="zh-CN" dirty="0"/>
          </a:p>
          <a:p>
            <a:pPr lvl="1"/>
            <a:r>
              <a:rPr lang="en-US" altLang="zh-CN" dirty="0"/>
              <a:t>Extreme Assembly-Level Optimization: Squeezing out the last 5% of performance using PTX or a handwritten kernel tailored to a specific domestic chip microarchitecture.</a:t>
            </a:r>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pic>
        <p:nvPicPr>
          <p:cNvPr id="20482" name="Picture 2" descr="A Deep Dive into FlashAttention Algorithm-part 3 | by Sachin Kalsi |  Towards 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60731" y="4468757"/>
            <a:ext cx="5702363" cy="2256443"/>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Understanding PTX, the Assembly Language of CUDA GPU Computing | NVIDIA  Technical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5239" y="4213860"/>
            <a:ext cx="2692887" cy="2507616"/>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3"/>
          <a:stretch>
            <a:fillRect/>
          </a:stretch>
        </p:blipFill>
        <p:spPr>
          <a:xfrm>
            <a:off x="565886" y="4422706"/>
            <a:ext cx="2115911" cy="2435294"/>
          </a:xfrm>
          <a:prstGeom prst="rect">
            <a:avLst/>
          </a:prstGeom>
        </p:spPr>
      </p:pic>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The FlagOS Ecosystem</a:t>
            </a:r>
            <a:endParaRPr lang="en-US" altLang="zh-CN" b="1"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graphicFrame>
        <p:nvGraphicFramePr>
          <p:cNvPr id="7" name="表格 6"/>
          <p:cNvGraphicFramePr/>
          <p:nvPr>
            <p:custDataLst>
              <p:tags r:id="rId1"/>
            </p:custDataLst>
          </p:nvPr>
        </p:nvGraphicFramePr>
        <p:xfrm>
          <a:off x="1478280" y="3245485"/>
          <a:ext cx="6115050" cy="2625725"/>
        </p:xfrm>
        <a:graphic>
          <a:graphicData uri="http://schemas.openxmlformats.org/drawingml/2006/table">
            <a:tbl>
              <a:tblPr firstRow="1">
                <a:tableStyleId>{33EEB976-3D11-4757-A413-427E52DC0DEF}</a:tableStyleId>
              </a:tblPr>
              <a:tblGrid>
                <a:gridCol w="1190625"/>
                <a:gridCol w="4924425"/>
              </a:tblGrid>
              <a:tr h="716280">
                <a:tc>
                  <a:txBody>
                    <a:bodyPr/>
                    <a:p>
                      <a:pPr algn="ctr">
                        <a:lnSpc>
                          <a:spcPts val="1070"/>
                        </a:lnSpc>
                      </a:pPr>
                      <a:r>
                        <a:rPr lang="en-US" altLang="zh-CN" sz="1600">
                          <a:latin typeface="Noto Sans SC" panose="020B0200000000000000" pitchFamily="34" charset="-122"/>
                          <a:ea typeface="Noto Sans SC" panose="020B0200000000000000" pitchFamily="34" charset="-122"/>
                          <a:cs typeface="Calibri" panose="020F0502020204030204" charset="0"/>
                        </a:rPr>
                        <a:t>Component</a:t>
                      </a:r>
                      <a:endParaRPr lang="en-US" altLang="zh-CN" sz="1600">
                        <a:latin typeface="Noto Sans SC" panose="020B0200000000000000" pitchFamily="34" charset="-122"/>
                        <a:ea typeface="Noto Sans SC" panose="020B0200000000000000" pitchFamily="34" charset="-122"/>
                        <a:cs typeface="Calibri" panose="020F0502020204030204" charset="0"/>
                      </a:endParaRPr>
                    </a:p>
                  </a:txBody>
                  <a:tcPr marL="0" marR="87403" marT="54746" marB="54746" anchor="ctr" anchorCtr="0"/>
                </a:tc>
                <a:tc>
                  <a:txBody>
                    <a:bodyPr/>
                    <a:p>
                      <a:pPr algn="ctr">
                        <a:lnSpc>
                          <a:spcPts val="1070"/>
                        </a:lnSpc>
                      </a:pPr>
                      <a:r>
                        <a:rPr lang="en-US" altLang="zh-CN" sz="1600">
                          <a:latin typeface="Noto Sans SC" panose="020B0200000000000000" pitchFamily="34" charset="-122"/>
                          <a:ea typeface="Noto Sans SC" panose="020B0200000000000000" pitchFamily="34" charset="-122"/>
                          <a:cs typeface="Calibri" panose="020F0502020204030204" charset="0"/>
                        </a:rPr>
                        <a:t>Function</a:t>
                      </a:r>
                      <a:endParaRPr lang="en-US" altLang="zh-CN" sz="1600">
                        <a:latin typeface="Noto Sans SC" panose="020B0200000000000000" pitchFamily="34" charset="-122"/>
                        <a:ea typeface="Noto Sans SC" panose="020B0200000000000000" pitchFamily="34" charset="-122"/>
                        <a:cs typeface="Calibri" panose="020F0502020204030204" charset="0"/>
                      </a:endParaRPr>
                    </a:p>
                  </a:txBody>
                  <a:tcPr marL="87403" marR="87403" marT="54746" marB="54746" anchor="ctr" anchorCtr="0"/>
                </a:tc>
              </a:tr>
              <a:tr h="478155">
                <a:tc>
                  <a:txBody>
                    <a:bodyPr/>
                    <a:p>
                      <a:pPr algn="ctr">
                        <a:lnSpc>
                          <a:spcPts val="1070"/>
                        </a:lnSpc>
                      </a:pPr>
                      <a:r>
                        <a:rPr lang="en-US" altLang="zh-CN" sz="1600">
                          <a:latin typeface="Noto Sans SC" panose="020B0200000000000000" pitchFamily="34" charset="-122"/>
                          <a:ea typeface="Noto Sans SC" panose="020B0200000000000000" pitchFamily="34" charset="-122"/>
                          <a:cs typeface="Calibri" panose="020F0502020204030204" charset="0"/>
                        </a:rPr>
                        <a:t>FlagGems</a:t>
                      </a:r>
                      <a:endParaRPr lang="en-US" altLang="zh-CN" sz="1600">
                        <a:latin typeface="Noto Sans SC" panose="020B0200000000000000" pitchFamily="34" charset="-122"/>
                        <a:ea typeface="Noto Sans SC" panose="020B0200000000000000" pitchFamily="34" charset="-122"/>
                        <a:cs typeface="Calibri" panose="020F0502020204030204" charset="0"/>
                      </a:endParaRPr>
                    </a:p>
                  </a:txBody>
                  <a:tcPr marL="0" marR="87403" marT="54746" marB="54746" anchor="ctr" anchorCtr="0"/>
                </a:tc>
                <a:tc>
                  <a:txBody>
                    <a:bodyPr/>
                    <a:p>
                      <a:pPr algn="ctr">
                        <a:lnSpc>
                          <a:spcPts val="1070"/>
                        </a:lnSpc>
                      </a:pPr>
                      <a:r>
                        <a:rPr lang="en-US" altLang="zh-CN" sz="1600">
                          <a:latin typeface="Noto Sans SC" panose="020B0200000000000000" pitchFamily="34" charset="-122"/>
                          <a:ea typeface="Noto Sans SC" panose="020B0200000000000000" pitchFamily="34" charset="-122"/>
                          <a:cs typeface="Calibri" panose="020F0502020204030204" charset="0"/>
                        </a:rPr>
                        <a:t>High-performance operator library (based on Triton)</a:t>
                      </a:r>
                      <a:endParaRPr lang="en-US" altLang="zh-CN" sz="1600">
                        <a:latin typeface="Noto Sans SC" panose="020B0200000000000000" pitchFamily="34" charset="-122"/>
                        <a:ea typeface="Noto Sans SC" panose="020B0200000000000000" pitchFamily="34" charset="-122"/>
                        <a:cs typeface="Calibri" panose="020F0502020204030204" charset="0"/>
                      </a:endParaRPr>
                    </a:p>
                  </a:txBody>
                  <a:tcPr marL="87403" marR="0" marT="54746" marB="54746" anchor="ctr" anchorCtr="0"/>
                </a:tc>
              </a:tr>
              <a:tr h="476885">
                <a:tc>
                  <a:txBody>
                    <a:bodyPr/>
                    <a:p>
                      <a:pPr algn="ctr">
                        <a:lnSpc>
                          <a:spcPts val="1070"/>
                        </a:lnSpc>
                      </a:pPr>
                      <a:r>
                        <a:rPr lang="en-US" altLang="zh-CN" sz="1600">
                          <a:latin typeface="Noto Sans SC" panose="020B0200000000000000" pitchFamily="34" charset="-122"/>
                          <a:ea typeface="Noto Sans SC" panose="020B0200000000000000" pitchFamily="34" charset="-122"/>
                          <a:cs typeface="Calibri" panose="020F0502020204030204" charset="0"/>
                        </a:rPr>
                        <a:t>FlagScale</a:t>
                      </a:r>
                      <a:endParaRPr lang="en-US" altLang="zh-CN" sz="1600">
                        <a:latin typeface="Noto Sans SC" panose="020B0200000000000000" pitchFamily="34" charset="-122"/>
                        <a:ea typeface="Noto Sans SC" panose="020B0200000000000000" pitchFamily="34" charset="-122"/>
                        <a:cs typeface="Calibri" panose="020F0502020204030204" charset="0"/>
                      </a:endParaRPr>
                    </a:p>
                  </a:txBody>
                  <a:tcPr marL="0" marR="87403" marT="54746" marB="54746" anchor="ctr" anchorCtr="0"/>
                </a:tc>
                <a:tc>
                  <a:txBody>
                    <a:bodyPr/>
                    <a:p>
                      <a:pPr algn="ctr">
                        <a:lnSpc>
                          <a:spcPts val="1070"/>
                        </a:lnSpc>
                      </a:pPr>
                      <a:r>
                        <a:rPr lang="en-US" altLang="zh-CN" sz="1600">
                          <a:latin typeface="Noto Sans SC" panose="020B0200000000000000" pitchFamily="34" charset="-122"/>
                          <a:ea typeface="Noto Sans SC" panose="020B0200000000000000" pitchFamily="34" charset="-122"/>
                          <a:cs typeface="Calibri" panose="020F0502020204030204" charset="0"/>
                        </a:rPr>
                        <a:t>Distributed training/inference framework</a:t>
                      </a:r>
                      <a:endParaRPr lang="en-US" altLang="zh-CN" sz="1600">
                        <a:latin typeface="Noto Sans SC" panose="020B0200000000000000" pitchFamily="34" charset="-122"/>
                        <a:ea typeface="Noto Sans SC" panose="020B0200000000000000" pitchFamily="34" charset="-122"/>
                        <a:cs typeface="Calibri" panose="020F0502020204030204" charset="0"/>
                      </a:endParaRPr>
                    </a:p>
                  </a:txBody>
                  <a:tcPr marL="87403" marR="0" marT="54746" marB="54746" anchor="ctr" anchorCtr="0"/>
                </a:tc>
              </a:tr>
              <a:tr h="476885">
                <a:tc>
                  <a:txBody>
                    <a:bodyPr/>
                    <a:p>
                      <a:pPr algn="ctr">
                        <a:lnSpc>
                          <a:spcPts val="1070"/>
                        </a:lnSpc>
                      </a:pPr>
                      <a:r>
                        <a:rPr lang="en-US" altLang="zh-CN" sz="1600">
                          <a:latin typeface="Noto Sans SC" panose="020B0200000000000000" pitchFamily="34" charset="-122"/>
                          <a:ea typeface="Noto Sans SC" panose="020B0200000000000000" pitchFamily="34" charset="-122"/>
                          <a:cs typeface="Calibri" panose="020F0502020204030204" charset="0"/>
                        </a:rPr>
                        <a:t>FlagTree</a:t>
                      </a:r>
                      <a:endParaRPr lang="en-US" altLang="zh-CN" sz="1600">
                        <a:latin typeface="Noto Sans SC" panose="020B0200000000000000" pitchFamily="34" charset="-122"/>
                        <a:ea typeface="Noto Sans SC" panose="020B0200000000000000" pitchFamily="34" charset="-122"/>
                        <a:cs typeface="Calibri" panose="020F0502020204030204" charset="0"/>
                      </a:endParaRPr>
                    </a:p>
                  </a:txBody>
                  <a:tcPr marL="0" marR="87403" marT="54746" marB="54746" anchor="ctr" anchorCtr="0"/>
                </a:tc>
                <a:tc>
                  <a:txBody>
                    <a:bodyPr/>
                    <a:p>
                      <a:pPr algn="ctr">
                        <a:lnSpc>
                          <a:spcPts val="1070"/>
                        </a:lnSpc>
                      </a:pPr>
                      <a:r>
                        <a:rPr lang="en-US" altLang="zh-CN" sz="1600">
                          <a:latin typeface="Noto Sans SC" panose="020B0200000000000000" pitchFamily="34" charset="-122"/>
                          <a:ea typeface="Noto Sans SC" panose="020B0200000000000000" pitchFamily="34" charset="-122"/>
                          <a:cs typeface="Calibri" panose="020F0502020204030204" charset="0"/>
                        </a:rPr>
                        <a:t>Multi-AI-chip backend Triton compiler</a:t>
                      </a:r>
                      <a:endParaRPr lang="en-US" altLang="zh-CN" sz="1600">
                        <a:latin typeface="Noto Sans SC" panose="020B0200000000000000" pitchFamily="34" charset="-122"/>
                        <a:ea typeface="Noto Sans SC" panose="020B0200000000000000" pitchFamily="34" charset="-122"/>
                        <a:cs typeface="Calibri" panose="020F0502020204030204" charset="0"/>
                      </a:endParaRPr>
                    </a:p>
                  </a:txBody>
                  <a:tcPr marL="87403" marR="0" marT="54746" marB="54746" anchor="ctr" anchorCtr="0"/>
                </a:tc>
              </a:tr>
              <a:tr h="477520">
                <a:tc>
                  <a:txBody>
                    <a:bodyPr/>
                    <a:p>
                      <a:pPr algn="ctr">
                        <a:lnSpc>
                          <a:spcPts val="1070"/>
                        </a:lnSpc>
                      </a:pPr>
                      <a:r>
                        <a:rPr lang="en-US" altLang="zh-CN" sz="1600">
                          <a:latin typeface="Noto Sans SC" panose="020B0200000000000000" pitchFamily="34" charset="-122"/>
                          <a:ea typeface="Noto Sans SC" panose="020B0200000000000000" pitchFamily="34" charset="-122"/>
                          <a:cs typeface="Calibri" panose="020F0502020204030204" charset="0"/>
                        </a:rPr>
                        <a:t>FlagCX</a:t>
                      </a:r>
                      <a:endParaRPr lang="en-US" altLang="zh-CN" sz="1600">
                        <a:latin typeface="Noto Sans SC" panose="020B0200000000000000" pitchFamily="34" charset="-122"/>
                        <a:ea typeface="Noto Sans SC" panose="020B0200000000000000" pitchFamily="34" charset="-122"/>
                        <a:cs typeface="Calibri" panose="020F0502020204030204" charset="0"/>
                      </a:endParaRPr>
                    </a:p>
                  </a:txBody>
                  <a:tcPr marL="0" marR="87403" marT="54746" marB="54746" anchor="ctr" anchorCtr="0"/>
                </a:tc>
                <a:tc>
                  <a:txBody>
                    <a:bodyPr/>
                    <a:p>
                      <a:pPr algn="ctr">
                        <a:lnSpc>
                          <a:spcPts val="1070"/>
                        </a:lnSpc>
                      </a:pPr>
                      <a:r>
                        <a:rPr lang="en-US" altLang="zh-CN" sz="1600">
                          <a:latin typeface="Noto Sans SC" panose="020B0200000000000000" pitchFamily="34" charset="-122"/>
                          <a:ea typeface="Noto Sans SC" panose="020B0200000000000000" pitchFamily="34" charset="-122"/>
                          <a:cs typeface="Calibri" panose="020F0502020204030204" charset="0"/>
                        </a:rPr>
                        <a:t>Cross-chip communication library</a:t>
                      </a:r>
                      <a:endParaRPr lang="en-US" altLang="zh-CN" sz="1600">
                        <a:latin typeface="Noto Sans SC" panose="020B0200000000000000" pitchFamily="34" charset="-122"/>
                        <a:ea typeface="Noto Sans SC" panose="020B0200000000000000" pitchFamily="34" charset="-122"/>
                        <a:cs typeface="Calibri" panose="020F0502020204030204" charset="0"/>
                      </a:endParaRPr>
                    </a:p>
                  </a:txBody>
                  <a:tcPr marL="87403" marR="0" marT="54746" marB="54746" anchor="ctr" anchorCtr="0"/>
                </a:tc>
              </a:tr>
            </a:tbl>
          </a:graphicData>
        </a:graphic>
      </p:graphicFrame>
      <p:pic>
        <p:nvPicPr>
          <p:cNvPr id="21508" name="Picture 4" descr="github+banner-202601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3495" y="3158490"/>
            <a:ext cx="8594090" cy="291973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741680" y="1240790"/>
            <a:ext cx="11029950" cy="1360805"/>
          </a:xfrm>
          <a:prstGeom prst="rect">
            <a:avLst/>
          </a:prstGeom>
        </p:spPr>
        <p:txBody>
          <a:bodyPr wrap="square">
            <a:spAutoFit/>
          </a:bodyPr>
          <a:p>
            <a:pPr marL="285750" indent="-285750">
              <a:spcBef>
                <a:spcPct val="0"/>
              </a:spcBef>
              <a:spcAft>
                <a:spcPts val="300"/>
              </a:spcAft>
              <a:buFont typeface="Arial" panose="020B0604020202020204" pitchFamily="34" charset="0"/>
              <a:buChar char="•"/>
            </a:pPr>
            <a:r>
              <a:rPr lang="en-US" altLang="zh-CN" sz="2000" b="1" i="0">
                <a:solidFill>
                  <a:schemeClr val="tx1"/>
                </a:solidFill>
                <a:latin typeface="Noto Sans SC" panose="020B0200000000000000" pitchFamily="34" charset="-122"/>
                <a:ea typeface="Noto Sans SC" panose="020B0200000000000000" pitchFamily="34" charset="-122"/>
                <a:cs typeface="Calibri" panose="020F0502020204030204" charset="0"/>
              </a:rPr>
              <a:t>What FlagOS does</a:t>
            </a:r>
            <a:endParaRPr lang="en-US" altLang="zh-CN" sz="2000" b="1" i="0">
              <a:solidFill>
                <a:schemeClr val="tx1"/>
              </a:solidFill>
              <a:latin typeface="Noto Sans SC" panose="020B0200000000000000" pitchFamily="34" charset="-122"/>
              <a:ea typeface="Noto Sans SC" panose="020B0200000000000000" pitchFamily="34" charset="-122"/>
              <a:cs typeface="Calibri" panose="020F0502020204030204" charset="0"/>
            </a:endParaRPr>
          </a:p>
          <a:p>
            <a:pPr marL="742950" lvl="2" indent="-285750">
              <a:spcBef>
                <a:spcPct val="0"/>
              </a:spcBef>
              <a:spcAft>
                <a:spcPct val="0"/>
              </a:spcAft>
              <a:buFont typeface="Arial" panose="020B0604020202020204" pitchFamily="34" charset="0"/>
              <a:buChar char="•"/>
            </a:pPr>
            <a:r>
              <a:rPr lang="en-US" altLang="zh-CN" sz="2000" b="0" i="0">
                <a:solidFill>
                  <a:schemeClr val="tx1"/>
                </a:solidFill>
                <a:latin typeface="Noto Sans SC" panose="020B0200000000000000" pitchFamily="34" charset="-122"/>
                <a:ea typeface="Noto Sans SC" panose="020B0200000000000000" pitchFamily="34" charset="-122"/>
                <a:cs typeface="Calibri" panose="020F0502020204030204" charset="0"/>
              </a:rPr>
              <a:t>Unified heterogeneous computing open-source software stack</a:t>
            </a:r>
            <a:endParaRPr lang="en-US" altLang="zh-CN" sz="2000" b="0" i="0">
              <a:solidFill>
                <a:schemeClr val="tx1"/>
              </a:solidFill>
              <a:latin typeface="Noto Sans SC" panose="020B0200000000000000" pitchFamily="34" charset="-122"/>
              <a:ea typeface="Noto Sans SC" panose="020B0200000000000000" pitchFamily="34" charset="-122"/>
              <a:cs typeface="Calibri" panose="020F0502020204030204" charset="0"/>
            </a:endParaRPr>
          </a:p>
          <a:p>
            <a:pPr marL="742950" lvl="2" indent="-285750">
              <a:spcBef>
                <a:spcPct val="0"/>
              </a:spcBef>
              <a:spcAft>
                <a:spcPct val="0"/>
              </a:spcAft>
              <a:buFont typeface="Arial" panose="020B0604020202020204" pitchFamily="34" charset="0"/>
              <a:buChar char="•"/>
            </a:pPr>
            <a:r>
              <a:rPr lang="en-US" altLang="zh-CN" sz="2000" b="0" i="0">
                <a:solidFill>
                  <a:schemeClr val="tx1"/>
                </a:solidFill>
                <a:latin typeface="Noto Sans SC" panose="020B0200000000000000" pitchFamily="34" charset="-122"/>
                <a:ea typeface="Noto Sans SC" panose="020B0200000000000000" pitchFamily="34" charset="-122"/>
                <a:cs typeface="Calibri" panose="020F0502020204030204" charset="0"/>
              </a:rPr>
              <a:t>"Write once, run on any hardware"</a:t>
            </a:r>
            <a:endParaRPr lang="en-US" altLang="zh-CN" sz="2000" b="0" i="0">
              <a:solidFill>
                <a:schemeClr val="tx1"/>
              </a:solidFill>
              <a:latin typeface="Noto Sans SC" panose="020B0200000000000000" pitchFamily="34" charset="-122"/>
              <a:ea typeface="Noto Sans SC" panose="020B0200000000000000" pitchFamily="34" charset="-122"/>
              <a:cs typeface="Calibri" panose="020F0502020204030204" charset="0"/>
            </a:endParaRPr>
          </a:p>
          <a:p>
            <a:pPr marL="742950" lvl="2" indent="-285750">
              <a:spcBef>
                <a:spcPct val="0"/>
              </a:spcBef>
              <a:spcAft>
                <a:spcPct val="0"/>
              </a:spcAft>
              <a:buFont typeface="Arial" panose="020B0604020202020204" pitchFamily="34" charset="0"/>
              <a:buChar char="•"/>
            </a:pPr>
            <a:r>
              <a:rPr lang="en-US" altLang="zh-CN" sz="2000" b="0" i="0">
                <a:solidFill>
                  <a:schemeClr val="tx1"/>
                </a:solidFill>
                <a:latin typeface="Noto Sans SC" panose="020B0200000000000000" pitchFamily="34" charset="-122"/>
                <a:ea typeface="Noto Sans SC" panose="020B0200000000000000" pitchFamily="34" charset="-122"/>
                <a:cs typeface="Calibri" panose="020F0502020204030204" charset="0"/>
              </a:rPr>
              <a:t>Supports NVIDIA, Days, Hygon, Huawei, Moore Threads</a:t>
            </a:r>
            <a:endParaRPr lang="en-US" altLang="zh-CN" sz="2000" b="0" i="0">
              <a:solidFill>
                <a:schemeClr val="tx1"/>
              </a:solidFill>
              <a:latin typeface="Noto Sans SC" panose="020B0200000000000000" pitchFamily="34" charset="-122"/>
              <a:ea typeface="Noto Sans SC" panose="020B0200000000000000" pitchFamily="34" charset="-122"/>
              <a:cs typeface="Calibri" panose="020F050202020403020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additive="base">
                                        <p:cTn id="7" dur="500" fill="hold"/>
                                        <p:tgtEl>
                                          <p:spTgt spid="21508"/>
                                        </p:tgtEl>
                                        <p:attrNameLst>
                                          <p:attrName>ppt_x</p:attrName>
                                        </p:attrNameLst>
                                      </p:cBhvr>
                                      <p:tavLst>
                                        <p:tav tm="0">
                                          <p:val>
                                            <p:strVal val="#ppt_x"/>
                                          </p:val>
                                        </p:tav>
                                        <p:tav tm="100000">
                                          <p:val>
                                            <p:strVal val="#ppt_x"/>
                                          </p:val>
                                        </p:tav>
                                      </p:tavLst>
                                    </p:anim>
                                    <p:anim calcmode="lin" valueType="num">
                                      <p:cBhvr additive="base">
                                        <p:cTn id="8"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vLLM</a:t>
            </a:r>
            <a:r>
              <a:rPr lang="en-US" altLang="zh-CN" dirty="0"/>
              <a:t>-Plugin-FL Design Philosophy</a:t>
            </a:r>
            <a:endParaRPr lang="zh-CN" altLang="en-US" dirty="0"/>
          </a:p>
        </p:txBody>
      </p:sp>
      <p:sp>
        <p:nvSpPr>
          <p:cNvPr id="3" name="内容占位符 2"/>
          <p:cNvSpPr>
            <a:spLocks noGrp="1"/>
          </p:cNvSpPr>
          <p:nvPr>
            <p:ph sz="quarter" idx="13"/>
          </p:nvPr>
        </p:nvSpPr>
        <p:spPr>
          <a:xfrm>
            <a:off x="523875" y="1323975"/>
            <a:ext cx="6981448" cy="4852988"/>
          </a:xfrm>
        </p:spPr>
        <p:txBody>
          <a:bodyPr>
            <a:normAutofit/>
          </a:bodyPr>
          <a:lstStyle/>
          <a:p>
            <a:r>
              <a:rPr lang="en-US" altLang="zh-CN" dirty="0" err="1"/>
              <a:t>vLLM</a:t>
            </a:r>
            <a:r>
              <a:rPr lang="en-US" altLang="zh-CN" dirty="0"/>
              <a:t>-Plugin-FL's Plugin-Based Design:</a:t>
            </a:r>
            <a:endParaRPr lang="en-US" altLang="zh-CN" dirty="0"/>
          </a:p>
          <a:p>
            <a:pPr lvl="1"/>
            <a:r>
              <a:rPr lang="en-US" altLang="zh-CN" dirty="0"/>
              <a:t>Decoupling: Separating core scheduling logic from underlying hardware execution/operator libraries.</a:t>
            </a:r>
            <a:endParaRPr lang="en-US" altLang="zh-CN" dirty="0"/>
          </a:p>
          <a:p>
            <a:pPr lvl="1"/>
            <a:r>
              <a:rPr lang="en-US" altLang="zh-CN" dirty="0"/>
              <a:t>Hot-Swapping: Facilitating quick integration with self-developed optimization libraries such as </a:t>
            </a:r>
            <a:r>
              <a:rPr lang="en-US" altLang="zh-CN" dirty="0" err="1"/>
              <a:t>FlagGems</a:t>
            </a:r>
            <a:r>
              <a:rPr lang="en-US" altLang="zh-CN" dirty="0"/>
              <a:t>.</a:t>
            </a:r>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pic>
        <p:nvPicPr>
          <p:cNvPr id="24578" name="Picture 2" descr="ByteByteGo | 6 Software Architectural Patterns You Must Know"/>
          <p:cNvPicPr>
            <a:picLocks noChangeAspect="1" noChangeArrowheads="1"/>
          </p:cNvPicPr>
          <p:nvPr/>
        </p:nvPicPr>
        <p:blipFill rotWithShape="1">
          <a:blip r:embed="rId1">
            <a:extLst>
              <a:ext uri="{28A0092B-C50C-407E-A947-70E740481C1C}">
                <a14:useLocalDpi xmlns:a14="http://schemas.microsoft.com/office/drawing/2010/main" val="0"/>
              </a:ext>
            </a:extLst>
          </a:blip>
          <a:srcRect t="7340"/>
          <a:stretch>
            <a:fillRect/>
          </a:stretch>
        </p:blipFill>
        <p:spPr bwMode="auto">
          <a:xfrm>
            <a:off x="7412744" y="1132554"/>
            <a:ext cx="4779256" cy="5588922"/>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p:nvPicPr>
        <p:blipFill>
          <a:blip r:embed="rId2"/>
          <a:stretch>
            <a:fillRect/>
          </a:stretch>
        </p:blipFill>
        <p:spPr>
          <a:xfrm>
            <a:off x="972629" y="3705676"/>
            <a:ext cx="5190044" cy="2833237"/>
          </a:xfrm>
          <a:prstGeom prst="rect">
            <a:avLst/>
          </a:prstGeom>
        </p:spPr>
      </p:pic>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vLLM</a:t>
            </a:r>
            <a:r>
              <a:rPr lang="en-US" altLang="zh-CN" dirty="0"/>
              <a:t>-Plugin-FL + </a:t>
            </a:r>
            <a:r>
              <a:rPr lang="en-US" altLang="zh-CN" dirty="0" err="1"/>
              <a:t>FlagGems</a:t>
            </a:r>
            <a:r>
              <a:rPr lang="en-US" altLang="zh-CN" dirty="0"/>
              <a:t> + </a:t>
            </a:r>
            <a:r>
              <a:rPr lang="en-US" altLang="zh-CN" dirty="0" err="1"/>
              <a:t>FlagTree</a:t>
            </a:r>
            <a:endParaRPr lang="zh-CN" altLang="en-US" dirty="0"/>
          </a:p>
        </p:txBody>
      </p:sp>
      <p:sp>
        <p:nvSpPr>
          <p:cNvPr id="3" name="内容占位符 2"/>
          <p:cNvSpPr>
            <a:spLocks noGrp="1"/>
          </p:cNvSpPr>
          <p:nvPr>
            <p:ph sz="quarter" idx="13"/>
          </p:nvPr>
        </p:nvSpPr>
        <p:spPr/>
        <p:txBody>
          <a:bodyPr>
            <a:normAutofit/>
          </a:bodyPr>
          <a:lstStyle/>
          <a:p>
            <a:r>
              <a:rPr lang="en-US" altLang="zh-CN" dirty="0"/>
              <a:t>The Iron Triangle Collaboration Mechanism:</a:t>
            </a:r>
            <a:endParaRPr lang="en-US" altLang="zh-CN" dirty="0"/>
          </a:p>
          <a:p>
            <a:pPr lvl="1"/>
            <a:r>
              <a:rPr lang="en-US" altLang="zh-CN" dirty="0" err="1"/>
              <a:t>vLLM</a:t>
            </a:r>
            <a:r>
              <a:rPr lang="en-US" altLang="zh-CN" dirty="0"/>
              <a:t>-Plugin-FL: Acts as the brain, responsible for efficient request scheduling, memory management (KV Cache), and computation graph distribution.</a:t>
            </a:r>
            <a:endParaRPr lang="en-US" altLang="zh-CN" dirty="0"/>
          </a:p>
          <a:p>
            <a:pPr lvl="1"/>
            <a:r>
              <a:rPr lang="en-US" altLang="zh-CN" dirty="0" err="1"/>
              <a:t>FlagGems</a:t>
            </a:r>
            <a:r>
              <a:rPr lang="en-US" altLang="zh-CN" dirty="0"/>
              <a:t>: Acts as the muscles, providing highly optimized underlying kernels (such as </a:t>
            </a:r>
            <a:r>
              <a:rPr lang="en-US" altLang="zh-CN" dirty="0" err="1"/>
              <a:t>FlashAttention</a:t>
            </a:r>
            <a:r>
              <a:rPr lang="en-US" altLang="zh-CN" dirty="0"/>
              <a:t> and various fusion operators).</a:t>
            </a:r>
            <a:endParaRPr lang="en-US" altLang="zh-CN" dirty="0"/>
          </a:p>
          <a:p>
            <a:pPr lvl="1"/>
            <a:r>
              <a:rPr lang="en-US" altLang="zh-CN" dirty="0" err="1"/>
              <a:t>FlagTree</a:t>
            </a:r>
            <a:r>
              <a:rPr lang="en-US" altLang="zh-CN" dirty="0"/>
              <a:t>: Provides higher-level optimization of decision trees or execution paths</a:t>
            </a:r>
            <a:endParaRPr lang="en-US" altLang="zh-CN" dirty="0"/>
          </a:p>
          <a:p>
            <a:r>
              <a:rPr lang="en-US" altLang="zh-CN" dirty="0"/>
              <a:t>End-to-End Benefits: Achieves "out-of-the-box" high performance across multiple platforms.</a:t>
            </a:r>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pic>
        <p:nvPicPr>
          <p:cNvPr id="8" name="图片 7"/>
          <p:cNvPicPr>
            <a:picLocks noChangeAspect="1"/>
          </p:cNvPicPr>
          <p:nvPr/>
        </p:nvPicPr>
        <p:blipFill rotWithShape="1">
          <a:blip r:embed="rId1"/>
          <a:srcRect t="10736"/>
          <a:stretch>
            <a:fillRect/>
          </a:stretch>
        </p:blipFill>
        <p:spPr>
          <a:xfrm>
            <a:off x="3141552" y="4290406"/>
            <a:ext cx="5269118" cy="2567594"/>
          </a:xfrm>
          <a:prstGeom prst="rect">
            <a:avLst/>
          </a:prstGeom>
        </p:spPr>
      </p:pic>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1"/>
          </p:nvPr>
        </p:nvSpPr>
        <p:spPr/>
        <p:txBody>
          <a:bodyPr/>
          <a:p>
            <a:endParaRPr lang="zh-CN" altLang="en-US"/>
          </a:p>
        </p:txBody>
      </p:sp>
      <p:sp>
        <p:nvSpPr>
          <p:cNvPr id="4" name="内容占位符 1"/>
          <p:cNvSpPr>
            <a:spLocks noGrp="1"/>
          </p:cNvSpPr>
          <p:nvPr>
            <p:custDataLst>
              <p:tags r:id="rId1"/>
            </p:custDataLst>
          </p:nvPr>
        </p:nvSpPr>
        <p:spPr>
          <a:xfrm>
            <a:off x="5579216" y="127000"/>
            <a:ext cx="6110447" cy="6858000"/>
          </a:xfrm>
          <a:prstGeom prst="rect">
            <a:avLst/>
          </a:prstGeom>
        </p:spPr>
        <p:txBody>
          <a:bodyPr vert="horz" lIns="91440" tIns="45720" rIns="91440" bIns="45720" rtlCol="0" anchor="ctr">
            <a:normAutofit/>
          </a:bodyPr>
          <a:lstStyle>
            <a:lvl1pPr marL="360045" marR="0" indent="-360045" algn="l" defTabSz="342900" rtl="0" eaLnBrk="1" fontAlgn="auto" latinLnBrk="0" hangingPunct="1">
              <a:lnSpc>
                <a:spcPct val="100000"/>
              </a:lnSpc>
              <a:spcBef>
                <a:spcPts val="3000"/>
              </a:spcBef>
              <a:spcAft>
                <a:spcPts val="0"/>
              </a:spcAft>
              <a:buClr>
                <a:srgbClr val="8B0012"/>
              </a:buClr>
              <a:buSzTx/>
              <a:buFontTx/>
              <a:buChar char="•"/>
              <a:defRPr sz="2800" b="0" i="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Tx/>
              <a:buFontTx/>
              <a:buChar char="◦"/>
              <a:defRPr sz="24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sz="20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sz="1600" kern="1200" baseline="0">
                <a:solidFill>
                  <a:schemeClr val="tx1">
                    <a:lumMod val="75000"/>
                    <a:lumOff val="25000"/>
                  </a:schemeClr>
                </a:solidFill>
                <a:latin typeface="Arial" panose="020B0604020202020204" pitchFamily="3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a:lstStyle>
          <a:p>
            <a:r>
              <a:rPr lang="en-US" altLang="zh-CN">
                <a:solidFill>
                  <a:schemeClr val="tx1"/>
                </a:solidFill>
                <a:cs typeface="Arial" panose="020B0604020202020204" pitchFamily="34" charset="0"/>
              </a:rPr>
              <a:t>Benchmarking &amp; Performance Metrics</a:t>
            </a:r>
            <a:endParaRPr lang="en-US" altLang="zh-CN">
              <a:solidFill>
                <a:schemeClr val="tx1"/>
              </a:solidFill>
              <a:cs typeface="Arial" panose="020B0604020202020204" pitchFamily="34" charset="0"/>
            </a:endParaRPr>
          </a:p>
          <a:p>
            <a:r>
              <a:rPr lang="en-US" altLang="zh-CN">
                <a:solidFill>
                  <a:schemeClr val="tx1"/>
                </a:solidFill>
              </a:rPr>
              <a:t>Profiling &amp; Roofline Analysis</a:t>
            </a:r>
            <a:endParaRPr lang="en-US" altLang="zh-CN">
              <a:solidFill>
                <a:schemeClr val="tx1"/>
              </a:solidFill>
            </a:endParaRPr>
          </a:p>
          <a:p>
            <a:r>
              <a:rPr lang="en-US" altLang="zh-CN"/>
              <a:t>Auto-Tuning &amp; KernelGen</a:t>
            </a:r>
            <a:endParaRPr lang="en-US" altLang="zh-CN"/>
          </a:p>
          <a:p>
            <a:r>
              <a:rPr lang="en-US" altLang="zh-CN"/>
              <a:t>End-to-End Optimization</a:t>
            </a:r>
            <a:endParaRPr lang="en-US" altLang="zh-CN"/>
          </a:p>
          <a:p>
            <a:r>
              <a:rPr lang="en-US" altLang="zh-CN" b="1">
                <a:solidFill>
                  <a:srgbClr val="C00000"/>
                </a:solidFill>
              </a:rPr>
              <a:t>Lab: Performance Analysis in Practice</a:t>
            </a:r>
            <a:endParaRPr lang="en-US" altLang="zh-CN" b="1">
              <a:solidFill>
                <a:srgbClr val="C00000"/>
              </a:solidFil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85495" y="262890"/>
            <a:ext cx="10546715" cy="1590675"/>
          </a:xfrm>
        </p:spPr>
        <p:txBody>
          <a:bodyPr/>
          <a:p>
            <a:r>
              <a:rPr lang="en-US" altLang="zh-CN" b="1"/>
              <a:t>Module 5: Performance Evaluation &amp; Optimization Practice </a:t>
            </a:r>
            <a:br>
              <a:rPr lang="en-US" altLang="zh-CN"/>
            </a:br>
            <a:r>
              <a:rPr lang="en-US" altLang="zh-CN" sz="3200"/>
              <a:t>How to Run This Lab</a:t>
            </a:r>
            <a:endParaRPr lang="en-US" altLang="zh-CN" sz="3200"/>
          </a:p>
        </p:txBody>
      </p:sp>
      <p:sp>
        <p:nvSpPr>
          <p:cNvPr id="3" name="内容占位符 2"/>
          <p:cNvSpPr>
            <a:spLocks noGrp="1"/>
          </p:cNvSpPr>
          <p:nvPr>
            <p:ph sz="quarter" idx="13"/>
          </p:nvPr>
        </p:nvSpPr>
        <p:spPr>
          <a:xfrm>
            <a:off x="339725" y="2096135"/>
            <a:ext cx="7336155" cy="3926840"/>
          </a:xfrm>
        </p:spPr>
        <p:txBody>
          <a:bodyPr>
            <a:normAutofit/>
          </a:bodyPr>
          <a:p>
            <a:r>
              <a:rPr lang="en-US" altLang="zh-CN"/>
              <a:t>Lab 1 introduced how to write and tune a GEMM kernel. </a:t>
            </a:r>
            <a:endParaRPr lang="en-US" altLang="zh-CN"/>
          </a:p>
          <a:p>
            <a:r>
              <a:rPr lang="en-US" altLang="zh-CN"/>
              <a:t>This module teaches you how to prove whether your changes actually help — scientifically, and layer by layer.</a:t>
            </a:r>
            <a:endParaRPr lang="en-US" altLang="zh-CN"/>
          </a:p>
          <a:p>
            <a:r>
              <a:rPr lang="en-US" altLang="zh-CN" b="1"/>
              <a:t>Repository</a:t>
            </a:r>
            <a:endParaRPr lang="en-US" altLang="zh-CN" b="1"/>
          </a:p>
          <a:p>
            <a:pPr lvl="1"/>
            <a:r>
              <a:rPr lang="en-US" altLang="zh-CN"/>
              <a:t>Student repo: gitee.com/yihan-long/day2-lab5</a:t>
            </a:r>
            <a:endParaRPr lang="en-US" altLang="zh-CN"/>
          </a:p>
          <a:p>
            <a:pPr lvl="1"/>
            <a:r>
              <a:rPr lang="en-US" altLang="zh-CN"/>
              <a:t>Target platform: BI-V150 / FlagOS; SUT = Day2 GEMM (or the in-repo equivalent)</a:t>
            </a:r>
            <a:endParaRPr lang="en-US" altLang="zh-CN"/>
          </a:p>
        </p:txBody>
      </p:sp>
      <p:sp>
        <p:nvSpPr>
          <p:cNvPr id="4" name="页脚占位符 3"/>
          <p:cNvSpPr>
            <a:spLocks noGrp="1"/>
          </p:cNvSpPr>
          <p:nvPr>
            <p:ph type="ftr" sz="quarter" idx="11"/>
          </p:nvPr>
        </p:nvSpPr>
        <p:spPr>
          <a:xfrm>
            <a:off x="7900670" y="4793615"/>
            <a:ext cx="3987165" cy="456565"/>
          </a:xfrm>
        </p:spPr>
        <p:txBody>
          <a:bodyPr/>
          <a:p>
            <a:r>
              <a:rPr lang="en-US" altLang="zh-CN" dirty="0"/>
              <a:t>Environment smoke test → ① Benchmark → ② Roofline → ③ Profiling → Fill in REPORT.md</a:t>
            </a:r>
            <a:endParaRPr lang="en-US" altLang="zh-CN" dirty="0"/>
          </a:p>
        </p:txBody>
      </p:sp>
      <p:sp>
        <p:nvSpPr>
          <p:cNvPr id="5" name="灯片编号占位符 4"/>
          <p:cNvSpPr>
            <a:spLocks noGrp="1"/>
          </p:cNvSpPr>
          <p:nvPr>
            <p:ph type="sldNum" sz="quarter" idx="12"/>
          </p:nvPr>
        </p:nvSpPr>
        <p:spPr/>
        <p:txBody>
          <a:bodyPr/>
          <a:p>
            <a:fld id="{B33F7469-D28B-482F-B1B6-3B8E7CF51519}"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7762875" y="2449195"/>
            <a:ext cx="4038600" cy="1959610"/>
          </a:xfrm>
          <a:prstGeom prst="rect">
            <a:avLst/>
          </a:prstGeom>
        </p:spPr>
      </p:pic>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89610" y="233045"/>
            <a:ext cx="8363585" cy="1296670"/>
          </a:xfrm>
        </p:spPr>
        <p:txBody>
          <a:bodyPr/>
          <a:p>
            <a:r>
              <a:rPr lang="en-US" altLang="zh-CN" sz="3200" b="1"/>
              <a:t>Three Experiments – What Question Does Each One Answer?</a:t>
            </a:r>
            <a:endParaRPr lang="en-US" altLang="zh-CN" sz="3200" b="1"/>
          </a:p>
        </p:txBody>
      </p:sp>
      <p:sp>
        <p:nvSpPr>
          <p:cNvPr id="5" name="灯片编号占位符 4"/>
          <p:cNvSpPr>
            <a:spLocks noGrp="1"/>
          </p:cNvSpPr>
          <p:nvPr>
            <p:ph type="sldNum" sz="quarter" idx="12"/>
          </p:nvPr>
        </p:nvSpPr>
        <p:spPr/>
        <p:txBody>
          <a:bodyPr/>
          <a:p>
            <a:fld id="{B33F7469-D28B-482F-B1B6-3B8E7CF51519}" type="slidenum">
              <a:rPr lang="zh-CN" altLang="en-US" smtClean="0"/>
            </a:fld>
            <a:endParaRPr lang="zh-CN" altLang="en-US" dirty="0"/>
          </a:p>
        </p:txBody>
      </p:sp>
      <p:graphicFrame>
        <p:nvGraphicFramePr>
          <p:cNvPr id="8" name="表格 7"/>
          <p:cNvGraphicFramePr/>
          <p:nvPr>
            <p:custDataLst>
              <p:tags r:id="rId1"/>
            </p:custDataLst>
          </p:nvPr>
        </p:nvGraphicFramePr>
        <p:xfrm>
          <a:off x="758190" y="1583690"/>
          <a:ext cx="10580370" cy="4584700"/>
        </p:xfrm>
        <a:graphic>
          <a:graphicData uri="http://schemas.openxmlformats.org/drawingml/2006/table">
            <a:tbl>
              <a:tblPr firstRow="1" bandRow="1">
                <a:tableStyleId>{6264B79F-5FD4-4C2E-AF93-ECDD944D5AB5}</a:tableStyleId>
              </a:tblPr>
              <a:tblGrid>
                <a:gridCol w="1591310"/>
                <a:gridCol w="3746500"/>
                <a:gridCol w="2621280"/>
                <a:gridCol w="2621280"/>
              </a:tblGrid>
              <a:tr h="588010">
                <a:tc>
                  <a:txBody>
                    <a:bodyPr/>
                    <a:p>
                      <a:pPr indent="0" algn="ctr"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Step</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0" marR="87403" marT="54746" marB="54746" anchor="ctr" anchorCtr="0"/>
                </a:tc>
                <a:tc>
                  <a:txBody>
                    <a:bodyPr/>
                    <a:p>
                      <a:pPr indent="0" algn="ctr"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What We Do</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87403" marT="54746" marB="54746" anchor="ctr" anchorCtr="0"/>
                </a:tc>
                <a:tc>
                  <a:txBody>
                    <a:bodyPr/>
                    <a:p>
                      <a:pPr indent="0" algn="ctr"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What We Measure / Look At</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87403" marT="54746" marB="54746" anchor="ctr" anchorCtr="0"/>
                </a:tc>
                <a:tc>
                  <a:txBody>
                    <a:bodyPr/>
                    <a:p>
                      <a:pPr indent="0" algn="ctr"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The Question It Answers</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87403" marT="54746" marB="54746" anchor="ctr" anchorCtr="0"/>
                </a:tc>
              </a:tr>
              <a:tr h="1240155">
                <a:tc>
                  <a:txBody>
                    <a:bodyPr/>
                    <a:p>
                      <a:pPr indent="0" algn="ctr" fontAlgn="auto">
                        <a:lnSpc>
                          <a:spcPct val="100000"/>
                        </a:lnSpc>
                      </a:pPr>
                      <a:r>
                        <a:rPr lang="en-US" altLang="zh-CN" sz="1800">
                          <a:latin typeface="Noto Sans SC" panose="020B0200000000000000" pitchFamily="34" charset="-122"/>
                          <a:ea typeface="Noto Sans SC" panose="020B0200000000000000" pitchFamily="34" charset="-122"/>
                          <a:cs typeface="Noto Sans SC" panose="020B0200000000000000" pitchFamily="34" charset="-122"/>
                        </a:rPr>
                        <a:t>①Benchmark</a:t>
                      </a:r>
                      <a:endParaRPr lang="en-US" altLang="zh-CN" sz="1800">
                        <a:latin typeface="Noto Sans SC" panose="020B0200000000000000" pitchFamily="34" charset="-122"/>
                        <a:ea typeface="Noto Sans SC" panose="020B0200000000000000" pitchFamily="34" charset="-122"/>
                        <a:cs typeface="Noto Sans SC" panose="020B0200000000000000" pitchFamily="34" charset="-122"/>
                      </a:endParaRPr>
                    </a:p>
                  </a:txBody>
                  <a:tcPr marL="0" marR="87403" marT="54746" marB="54746" anchor="ctr" anchorCtr="0"/>
                </a:tc>
                <a:tc>
                  <a:txBody>
                    <a:bodyPr/>
                    <a:p>
                      <a:pPr indent="0" algn="l"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Run GEMM repeatedly through LoadGen (Offline / Server)</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87403" marT="54746" marB="54746" anchor="ctr" anchorCtr="0"/>
                </a:tc>
                <a:tc>
                  <a:txBody>
                    <a:bodyPr/>
                    <a:p>
                      <a:pPr indent="0" algn="l"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Median/P99 latency, throughput, effective TFLOP/s; compare torch / baseline / autotuned</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87403" marT="54746" marB="54746" anchor="ctr" anchorCtr="0"/>
                </a:tc>
                <a:tc>
                  <a:txBody>
                    <a:bodyPr/>
                    <a:p>
                      <a:pPr indent="0" algn="l"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How fast is it? How large is the gap?</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0" marT="54746" marB="54746" anchor="ctr" anchorCtr="0"/>
                </a:tc>
              </a:tr>
              <a:tr h="1239520">
                <a:tc>
                  <a:txBody>
                    <a:bodyPr/>
                    <a:p>
                      <a:pPr indent="0" algn="ctr" fontAlgn="auto">
                        <a:lnSpc>
                          <a:spcPct val="100000"/>
                        </a:lnSpc>
                      </a:pPr>
                      <a:r>
                        <a:rPr lang="en-US" altLang="zh-CN" sz="1800">
                          <a:latin typeface="Noto Sans SC" panose="020B0200000000000000" pitchFamily="34" charset="-122"/>
                          <a:ea typeface="Noto Sans SC" panose="020B0200000000000000" pitchFamily="34" charset="-122"/>
                          <a:cs typeface="Noto Sans SC" panose="020B0200000000000000" pitchFamily="34" charset="-122"/>
                        </a:rPr>
                        <a:t>② Roofline</a:t>
                      </a:r>
                      <a:endParaRPr lang="en-US" altLang="zh-CN" sz="1800">
                        <a:latin typeface="Noto Sans SC" panose="020B0200000000000000" pitchFamily="34" charset="-122"/>
                        <a:ea typeface="Noto Sans SC" panose="020B0200000000000000" pitchFamily="34" charset="-122"/>
                        <a:cs typeface="Noto Sans SC" panose="020B0200000000000000" pitchFamily="34" charset="-122"/>
                      </a:endParaRPr>
                    </a:p>
                  </a:txBody>
                  <a:tcPr marL="0" marR="87403" marT="54746" marB="54746" anchor="ctr" anchorCtr="0"/>
                </a:tc>
                <a:tc>
                  <a:txBody>
                    <a:bodyPr/>
                    <a:p>
                      <a:pPr indent="0" algn="l"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Plot the benchmark results against hardware peak values</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87403" marT="54746" marB="54746" anchor="ctr" anchorCtr="0"/>
                </a:tc>
                <a:tc>
                  <a:txBody>
                    <a:bodyPr/>
                    <a:p>
                      <a:pPr indent="0" algn="l"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Arithmetic intensity (I), ridge point, position relative to the ceiling</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87403" marT="54746" marB="54746" anchor="ctr" anchorCtr="0"/>
                </a:tc>
                <a:tc>
                  <a:txBody>
                    <a:bodyPr/>
                    <a:p>
                      <a:pPr indent="0" algn="l"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Is the bottleneck compute or memory?</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0" marT="54746" marB="54746" anchor="ctr" anchorCtr="0"/>
                </a:tc>
              </a:tr>
              <a:tr h="913130">
                <a:tc>
                  <a:txBody>
                    <a:bodyPr/>
                    <a:p>
                      <a:pPr indent="0" algn="ctr" fontAlgn="auto">
                        <a:lnSpc>
                          <a:spcPct val="100000"/>
                        </a:lnSpc>
                      </a:pPr>
                      <a:r>
                        <a:rPr lang="en-US" altLang="zh-CN" sz="1800">
                          <a:latin typeface="Noto Sans SC" panose="020B0200000000000000" pitchFamily="34" charset="-122"/>
                          <a:ea typeface="Noto Sans SC" panose="020B0200000000000000" pitchFamily="34" charset="-122"/>
                          <a:cs typeface="Noto Sans SC" panose="020B0200000000000000" pitchFamily="34" charset="-122"/>
                        </a:rPr>
                        <a:t>③ Profiling</a:t>
                      </a:r>
                      <a:endParaRPr lang="en-US" altLang="zh-CN" sz="1800">
                        <a:latin typeface="Noto Sans SC" panose="020B0200000000000000" pitchFamily="34" charset="-122"/>
                        <a:ea typeface="Noto Sans SC" panose="020B0200000000000000" pitchFamily="34" charset="-122"/>
                        <a:cs typeface="Noto Sans SC" panose="020B0200000000000000" pitchFamily="34" charset="-122"/>
                      </a:endParaRPr>
                    </a:p>
                  </a:txBody>
                  <a:tcPr marL="0" marR="87403" marT="54746" marB="54746" anchor="ctr" anchorCtr="0"/>
                </a:tc>
                <a:tc>
                  <a:txBody>
                    <a:bodyPr/>
                    <a:p>
                      <a:pPr indent="0" algn="l"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Observe the same workload with ixsmi / ixsys / ixkn</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87403" marT="54746" marB="54746" anchor="ctr" anchorCtr="0"/>
                </a:tc>
                <a:tc>
                  <a:txBody>
                    <a:bodyPr/>
                    <a:p>
                      <a:pPr indent="0" algn="l"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Utilization, trace timeline, kernel-level evidence</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87403" marT="54746" marB="54746" anchor="ctr" anchorCtr="0"/>
                </a:tc>
                <a:tc>
                  <a:txBody>
                    <a:bodyPr/>
                    <a:p>
                      <a:pPr indent="0" algn="l" fontAlgn="auto">
                        <a:lnSpc>
                          <a:spcPct val="100000"/>
                        </a:lnSpc>
                      </a:pPr>
                      <a:r>
                        <a:rPr lang="en-US" altLang="zh-CN" sz="1800">
                          <a:latin typeface="Noto Sans SC" panose="020B0200000000000000" pitchFamily="34" charset="-122"/>
                          <a:ea typeface="Noto Sans SC" panose="020B0200000000000000" pitchFamily="34" charset="-122"/>
                          <a:cs typeface="Calibri" panose="020F0502020204030204" charset="0"/>
                        </a:rPr>
                        <a:t>Where exactly is it stalling? Does it agree with the Roofline diagnosis?</a:t>
                      </a:r>
                      <a:endParaRPr lang="en-US" altLang="zh-CN" sz="1800">
                        <a:latin typeface="Noto Sans SC" panose="020B0200000000000000" pitchFamily="34" charset="-122"/>
                        <a:ea typeface="Noto Sans SC" panose="020B0200000000000000" pitchFamily="34" charset="-122"/>
                        <a:cs typeface="Calibri" panose="020F0502020204030204" charset="0"/>
                      </a:endParaRPr>
                    </a:p>
                  </a:txBody>
                  <a:tcPr marL="87403" marR="0" marT="54746" marB="54746" anchor="ctr" anchorCtr="0"/>
                </a:tc>
              </a:tr>
            </a:tbl>
          </a:graphicData>
        </a:graphic>
      </p:graphicFrame>
      <p:sp>
        <p:nvSpPr>
          <p:cNvPr id="9" name="文本框 8"/>
          <p:cNvSpPr txBox="1"/>
          <p:nvPr/>
        </p:nvSpPr>
        <p:spPr>
          <a:xfrm>
            <a:off x="853440" y="4159568"/>
            <a:ext cx="5080000" cy="198755"/>
          </a:xfrm>
          <a:prstGeom prst="rect">
            <a:avLst/>
          </a:prstGeom>
        </p:spPr>
        <p:txBody>
          <a:bodyPr>
            <a:spAutoFit/>
          </a:bodyPr>
          <a:p>
            <a:pPr marL="0" indent="0">
              <a:spcBef>
                <a:spcPts val="600"/>
              </a:spcBef>
              <a:spcAft>
                <a:spcPts val="600"/>
              </a:spcAft>
            </a:pPr>
            <a:r>
              <a:rPr lang="en-US" altLang="zh-CN" sz="700" b="0" i="0">
                <a:solidFill>
                  <a:srgbClr val="F9FAFB"/>
                </a:solidFill>
                <a:latin typeface="quote-cjk-patch"/>
                <a:ea typeface="quote-cjk-patch"/>
              </a:rPr>
              <a:t>D</a:t>
            </a:r>
            <a:endParaRPr lang="en-US" altLang="zh-CN"/>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4"/>
          <p:cNvSpPr>
            <a:spLocks noGrp="1"/>
          </p:cNvSpPr>
          <p:nvPr>
            <p:ph type="sldNum" sz="quarter" idx="12"/>
          </p:nvPr>
        </p:nvSpPr>
        <p:spPr/>
        <p:txBody>
          <a:bodyPr/>
          <a:p>
            <a:fld id="{B33F7469-D28B-482F-B1B6-3B8E7CF51519}" type="slidenum">
              <a:rPr lang="zh-CN" altLang="en-US" smtClean="0"/>
            </a:fld>
            <a:endParaRPr lang="zh-CN" altLang="en-US" dirty="0"/>
          </a:p>
        </p:txBody>
      </p:sp>
      <p:sp>
        <p:nvSpPr>
          <p:cNvPr id="9" name="文本框 8"/>
          <p:cNvSpPr txBox="1"/>
          <p:nvPr/>
        </p:nvSpPr>
        <p:spPr>
          <a:xfrm>
            <a:off x="853440" y="4159568"/>
            <a:ext cx="5080000" cy="198755"/>
          </a:xfrm>
          <a:prstGeom prst="rect">
            <a:avLst/>
          </a:prstGeom>
        </p:spPr>
        <p:txBody>
          <a:bodyPr>
            <a:spAutoFit/>
          </a:bodyPr>
          <a:p>
            <a:pPr marL="0" indent="0">
              <a:spcBef>
                <a:spcPts val="600"/>
              </a:spcBef>
              <a:spcAft>
                <a:spcPts val="600"/>
              </a:spcAft>
            </a:pPr>
            <a:r>
              <a:rPr lang="en-US" altLang="zh-CN" sz="700" b="0" i="0">
                <a:solidFill>
                  <a:srgbClr val="F9FAFB"/>
                </a:solidFill>
                <a:latin typeface="quote-cjk-patch"/>
                <a:ea typeface="quote-cjk-patch"/>
              </a:rPr>
              <a:t>D</a:t>
            </a:r>
            <a:endParaRPr lang="en-US" altLang="zh-CN"/>
          </a:p>
        </p:txBody>
      </p:sp>
      <p:sp>
        <p:nvSpPr>
          <p:cNvPr id="3" name="标题 2"/>
          <p:cNvSpPr/>
          <p:nvPr>
            <p:ph type="title"/>
          </p:nvPr>
        </p:nvSpPr>
        <p:spPr>
          <a:xfrm>
            <a:off x="1785620" y="3211830"/>
            <a:ext cx="8620760" cy="701040"/>
          </a:xfrm>
        </p:spPr>
        <p:txBody>
          <a:bodyPr/>
          <a:p>
            <a:pPr algn="ctr"/>
            <a:r>
              <a:rPr lang="en-US" altLang="zh-CN" sz="6600" b="1"/>
              <a:t>Thank you!</a:t>
            </a:r>
            <a:endParaRPr lang="en-US" altLang="zh-CN" sz="6600" b="1"/>
          </a:p>
        </p:txBody>
      </p:sp>
    </p:spTree>
  </p:cSld>
  <p:clrMapOvr>
    <a:masterClrMapping/>
  </p:clrMapOvr>
  <p:transition>
    <p:fade/>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DIAGRAM_VIRTUALLY_FRAME" val="{&quot;height&quot;:134.97692913385828,&quot;left&quot;:29.996535433070864,&quot;top&quot;:236.50448818897638,&quot;width&quot;:334.3}"/>
</p:tagLst>
</file>

<file path=ppt/tags/tag12.xml><?xml version="1.0" encoding="utf-8"?>
<p:tagLst xmlns:p="http://schemas.openxmlformats.org/presentationml/2006/main">
  <p:tag name="KSO_WM_DIAGRAM_VIRTUALLY_FRAME" val="{&quot;height&quot;:134.97692913385828,&quot;left&quot;:29.996535433070864,&quot;top&quot;:236.50448818897638,&quot;width&quot;:334.3}"/>
</p:tagLst>
</file>

<file path=ppt/tags/tag13.xml><?xml version="1.0" encoding="utf-8"?>
<p:tagLst xmlns:p="http://schemas.openxmlformats.org/presentationml/2006/main">
  <p:tag name="KSO_WM_DIAGRAM_VIRTUALLY_FRAME" val="{&quot;height&quot;:134.97692913385828,&quot;left&quot;:29.996535433070864,&quot;top&quot;:236.50448818897638,&quot;width&quot;:334.3}"/>
</p:tagLst>
</file>

<file path=ppt/tags/tag14.xml><?xml version="1.0" encoding="utf-8"?>
<p:tagLst xmlns:p="http://schemas.openxmlformats.org/presentationml/2006/main">
  <p:tag name="KSO_WM_DIAGRAM_VIRTUALLY_FRAME" val="{&quot;height&quot;:134.97692913385828,&quot;left&quot;:29.996535433070864,&quot;top&quot;:236.50448818897638,&quot;width&quot;:334.3}"/>
</p:tagLst>
</file>

<file path=ppt/tags/tag15.xml><?xml version="1.0" encoding="utf-8"?>
<p:tagLst xmlns:p="http://schemas.openxmlformats.org/presentationml/2006/main">
  <p:tag name="KSO_WM_DIAGRAM_VIRTUALLY_FRAME" val="{&quot;height&quot;:134.97692913385828,&quot;left&quot;:29.996535433070864,&quot;top&quot;:236.50448818897638,&quot;width&quot;:334.3}"/>
</p:tagLst>
</file>

<file path=ppt/tags/tag16.xml><?xml version="1.0" encoding="utf-8"?>
<p:tagLst xmlns:p="http://schemas.openxmlformats.org/presentationml/2006/main">
  <p:tag name="KSO_WM_DIAGRAM_VIRTUALLY_FRAME" val="{&quot;height&quot;:134.97692913385828,&quot;left&quot;:29.996535433070864,&quot;top&quot;:236.50448818897638,&quot;width&quot;:334.3}"/>
</p:tagLst>
</file>

<file path=ppt/tags/tag17.xml><?xml version="1.0" encoding="utf-8"?>
<p:tagLst xmlns:p="http://schemas.openxmlformats.org/presentationml/2006/main">
  <p:tag name="KSO_WM_DIAGRAM_VIRTUALLY_FRAME" val="{&quot;height&quot;:134.97692913385828,&quot;left&quot;:29.996535433070864,&quot;top&quot;:236.50448818897638,&quot;width&quot;:334.3}"/>
</p:tagLst>
</file>

<file path=ppt/tags/tag18.xml><?xml version="1.0" encoding="utf-8"?>
<p:tagLst xmlns:p="http://schemas.openxmlformats.org/presentationml/2006/main">
  <p:tag name="KSO_WM_DIAGRAM_VIRTUALLY_FRAME" val="{&quot;height&quot;:134.97692913385828,&quot;left&quot;:29.996535433070864,&quot;top&quot;:236.50448818897638,&quot;width&quot;:334.3}"/>
</p:tagLst>
</file>

<file path=ppt/tags/tag19.xml><?xml version="1.0" encoding="utf-8"?>
<p:tagLst xmlns:p="http://schemas.openxmlformats.org/presentationml/2006/main">
  <p:tag name="KSO_WM_DIAGRAM_VIRTUALLY_FRAME" val="{&quot;height&quot;:134.97692913385828,&quot;left&quot;:29.996535433070864,&quot;top&quot;:236.50448818897638,&quot;width&quot;:334.3}"/>
</p:tagLst>
</file>

<file path=ppt/tags/tag20.xml><?xml version="1.0" encoding="utf-8"?>
<p:tagLst xmlns:p="http://schemas.openxmlformats.org/presentationml/2006/main">
  <p:tag name="KSO_WM_DIAGRAM_VIRTUALLY_FRAME" val="{&quot;height&quot;:370,&quot;left&quot;:41.25,&quot;top&quot;:115.5,&quot;width&quot;:866.4}"/>
</p:tagLst>
</file>

<file path=ppt/tags/tag21.xml><?xml version="1.0" encoding="utf-8"?>
<p:tagLst xmlns:p="http://schemas.openxmlformats.org/presentationml/2006/main">
  <p:tag name="KSO_WM_DIAGRAM_VIRTUALLY_FRAME" val="{&quot;height&quot;:370,&quot;left&quot;:41.25,&quot;top&quot;:115.5,&quot;width&quot;:866.4}"/>
</p:tagLst>
</file>

<file path=ppt/tags/tag22.xml><?xml version="1.0" encoding="utf-8"?>
<p:tagLst xmlns:p="http://schemas.openxmlformats.org/presentationml/2006/main">
  <p:tag name="KSO_WM_DIAGRAM_VIRTUALLY_FRAME" val="{&quot;height&quot;:370,&quot;left&quot;:41.25,&quot;top&quot;:115.5,&quot;width&quot;:866.4}"/>
</p:tagLst>
</file>

<file path=ppt/tags/tag23.xml><?xml version="1.0" encoding="utf-8"?>
<p:tagLst xmlns:p="http://schemas.openxmlformats.org/presentationml/2006/main">
  <p:tag name="KSO_WM_DIAGRAM_VIRTUALLY_FRAME" val="{&quot;height&quot;:370,&quot;left&quot;:41.25,&quot;top&quot;:115.5,&quot;width&quot;:866.4}"/>
</p:tagLst>
</file>

<file path=ppt/tags/tag24.xml><?xml version="1.0" encoding="utf-8"?>
<p:tagLst xmlns:p="http://schemas.openxmlformats.org/presentationml/2006/main">
  <p:tag name="KSO_WM_DIAGRAM_VIRTUALLY_FRAME" val="{&quot;height&quot;:370,&quot;left&quot;:41.25,&quot;top&quot;:115.5,&quot;width&quot;:866.4}"/>
</p:tagLst>
</file>

<file path=ppt/tags/tag25.xml><?xml version="1.0" encoding="utf-8"?>
<p:tagLst xmlns:p="http://schemas.openxmlformats.org/presentationml/2006/main">
  <p:tag name="KSO_WM_DIAGRAM_VIRTUALLY_FRAME" val="{&quot;height&quot;:370,&quot;left&quot;:41.25,&quot;top&quot;:115.5,&quot;width&quot;:866.4}"/>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DIAGRAM_VIRTUALLY_FRAME" val="{&quot;height&quot;:370,&quot;left&quot;:41.25,&quot;top&quot;:115.5,&quot;width&quot;:866.4}"/>
</p:tagLst>
</file>

<file path=ppt/tags/tag28.xml><?xml version="1.0" encoding="utf-8"?>
<p:tagLst xmlns:p="http://schemas.openxmlformats.org/presentationml/2006/main">
  <p:tag name="KSO_WM_DIAGRAM_VIRTUALLY_FRAME" val="{&quot;height&quot;:370,&quot;left&quot;:41.25,&quot;top&quot;:115.5,&quot;width&quot;:866.4}"/>
</p:tagLst>
</file>

<file path=ppt/tags/tag29.xml><?xml version="1.0" encoding="utf-8"?>
<p:tagLst xmlns:p="http://schemas.openxmlformats.org/presentationml/2006/main">
  <p:tag name="KSO_WM_DIAGRAM_VIRTUALLY_FRAME" val="{&quot;height&quot;:370,&quot;left&quot;:41.25,&quot;top&quot;:115.5,&quot;width&quot;:866.4}"/>
</p:tagLst>
</file>

<file path=ppt/tags/tag30.xml><?xml version="1.0" encoding="utf-8"?>
<p:tagLst xmlns:p="http://schemas.openxmlformats.org/presentationml/2006/main">
  <p:tag name="KSO_WM_DIAGRAM_VIRTUALLY_FRAME" val="{&quot;height&quot;:370,&quot;left&quot;:41.25,&quot;top&quot;:115.5,&quot;width&quot;:866.4}"/>
</p:tagLst>
</file>

<file path=ppt/tags/tag31.xml><?xml version="1.0" encoding="utf-8"?>
<p:tagLst xmlns:p="http://schemas.openxmlformats.org/presentationml/2006/main">
  <p:tag name="KSO_WM_DIAGRAM_VIRTUALLY_FRAME" val="{&quot;height&quot;:370,&quot;left&quot;:41.25,&quot;top&quot;:115.5,&quot;width&quot;:866.4}"/>
</p:tagLst>
</file>

<file path=ppt/tags/tag32.xml><?xml version="1.0" encoding="utf-8"?>
<p:tagLst xmlns:p="http://schemas.openxmlformats.org/presentationml/2006/main">
  <p:tag name="KSO_WM_DIAGRAM_VIRTUALLY_FRAME" val="{&quot;height&quot;:370,&quot;left&quot;:41.25,&quot;top&quot;:115.5,&quot;width&quot;:866.4}"/>
</p:tagLst>
</file>

<file path=ppt/tags/tag33.xml><?xml version="1.0" encoding="utf-8"?>
<p:tagLst xmlns:p="http://schemas.openxmlformats.org/presentationml/2006/main">
  <p:tag name="TABLE_ENDDRAG_ORIGIN_RECT" val="477*297"/>
  <p:tag name="TABLE_ENDDRAG_RECT" val="44*148*477*297"/>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DIAGRAM_VIRTUALLY_FRAME" val="{&quot;height&quot;:275,&quot;left&quot;:41.25,&quot;top&quot;:155,&quot;width&quot;:420}"/>
</p:tagLst>
</file>

<file path=ppt/tags/tag36.xml><?xml version="1.0" encoding="utf-8"?>
<p:tagLst xmlns:p="http://schemas.openxmlformats.org/presentationml/2006/main">
  <p:tag name="KSO_WM_DIAGRAM_VIRTUALLY_FRAME" val="{&quot;height&quot;:275,&quot;left&quot;:41.25,&quot;top&quot;:155,&quot;width&quot;:420}"/>
</p:tagLst>
</file>

<file path=ppt/tags/tag37.xml><?xml version="1.0" encoding="utf-8"?>
<p:tagLst xmlns:p="http://schemas.openxmlformats.org/presentationml/2006/main">
  <p:tag name="KSO_WM_DIAGRAM_VIRTUALLY_FRAME" val="{&quot;height&quot;:275,&quot;left&quot;:41.25,&quot;top&quot;:155,&quot;width&quot;:420}"/>
</p:tagLst>
</file>

<file path=ppt/tags/tag38.xml><?xml version="1.0" encoding="utf-8"?>
<p:tagLst xmlns:p="http://schemas.openxmlformats.org/presentationml/2006/main">
  <p:tag name="KSO_WM_DIAGRAM_VIRTUALLY_FRAME" val="{&quot;height&quot;:275,&quot;left&quot;:41.25,&quot;top&quot;:155,&quot;width&quot;:420}"/>
</p:tagLst>
</file>

<file path=ppt/tags/tag39.xml><?xml version="1.0" encoding="utf-8"?>
<p:tagLst xmlns:p="http://schemas.openxmlformats.org/presentationml/2006/main">
  <p:tag name="KSO_WM_DIAGRAM_VIRTUALLY_FRAME" val="{&quot;height&quot;:275,&quot;left&quot;:41.25,&quot;top&quot;:155,&quot;width&quot;:420}"/>
</p:tagLst>
</file>

<file path=ppt/tags/tag40.xml><?xml version="1.0" encoding="utf-8"?>
<p:tagLst xmlns:p="http://schemas.openxmlformats.org/presentationml/2006/main">
  <p:tag name="KSO_WM_DIAGRAM_VIRTUALLY_FRAME" val="{&quot;height&quot;:275,&quot;left&quot;:41.25,&quot;top&quot;:155,&quot;width&quot;:420}"/>
</p:tagLst>
</file>

<file path=ppt/tags/tag41.xml><?xml version="1.0" encoding="utf-8"?>
<p:tagLst xmlns:p="http://schemas.openxmlformats.org/presentationml/2006/main">
  <p:tag name="KSO_WM_DIAGRAM_VIRTUALLY_FRAME" val="{&quot;height&quot;:275,&quot;left&quot;:41.25,&quot;top&quot;:155,&quot;width&quot;:420}"/>
</p:tagLst>
</file>

<file path=ppt/tags/tag42.xml><?xml version="1.0" encoding="utf-8"?>
<p:tagLst xmlns:p="http://schemas.openxmlformats.org/presentationml/2006/main">
  <p:tag name="KSO_WM_DIAGRAM_VIRTUALLY_FRAME" val="{&quot;height&quot;:275,&quot;left&quot;:41.25,&quot;top&quot;:155,&quot;width&quot;:420}"/>
</p:tagLst>
</file>

<file path=ppt/tags/tag43.xml><?xml version="1.0" encoding="utf-8"?>
<p:tagLst xmlns:p="http://schemas.openxmlformats.org/presentationml/2006/main">
  <p:tag name="KSO_WM_DIAGRAM_VIRTUALLY_FRAME" val="{&quot;height&quot;:275,&quot;left&quot;:41.25,&quot;top&quot;:155,&quot;width&quot;:420}"/>
</p:tagLst>
</file>

<file path=ppt/tags/tag44.xml><?xml version="1.0" encoding="utf-8"?>
<p:tagLst xmlns:p="http://schemas.openxmlformats.org/presentationml/2006/main">
  <p:tag name="KSO_WM_DIAGRAM_VIRTUALLY_FRAME" val="{&quot;height&quot;:275,&quot;left&quot;:41.25,&quot;top&quot;:155,&quot;width&quot;:420}"/>
</p:tagLst>
</file>

<file path=ppt/tags/tag45.xml><?xml version="1.0" encoding="utf-8"?>
<p:tagLst xmlns:p="http://schemas.openxmlformats.org/presentationml/2006/main">
  <p:tag name="KSO_WM_DIAGRAM_VIRTUALLY_FRAME" val="{&quot;height&quot;:275,&quot;left&quot;:41.25,&quot;top&quot;:155,&quot;width&quot;:420}"/>
</p:tagLst>
</file>

<file path=ppt/tags/tag46.xml><?xml version="1.0" encoding="utf-8"?>
<p:tagLst xmlns:p="http://schemas.openxmlformats.org/presentationml/2006/main">
  <p:tag name="KSO_WM_DIAGRAM_VIRTUALLY_FRAME" val="{&quot;height&quot;:275,&quot;left&quot;:41.25,&quot;top&quot;:155,&quot;width&quot;:420}"/>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TABLE_ENDDRAG_ORIGIN_RECT" val="481*206"/>
  <p:tag name="TABLE_ENDDRAG_RECT" val="98*239*481*206"/>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TABLE_ENDDRAG_ORIGIN_RECT" val="825*313"/>
  <p:tag name="TABLE_ENDDRAG_RECT" val="67*148*825*313"/>
</p:tagLst>
</file>

<file path=ppt/tags/tag51.xml><?xml version="1.0" encoding="utf-8"?>
<p:tagLst xmlns:p="http://schemas.openxmlformats.org/presentationml/2006/main">
  <p:tag name="COMMONDATA" val="eyJoZGlkIjoiMGVjMjNiN2ZkZTMzMDA4ZWE3OTY1NzI2MTg5NDIzY2IifQ=="/>
  <p:tag name="KSO_WPP_MARK_KEY" val="bcc4c946-421a-4a56-a7c9-e84bf867b565"/>
  <p:tag name="resource_record_key" val="{&quot;29&quot;:[50053052,50000049,50000031]}"/>
</p:tagLst>
</file>

<file path=ppt/theme/theme1.xml><?xml version="1.0" encoding="utf-8"?>
<a:theme xmlns:a="http://schemas.openxmlformats.org/drawingml/2006/main" name="封面">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a:ea typeface="微软雅黑"/>
        <a:cs typeface="Arial"/>
        <a:font script="Jpan" typeface="ＭＳ Ｐゴシック"/>
        <a:font script="Hang" typeface="굴림"/>
        <a:font script="Hans" typeface="微软雅黑"/>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微软雅黑"/>
        <a:cs typeface="Arial"/>
        <a:font script="Jpan" typeface="ＭＳ Ｐ明朝"/>
        <a:font script="Hang" typeface="바탕"/>
        <a:font script="Hans" typeface="微软雅黑"/>
        <a:font script="Hant" typeface="微軟正黑體"/>
        <a:font script="Arab" typeface="Arial"/>
        <a:font script="Hebr" typeface="Ari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内容">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Arial"/>
      </a:majorFont>
      <a:minorFont>
        <a:latin typeface="Arial"/>
        <a:ea typeface="微软雅黑"/>
        <a:cs typeface="Arial"/>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微软雅黑"/>
        <a:cs typeface="Arial"/>
        <a:font script="Jpan" typeface="Yu Gothic Light"/>
        <a:font script="Hang" typeface="맑은 고딕"/>
        <a:font script="Hans" typeface="微软雅黑"/>
        <a:font script="Hant" typeface="微軟正黑體"/>
        <a:font script="Arab" typeface="Arial"/>
        <a:font script="Hebr" typeface="Ari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微软雅黑"/>
        <a:cs typeface="Arial"/>
        <a:font script="Jpan" typeface="Yu Gothic"/>
        <a:font script="Hang" typeface="맑은 고딕"/>
        <a:font script="Hans" typeface="微软雅黑"/>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微软雅黑"/>
        <a:cs typeface="Arial"/>
        <a:font script="Jpan" typeface="游ゴシック Light"/>
        <a:font script="Hang" typeface="맑은 고딕"/>
        <a:font script="Hans" typeface="微软雅黑"/>
        <a:font script="Hant" typeface="微軟正黑體"/>
        <a:font script="Arab" typeface="Arial"/>
        <a:font script="Hebr" typeface="Ari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微软雅黑"/>
        <a:cs typeface="Arial"/>
        <a:font script="Jpan" typeface="游ゴシック"/>
        <a:font script="Hang" typeface="맑은 고딕"/>
        <a:font script="Hans" typeface="微软雅黑"/>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封面</Template>
  <TotalTime>0</TotalTime>
  <Words>16128</Words>
  <Application>WPS 演示</Application>
  <PresentationFormat>宽屏</PresentationFormat>
  <Paragraphs>650</Paragraphs>
  <Slides>38</Slides>
  <Notes>8</Notes>
  <HiddenSlides>3</HiddenSlides>
  <MMClips>1</MMClips>
  <ScaleCrop>false</ScaleCrop>
  <HeadingPairs>
    <vt:vector size="6" baseType="variant">
      <vt:variant>
        <vt:lpstr>已用的字体</vt:lpstr>
      </vt:variant>
      <vt:variant>
        <vt:i4>26</vt:i4>
      </vt:variant>
      <vt:variant>
        <vt:lpstr>主题</vt:lpstr>
      </vt:variant>
      <vt:variant>
        <vt:i4>2</vt:i4>
      </vt:variant>
      <vt:variant>
        <vt:lpstr>幻灯片标题</vt:lpstr>
      </vt:variant>
      <vt:variant>
        <vt:i4>38</vt:i4>
      </vt:variant>
    </vt:vector>
  </HeadingPairs>
  <TitlesOfParts>
    <vt:vector size="66" baseType="lpstr">
      <vt:lpstr>Arial</vt:lpstr>
      <vt:lpstr>宋体</vt:lpstr>
      <vt:lpstr>Wingdings</vt:lpstr>
      <vt:lpstr>Calibri</vt:lpstr>
      <vt:lpstr>微软雅黑</vt:lpstr>
      <vt:lpstr>Noto Sans SC</vt:lpstr>
      <vt:lpstr>Noto Sans SC</vt:lpstr>
      <vt:lpstr>MiSans</vt:lpstr>
      <vt:lpstr>Segoe Print</vt:lpstr>
      <vt:lpstr>MiSans</vt:lpstr>
      <vt:lpstr>MiSans</vt:lpstr>
      <vt:lpstr>Arial Unicode MS</vt:lpstr>
      <vt:lpstr>MingLiU-ExtB</vt:lpstr>
      <vt:lpstr>Noto Sans SC Black</vt:lpstr>
      <vt:lpstr>Wingdings</vt:lpstr>
      <vt:lpstr>quote-cjk-patch</vt:lpstr>
      <vt:lpstr>Arial</vt:lpstr>
      <vt:lpstr>Google Sans</vt:lpstr>
      <vt:lpstr>Google Sans Text</vt:lpstr>
      <vt:lpstr>文泉驿微米黑</vt:lpstr>
      <vt:lpstr>黑体</vt:lpstr>
      <vt:lpstr>Wingdings 3</vt:lpstr>
      <vt:lpstr>Google Sans</vt:lpstr>
      <vt:lpstr>Google Sans Text</vt:lpstr>
      <vt:lpstr>Saturday Sans Regular</vt:lpstr>
      <vt:lpstr>quote-cjk-patch</vt:lpstr>
      <vt:lpstr>封面</vt:lpstr>
      <vt:lpstr>内容</vt:lpstr>
      <vt:lpstr>Performance Engineering for AI Systems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GPU Architecture</vt:lpstr>
      <vt:lpstr>Occupancy – Registers</vt:lpstr>
      <vt:lpstr>Occupancy – Limiting Factors</vt:lpstr>
      <vt:lpstr>Occupancy: Tradeoffs</vt:lpstr>
      <vt:lpstr>Occupancy: Tradeoffs</vt:lpstr>
      <vt:lpstr>Occupancy: Tradeoffs</vt:lpstr>
      <vt:lpstr>The Roofline Model – Visualizing Performance Limits</vt:lpstr>
      <vt:lpstr>Occupancy – Keeping the GPU Busy</vt:lpstr>
      <vt:lpstr>PowerPoint 演示文稿</vt:lpstr>
      <vt:lpstr>Automatic Tuning</vt:lpstr>
      <vt:lpstr>What is Kernel Auto-tuning?</vt:lpstr>
      <vt:lpstr>Application of Simulated Annealing</vt:lpstr>
      <vt:lpstr>Advanced Exploration Algorithm: Genetic Algorithm</vt:lpstr>
      <vt:lpstr>Advanced Exploration Algorithm: Genetic Algorithm</vt:lpstr>
      <vt:lpstr>PowerPoint 演示文稿</vt:lpstr>
      <vt:lpstr>PowerPoint 演示文稿</vt:lpstr>
      <vt:lpstr>What is end-to-end collaborative optimization?</vt:lpstr>
      <vt:lpstr>The "Double Walls" of Large Model Inference</vt:lpstr>
      <vt:lpstr>Compiler-Level Optimization Strategies</vt:lpstr>
      <vt:lpstr>Operator Implementation</vt:lpstr>
      <vt:lpstr>FlagGems Operator Library: Role and Ecosystem</vt:lpstr>
      <vt:lpstr>vLLM-Plugin-FL Design Philosophy</vt:lpstr>
      <vt:lpstr>vLLM-Plugin-FL + FlagGems + FlagTree</vt:lpstr>
      <vt:lpstr>PowerPoint 演示文稿</vt:lpstr>
      <vt:lpstr>PowerPoint 演示文稿</vt:lpstr>
      <vt:lpstr>Module 5: Performance Evaluation &amp; Optimization Practice  How to Run This Lab</vt:lpstr>
      <vt:lpstr>Three Experiments – What Question Does Each One Answer?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容错域量子EDA研究</dc:title>
  <dc:creator>王丰</dc:creator>
  <cp:lastModifiedBy>龙奕涵</cp:lastModifiedBy>
  <cp:revision>1599</cp:revision>
  <dcterms:created xsi:type="dcterms:W3CDTF">2026-07-28T00:20:00Z</dcterms:created>
  <dcterms:modified xsi:type="dcterms:W3CDTF">2026-08-01T16:25:43Z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F7191C2708FD07F82CD87F6915CBD24F_43</vt:lpwstr>
  </property>
  <property fmtid="{D5CDD505-2E9C-101B-9397-08002B2CF9AE}" pid="3" name="KSOProductBuildVer">
    <vt:lpwstr>2052-12.1.0.28043</vt:lpwstr>
  </property>
</Properties>
</file>