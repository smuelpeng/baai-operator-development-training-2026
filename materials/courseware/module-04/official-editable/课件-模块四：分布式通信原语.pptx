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27"/>
  </p:notesMasterIdLst>
  <p:handoutMasterIdLst>
    <p:handoutMasterId r:id="rId54"/>
  </p:handoutMasterIdLst>
  <p:sldIdLst>
    <p:sldId id="1928" r:id="rId4"/>
    <p:sldId id="1930" r:id="rId5"/>
    <p:sldId id="1932" r:id="rId6"/>
    <p:sldId id="1933" r:id="rId7"/>
    <p:sldId id="1934" r:id="rId8"/>
    <p:sldId id="1935" r:id="rId9"/>
    <p:sldId id="1936" r:id="rId10"/>
    <p:sldId id="1937" r:id="rId11"/>
    <p:sldId id="1938" r:id="rId12"/>
    <p:sldId id="1939" r:id="rId13"/>
    <p:sldId id="1940" r:id="rId14"/>
    <p:sldId id="1941" r:id="rId15"/>
    <p:sldId id="1942" r:id="rId16"/>
    <p:sldId id="1943" r:id="rId17"/>
    <p:sldId id="1944" r:id="rId18"/>
    <p:sldId id="1945" r:id="rId19"/>
    <p:sldId id="1946" r:id="rId20"/>
    <p:sldId id="1947" r:id="rId21"/>
    <p:sldId id="1948" r:id="rId22"/>
    <p:sldId id="1949" r:id="rId23"/>
    <p:sldId id="1950" r:id="rId24"/>
    <p:sldId id="1951" r:id="rId25"/>
    <p:sldId id="1955" r:id="rId26"/>
    <p:sldId id="1956" r:id="rId28"/>
    <p:sldId id="1957" r:id="rId29"/>
    <p:sldId id="1958" r:id="rId30"/>
    <p:sldId id="1972" r:id="rId31"/>
    <p:sldId id="1959" r:id="rId32"/>
    <p:sldId id="1960" r:id="rId33"/>
    <p:sldId id="1961" r:id="rId34"/>
    <p:sldId id="1962" r:id="rId35"/>
    <p:sldId id="1963" r:id="rId36"/>
    <p:sldId id="1964" r:id="rId37"/>
    <p:sldId id="1965" r:id="rId38"/>
    <p:sldId id="1966" r:id="rId39"/>
    <p:sldId id="1967" r:id="rId40"/>
    <p:sldId id="1968" r:id="rId41"/>
    <p:sldId id="1969" r:id="rId42"/>
    <p:sldId id="1970" r:id="rId43"/>
    <p:sldId id="1971" r:id="rId44"/>
    <p:sldId id="1975" r:id="rId45"/>
    <p:sldId id="1976" r:id="rId46"/>
    <p:sldId id="1977" r:id="rId47"/>
    <p:sldId id="1978" r:id="rId48"/>
    <p:sldId id="1979" r:id="rId49"/>
    <p:sldId id="1980" r:id="rId50"/>
    <p:sldId id="1981" r:id="rId51"/>
    <p:sldId id="1982" r:id="rId52"/>
    <p:sldId id="1974" r:id="rId53"/>
  </p:sldIdLst>
  <p:sldSz cx="12192000" cy="6858000"/>
  <p:notesSz cx="6858000" cy="9144000"/>
  <p:custDataLst>
    <p:tags r:id="rId5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5"/>
    <p:restoredTop sz="91926" autoAdjust="0"/>
  </p:normalViewPr>
  <p:slideViewPr>
    <p:cSldViewPr snapToGrid="0" snapToObjects="1">
      <p:cViewPr varScale="1">
        <p:scale>
          <a:sx n="107" d="100"/>
          <a:sy n="107" d="100"/>
        </p:scale>
        <p:origin x="51" y="5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gs" Target="tags/tag10.xml"/><Relationship Id="rId58" Type="http://schemas.openxmlformats.org/officeDocument/2006/relationships/commentAuthors" Target="commentAuthors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8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87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1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5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5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6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6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7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81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8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99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899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0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0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4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2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2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3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3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3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1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https://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zhuanlan.zhihu.com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/p/1976385706453652306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43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8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4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5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90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https://</a:t>
            </a:r>
            <a:r>
              <a:rPr lang="en-GB" altLang="zh-CN" b="0" i="0" dirty="0" err="1">
                <a:solidFill>
                  <a:srgbClr val="191B1F"/>
                </a:solidFill>
                <a:effectLst/>
                <a:latin typeface="-apple-system"/>
              </a:rPr>
              <a:t>zhuanlan.zhihu.com</a:t>
            </a:r>
            <a:r>
              <a:rPr lang="en-GB" altLang="zh-CN" b="0" i="0" dirty="0">
                <a:solidFill>
                  <a:srgbClr val="191B1F"/>
                </a:solidFill>
                <a:effectLst/>
                <a:latin typeface="-apple-system"/>
              </a:rPr>
              <a:t>/p/1976385706453652306</a:t>
            </a:r>
            <a:endParaRPr lang="zh-CN" altLang="en-US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1049057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B44C98A-D9C5-894D-9A13-8F52E37846C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A binomial tree of order k is recursively defined as follows.</a:t>
            </a:r>
            <a:endParaRPr lang="en-US" altLang="zh-CN"/>
          </a:p>
          <a:p>
            <a:r>
              <a:rPr lang="en-US" altLang="zh-CN">
                <a:sym typeface="+mn-ea"/>
              </a:rPr>
              <a:t>* A binomial tree of order 0 is a single node.</a:t>
            </a:r>
            <a:endParaRPr lang="en-US" altLang="zh-CN"/>
          </a:p>
          <a:p>
            <a:r>
              <a:rPr lang="en-US" altLang="zh-CN">
                <a:sym typeface="+mn-ea"/>
              </a:rPr>
              <a:t>* A binomial tree of order k&gt;0 consists of a root node and k children, where the i th child of the root is the root of a binomial tree of order i, 0&lt;=i&lt;=k-1.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[SuB77] Herbert Sullivan and T R Bashkow. “A large scale, homogeneous, fully distributed parallel machine,” ISCA 1977.</a:t>
            </a:r>
            <a:endParaRPr lang="en-US" altLang="zh-CN" dirty="0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 hypercube has d 2</a:t>
            </a:r>
            <a:r>
              <a:rPr lang="en-US" altLang="zh-CN" baseline="30000"/>
              <a:t>d</a:t>
            </a:r>
            <a:r>
              <a:rPr lang="en-US" altLang="zh-CN"/>
              <a:t> (bidirectional) edges</a:t>
            </a:r>
            <a:endParaRPr lang="en-US" altLang="zh-CN"/>
          </a:p>
          <a:p>
            <a:r>
              <a:rPr lang="en-US" altLang="zh-CN"/>
              <a:t>d ESBTs have d (2</a:t>
            </a:r>
            <a:r>
              <a:rPr lang="en-US" altLang="zh-CN" baseline="30000"/>
              <a:t>d</a:t>
            </a:r>
            <a:r>
              <a:rPr lang="en-US" altLang="zh-CN"/>
              <a:t>-1) edges in total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each "for" loop </a:t>
            </a:r>
            <a:r>
              <a:rPr lang="en-US" altLang="zh-CN"/>
              <a:t>contains d rounds, except the first loop takes k%d rounds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t-d: </a:t>
            </a:r>
            <a:r>
              <a:rPr lang="zh-CN" altLang="en-US"/>
              <a:t>当前的</a:t>
            </a:r>
            <a:r>
              <a:rPr lang="en-US" altLang="zh-CN"/>
              <a:t>block</a:t>
            </a:r>
            <a:r>
              <a:rPr lang="zh-CN" altLang="en-US"/>
              <a:t>号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988820" y="5448300"/>
            <a:ext cx="9664065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450465" y="6356350"/>
            <a:ext cx="920242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2009140" y="4846320"/>
            <a:ext cx="9643110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Pct val="75000"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>
              <a:buClr>
                <a:srgbClr val="8B0012"/>
              </a:buClr>
              <a:buSzTx/>
              <a:buFontTx/>
              <a:buChar char="•"/>
              <a:defRPr/>
            </a:lvl1pPr>
            <a:lvl2pPr algn="l">
              <a:buClr>
                <a:srgbClr val="8B0012"/>
              </a:buClr>
              <a:buSzTx/>
              <a:buFontTx/>
              <a:buChar char="◦"/>
              <a:defRPr/>
            </a:lvl2pPr>
            <a:lvl3pPr algn="l">
              <a:buClr>
                <a:srgbClr val="8B0012"/>
              </a:buClr>
              <a:buSzTx/>
              <a:buFontTx/>
              <a:buChar char="-"/>
              <a:defRPr/>
            </a:lvl3pPr>
            <a:lvl4pPr algn="l">
              <a:buClr>
                <a:srgbClr val="8B0012"/>
              </a:buClr>
              <a:buSzTx/>
              <a:buFontTx/>
              <a:buChar char="-"/>
              <a:defRPr/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  <p:custDataLst>
              <p:tags r:id="rId2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buClr>
                <a:srgbClr val="8B0012"/>
              </a:buClr>
              <a:buSzTx/>
              <a:buFontTx/>
              <a:buChar char="•"/>
              <a:defRPr sz="2800" baseline="0">
                <a:latin typeface="Arial" panose="020B0604020202020204" pitchFamily="34" charset="0"/>
              </a:defRPr>
            </a:lvl1pPr>
            <a:lvl2pPr algn="l">
              <a:lnSpc>
                <a:spcPct val="100000"/>
              </a:lnSpc>
              <a:buClr>
                <a:srgbClr val="8B0012"/>
              </a:buClr>
              <a:buSzTx/>
              <a:buFontTx/>
              <a:buChar char="◦"/>
              <a:defRPr sz="2400" baseline="0">
                <a:latin typeface="Arial" panose="020B0604020202020204" pitchFamily="34" charset="0"/>
              </a:defRPr>
            </a:lvl2pPr>
            <a:lvl3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2000" baseline="0">
                <a:latin typeface="Arial" panose="020B0604020202020204" pitchFamily="34" charset="0"/>
              </a:defRPr>
            </a:lvl3pPr>
            <a:lvl4pPr algn="l">
              <a:lnSpc>
                <a:spcPct val="100000"/>
              </a:lnSpc>
              <a:buClr>
                <a:srgbClr val="8B0012"/>
              </a:buClr>
              <a:buSzTx/>
              <a:buFontTx/>
              <a:buChar char="-"/>
              <a:defRPr sz="1600" baseline="0">
                <a:latin typeface="Arial" panose="020B0604020202020204" pitchFamily="34" charset="0"/>
              </a:defRPr>
            </a:lvl4pPr>
            <a:lvl5pPr>
              <a:buClr>
                <a:srgbClr val="8B0012"/>
              </a:buClr>
              <a:buSzTx/>
              <a:buFontTx/>
              <a:buChar char="-"/>
              <a:defRPr/>
            </a:lvl5pPr>
            <a:lvl6pPr>
              <a:buClr>
                <a:srgbClr val="8B0012"/>
              </a:buClr>
              <a:buSzTx/>
              <a:buFontTx/>
              <a:buChar char="-"/>
              <a:defRPr/>
            </a:lvl6pPr>
            <a:lvl7pPr>
              <a:buClr>
                <a:srgbClr val="8B0012"/>
              </a:buClr>
              <a:buSzTx/>
              <a:buFontTx/>
              <a:buChar char="-"/>
              <a:defRPr/>
            </a:lvl7pPr>
            <a:lvl8pPr>
              <a:buClr>
                <a:srgbClr val="8B0012"/>
              </a:buClr>
              <a:buSzTx/>
              <a:buFontTx/>
              <a:buChar char="-"/>
              <a:defRPr/>
            </a:lvl8pPr>
            <a:lvl9pPr>
              <a:buClr>
                <a:srgbClr val="8B0012"/>
              </a:buClr>
              <a:buSzTx/>
              <a:buFontTx/>
              <a:buChar char="-"/>
              <a:defRPr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grpSp>
        <p:nvGrpSpPr>
          <p:cNvPr id="14" name="Group 7"/>
          <p:cNvGrpSpPr/>
          <p:nvPr userDrawn="1"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8B0012"/>
          </a:solidFill>
        </p:grpSpPr>
        <p:sp>
          <p:nvSpPr>
            <p:cNvPr id="15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16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7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8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9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0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1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22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23" name="内容占位符 22"/>
          <p:cNvSpPr>
            <a:spLocks noGrp="1"/>
          </p:cNvSpPr>
          <p:nvPr>
            <p:ph sz="quarter" idx="11" hasCustomPrompt="1"/>
            <p:custDataLst>
              <p:tags r:id="rId10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pitchFamily="3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5"/>
          <p:cNvGrpSpPr/>
          <p:nvPr userDrawn="1"/>
        </p:nvGrpSpPr>
        <p:grpSpPr>
          <a:xfrm>
            <a:off x="0" y="0"/>
            <a:ext cx="2212199" cy="6858001"/>
            <a:chOff x="0" y="0"/>
            <a:chExt cx="2305051" cy="6858001"/>
          </a:xfrm>
          <a:solidFill>
            <a:srgbClr val="8B0012"/>
          </a:soli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9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0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1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2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3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4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6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9" name="Picture 3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10" name="Picture 4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sz="3600" b="0" i="0" kern="1200" baseline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lang="zh-CN" altLang="en-US" sz="24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◦"/>
        <a:defRPr lang="zh-CN" altLang="en-US" sz="2000" b="0" i="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6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lang="zh-CN" altLang="en-US" sz="1200" kern="1200" baseline="0" dirty="0" smtClean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1680" y="431800"/>
            <a:ext cx="8620760" cy="701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Group 2"/>
          <p:cNvGrpSpPr/>
          <p:nvPr userDrawn="1"/>
        </p:nvGrpSpPr>
        <p:grpSpPr>
          <a:xfrm>
            <a:off x="9489385" y="488041"/>
            <a:ext cx="2580450" cy="547850"/>
            <a:chOff x="9221415" y="158476"/>
            <a:chExt cx="2580450" cy="547850"/>
          </a:xfrm>
        </p:grpSpPr>
        <p:pic>
          <p:nvPicPr>
            <p:cNvPr id="7" name="Picture 3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4"/>
            <p:cNvPicPr>
              <a:picLocks noChangeAspect="1"/>
            </p:cNvPicPr>
            <p:nvPr/>
          </p:nvPicPr>
          <p:blipFill>
            <a:blip r:embed="rId8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Tx/>
        <a:buChar char="•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Tx/>
        <a:buChar char="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pitchFamily="3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rgbClr val="8B0012"/>
        </a:buClr>
        <a:buSzTx/>
        <a:buFontTx/>
        <a:buChar char="-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hyperlink" Target="https://dnacap.fund/insights/exploring-the-landscape-of-large-language-models" TargetMode="External"/><Relationship Id="rId1" Type="http://schemas.openxmlformats.org/officeDocument/2006/relationships/hyperlink" Target="https://arxiv.org/abs/2001.08361" TargetMode="Externa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hyperlink" Target="https://aclanthology.org/2023.acl-long.134.pdf" TargetMode="External"/><Relationship Id="rId2" Type="http://schemas.openxmlformats.org/officeDocument/2006/relationships/hyperlink" Target="https://docs.nvidia.com/nemo/megatron-bridge/0.2.0/parallelisms.html" TargetMode="External"/><Relationship Id="rId1" Type="http://schemas.openxmlformats.org/officeDocument/2006/relationships/hyperlink" Target="https://robotchinwag.com/posts/demystifying-tensor-parallelism/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hyperlink" Target="https://arxiv.org/html/2507.04786v1" TargetMode="Externa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hyperlink" Target="https://www.hiascend.com/developer/techArticles/20240809-1" TargetMode="External"/><Relationship Id="rId1" Type="http://schemas.openxmlformats.org/officeDocument/2006/relationships/hyperlink" Target="https://developer.nvidia.com/blog/scaling-ai-inference-performance-and-flexibility-with-nvidia-nvlink-and-nvlink-fusio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hyperlink" Target="https://docs.nvidia.com/deeplearning/nccl/user-guide/docs/usage/collectives.html" TargetMode="Externa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hyperlink" Target="https://www.uber.com/en-JP/blog/horovod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hyperlink" Target="https://docs.pytorch.org/docs/stable/notes/ddp.html" TargetMode="Externa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hyperlink" Target="https://arxiv.org/abs/2304.11277" TargetMode="External"/><Relationship Id="rId1" Type="http://schemas.openxmlformats.org/officeDocument/2006/relationships/hyperlink" Target="https://docs.pytorch.org/tutorials/intermediate/FSDP_tutorial.html" TargetMode="Externa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hyperlink" Target="https://arxiv.org/abs/2304.11277" TargetMode="External"/><Relationship Id="rId1" Type="http://schemas.openxmlformats.org/officeDocument/2006/relationships/hyperlink" Target="https://docs.pytorch.org/tutorials/intermediate/FSDP_tutorial.html" TargetMode="Externa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hyperlink" Target="https://ieeexplore.ieee.org/document/6337589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hyperlink" Target="https://www.semanticscholar.org/paper/Optimization-of-Collective-Reduction-Operations-Rabenseifner/e2584fdc3f9e696423d96522038f3fa35137ab92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5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pPr algn="ctr"/>
            <a:r>
              <a:rPr lang="en-US" altLang="zh-CN"/>
              <a:t>AI System Fundamentals &amp; Heterogeneous Computing</a:t>
            </a:r>
            <a:endParaRPr lang="en-US" altLang="zh-CN"/>
          </a:p>
        </p:txBody>
      </p:sp>
      <p:sp>
        <p:nvSpPr>
          <p:cNvPr id="10" name="副标题 9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Guojie </a:t>
            </a:r>
            <a:r>
              <a:rPr lang="en-US" altLang="zh-CN"/>
              <a:t>Luo</a:t>
            </a:r>
            <a:endParaRPr lang="en-US" altLang="zh-CN"/>
          </a:p>
          <a:p>
            <a:r>
              <a:rPr lang="en-US" altLang="zh-CN">
                <a:sym typeface="+mn-ea"/>
              </a:rPr>
              <a:t>2026</a:t>
            </a:r>
            <a:r>
              <a:rPr lang="x-none">
                <a:sym typeface="+mn-ea"/>
              </a:rPr>
              <a:t>/8/</a:t>
            </a:r>
            <a:r>
              <a:rPr lang="en-US" altLang="zh-CN">
                <a:sym typeface="+mn-ea"/>
              </a:rPr>
              <a:t>7 </a:t>
            </a:r>
            <a:endParaRPr lang="en-US" altLang="zh-CN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447800" y="1615440"/>
            <a:ext cx="10017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Hardware and Software Fundamentals of Intelligent Computing Systems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0"/>
          </p:nvPr>
        </p:nvSpPr>
        <p:spPr>
          <a:xfrm>
            <a:off x="5452110" y="0"/>
            <a:ext cx="6053455" cy="6858000"/>
          </a:xfrm>
        </p:spPr>
        <p:txBody>
          <a:bodyPr/>
          <a:p>
            <a:r>
              <a:rPr lang="en-US" altLang="zh-CN" sz="2400" dirty="0">
                <a:sym typeface="+mn-ea"/>
              </a:rPr>
              <a:t>Communication Primitives</a:t>
            </a:r>
            <a:endParaRPr lang="en-US" altLang="zh-CN" sz="2400"/>
          </a:p>
          <a:p>
            <a:r>
              <a:rPr lang="en-US" altLang="zh-CN" sz="2400" dirty="0">
                <a:sym typeface="+mn-ea"/>
              </a:rPr>
              <a:t>Communication Topology Optimization</a:t>
            </a:r>
            <a:endParaRPr lang="en-US" altLang="zh-CN" sz="2400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Scaling Law of LLMs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Model performance improves predictably as a power-law function of compute, data size, and parameter count.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https://arxiv.org/abs/2001.08361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[2] </a:t>
            </a:r>
            <a:r>
              <a:rPr lang="en-US" altLang="zh-CN" dirty="0">
                <a:sym typeface="+mn-ea"/>
                <a:hlinkClick r:id="rId2"/>
              </a:rPr>
              <a:t>https://dnacap.fund/insights/exploring-the-landscape-of-large-language-models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18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984" y="2167715"/>
            <a:ext cx="7950345" cy="39871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AI computing</a:t>
            </a:r>
            <a:r>
              <a:rPr>
                <a:sym typeface="+mn-ea"/>
              </a:rPr>
              <a:t> </a:t>
            </a:r>
            <a:r>
              <a:rPr lang="en-US" altLang="zh-CN">
                <a:sym typeface="+mn-ea"/>
              </a:rPr>
              <a:t>systems</a:t>
            </a:r>
            <a:r>
              <a:rPr>
                <a:sym typeface="+mn-ea"/>
              </a:rPr>
              <a:t> </a:t>
            </a:r>
            <a:r>
              <a:rPr lang="en-US" altLang="zh-CN">
                <a:sym typeface="+mn-ea"/>
              </a:rPr>
              <a:t>are also scaling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Scale-up </a:t>
            </a:r>
            <a:r>
              <a:rPr lang="en-US" altLang="zh-CN" dirty="0" err="1">
                <a:sym typeface="+mn-ea"/>
              </a:rPr>
              <a:t>supernodes</a:t>
            </a:r>
            <a:r>
              <a:rPr lang="en-US" altLang="zh-CN" dirty="0">
                <a:sym typeface="+mn-ea"/>
              </a:rPr>
              <a:t> are on the rise…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730" name="文本框 15"/>
          <p:cNvSpPr txBox="1"/>
          <p:nvPr/>
        </p:nvSpPr>
        <p:spPr>
          <a:xfrm>
            <a:off x="1736536" y="60512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latin typeface="+mj-lt"/>
              </a:rPr>
              <a:t>NVL72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89" name="Picture 2" descr="The NVIDIA Rubin NVL576 Kyber Midplane is Huge - ServeTheHom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130342" y="1972453"/>
            <a:ext cx="2767286" cy="1867918"/>
          </a:xfrm>
          <a:prstGeom prst="rect">
            <a:avLst/>
          </a:prstGeom>
          <a:noFill/>
        </p:spPr>
      </p:pic>
      <p:sp>
        <p:nvSpPr>
          <p:cNvPr id="1048731" name="文本框 19"/>
          <p:cNvSpPr txBox="1"/>
          <p:nvPr/>
        </p:nvSpPr>
        <p:spPr>
          <a:xfrm>
            <a:off x="5004871" y="383906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latin typeface="+mj-lt"/>
              </a:rPr>
              <a:t>NVL576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0" name="Picture 4" descr="AMD Helios - AI Rack Built on Meta's 2025 OCP Design"/>
          <p:cNvPicPr>
            <a:picLocks noChangeAspect="1" noChangeArrowheads="1"/>
          </p:cNvPicPr>
          <p:nvPr/>
        </p:nvPicPr>
        <p:blipFill rotWithShape="1">
          <a:blip r:embed="rId2"/>
          <a:srcRect l="21741" r="25208"/>
          <a:stretch>
            <a:fillRect/>
          </a:stretch>
        </p:blipFill>
        <p:spPr bwMode="auto">
          <a:xfrm>
            <a:off x="7327622" y="1970934"/>
            <a:ext cx="3817186" cy="4047388"/>
          </a:xfrm>
          <a:prstGeom prst="rect">
            <a:avLst/>
          </a:prstGeom>
          <a:noFill/>
        </p:spPr>
      </p:pic>
      <p:sp>
        <p:nvSpPr>
          <p:cNvPr id="1048732" name="文本框 21"/>
          <p:cNvSpPr txBox="1"/>
          <p:nvPr/>
        </p:nvSpPr>
        <p:spPr>
          <a:xfrm>
            <a:off x="8584644" y="6055877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latin typeface="+mj-lt"/>
              </a:rPr>
              <a:t>AMD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Helios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1" name="Picture 6" descr="News] Huawei to Unveil CloudMatrix 384, Rumored to Deliver 2× NVIDIA GB200  NVL72 Throughpu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30341" y="4461724"/>
            <a:ext cx="2767286" cy="1556598"/>
          </a:xfrm>
          <a:prstGeom prst="rect">
            <a:avLst/>
          </a:prstGeom>
          <a:noFill/>
        </p:spPr>
      </p:pic>
      <p:sp>
        <p:nvSpPr>
          <p:cNvPr id="1048733" name="文本框 23"/>
          <p:cNvSpPr txBox="1"/>
          <p:nvPr/>
        </p:nvSpPr>
        <p:spPr>
          <a:xfrm>
            <a:off x="4196957" y="6048466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dirty="0">
                <a:latin typeface="+mj-lt"/>
              </a:rPr>
              <a:t>Huawei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CloudMatrix384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2" name="图片 24"/>
          <p:cNvPicPr>
            <a:picLocks noChangeAspect="1"/>
          </p:cNvPicPr>
          <p:nvPr/>
        </p:nvPicPr>
        <p:blipFill rotWithShape="1">
          <a:blip r:embed="rId4"/>
          <a:srcRect l="15055" r="12829"/>
          <a:stretch>
            <a:fillRect/>
          </a:stretch>
        </p:blipFill>
        <p:spPr>
          <a:xfrm>
            <a:off x="737193" y="1970934"/>
            <a:ext cx="2949262" cy="404738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Mapping LLMs on multiple GPUs/NPU</a:t>
            </a:r>
            <a:r>
              <a:rPr lang="en-US" altLang="zh-CN">
                <a:sym typeface="+mn-ea"/>
              </a:rPr>
              <a:t>s...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Multi-dimension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Parallelisms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5" y="6102350"/>
            <a:ext cx="11277600" cy="619125"/>
          </a:xfrm>
        </p:spPr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https://robotchinwag.com/posts/demystifying-tensor-parallelism/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[2] </a:t>
            </a:r>
            <a:r>
              <a:rPr lang="en-US" altLang="zh-CN" dirty="0">
                <a:sym typeface="+mn-ea"/>
                <a:hlinkClick r:id="rId2"/>
              </a:rPr>
              <a:t>https://docs.nvidia.com/nemo/megatron-bridge/0.2.0/parallelisms.html</a:t>
            </a:r>
            <a:r>
              <a:rPr lang="en-US" altLang="zh-CN" dirty="0">
                <a:sym typeface="+mn-ea"/>
              </a:rPr>
              <a:t> 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[3] </a:t>
            </a:r>
            <a:r>
              <a:rPr lang="en-US" altLang="zh-CN" dirty="0">
                <a:sym typeface="+mn-ea"/>
                <a:hlinkClick r:id="rId3"/>
              </a:rPr>
              <a:t>https://aclanthology.org/2023.acl-long.134.pdf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193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86" y="1681401"/>
            <a:ext cx="3431740" cy="1567161"/>
          </a:xfrm>
          <a:prstGeom prst="rect">
            <a:avLst/>
          </a:prstGeom>
        </p:spPr>
      </p:pic>
      <p:sp>
        <p:nvSpPr>
          <p:cNvPr id="1048738" name="文本框 18"/>
          <p:cNvSpPr txBox="1"/>
          <p:nvPr/>
        </p:nvSpPr>
        <p:spPr>
          <a:xfrm>
            <a:off x="8886390" y="3236656"/>
            <a:ext cx="267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>
                <a:latin typeface="+mj-lt"/>
              </a:rPr>
              <a:t>Expert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Parallelism</a:t>
            </a:r>
            <a:endParaRPr kumimoji="1" lang="zh-CN" altLang="en-US" dirty="0">
              <a:latin typeface="+mj-lt"/>
            </a:endParaRPr>
          </a:p>
        </p:txBody>
      </p:sp>
      <p:pic>
        <p:nvPicPr>
          <p:cNvPr id="2097194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5" y="2330683"/>
            <a:ext cx="8005713" cy="3165844"/>
          </a:xfrm>
          <a:prstGeom prst="rect">
            <a:avLst/>
          </a:prstGeom>
        </p:spPr>
      </p:pic>
      <p:pic>
        <p:nvPicPr>
          <p:cNvPr id="2097195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386" y="3797409"/>
            <a:ext cx="3267530" cy="1930613"/>
          </a:xfrm>
          <a:prstGeom prst="rect">
            <a:avLst/>
          </a:prstGeom>
        </p:spPr>
      </p:pic>
      <p:sp>
        <p:nvSpPr>
          <p:cNvPr id="1048739" name="文本框 25"/>
          <p:cNvSpPr txBox="1"/>
          <p:nvPr/>
        </p:nvSpPr>
        <p:spPr>
          <a:xfrm>
            <a:off x="8886390" y="5712659"/>
            <a:ext cx="267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>
                <a:latin typeface="+mj-lt"/>
              </a:rPr>
              <a:t>Sequence</a:t>
            </a:r>
            <a:r>
              <a:rPr kumimoji="1" lang="zh-CN" altLang="en-US" dirty="0">
                <a:latin typeface="+mj-lt"/>
              </a:rPr>
              <a:t> </a:t>
            </a:r>
            <a:r>
              <a:rPr kumimoji="1" lang="en-US" altLang="zh-CN" dirty="0">
                <a:latin typeface="+mj-lt"/>
              </a:rPr>
              <a:t>Parallelism</a:t>
            </a:r>
            <a:endParaRPr kumimoji="1" lang="zh-CN" altLang="en-US" dirty="0">
              <a:latin typeface="+mj-lt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sym typeface="+mn-ea"/>
              </a:rPr>
              <a:t>Communication</a:t>
            </a:r>
            <a:r>
              <a:rPr sz="3200">
                <a:sym typeface="+mn-ea"/>
              </a:rPr>
              <a:t> </a:t>
            </a:r>
            <a:r>
              <a:rPr lang="en-US" altLang="zh-CN" sz="3200" dirty="0" err="1">
                <a:sym typeface="+mn-ea"/>
              </a:rPr>
              <a:t>datapath</a:t>
            </a:r>
            <a:r>
              <a:rPr lang="en-US" altLang="zh-CN" sz="3200">
                <a:sym typeface="+mn-ea"/>
              </a:rPr>
              <a:t> in the AI systems</a:t>
            </a:r>
            <a:endParaRPr lang="en-US" altLang="zh-CN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Scale-up: NVLINK, HCCS, UnifiedBus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Scale-out: </a:t>
            </a:r>
            <a:r>
              <a:rPr lang="en-US" altLang="zh-CN" dirty="0" err="1">
                <a:sym typeface="+mn-ea"/>
              </a:rPr>
              <a:t>InifiniBand</a:t>
            </a:r>
            <a:r>
              <a:rPr lang="en-US" altLang="zh-CN" dirty="0">
                <a:sym typeface="+mn-ea"/>
              </a:rPr>
              <a:t> (IB), </a:t>
            </a:r>
            <a:r>
              <a:rPr lang="en-US" altLang="zh-CN" dirty="0" err="1">
                <a:sym typeface="+mn-ea"/>
              </a:rPr>
              <a:t>RoCE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https://arxiv.org/html/2507.04786v1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196" name="Picture 2" descr="Refer to cap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73" y="2652237"/>
            <a:ext cx="5418740" cy="3239545"/>
          </a:xfrm>
          <a:prstGeom prst="rect">
            <a:avLst/>
          </a:prstGeom>
          <a:noFill/>
        </p:spPr>
      </p:pic>
      <p:pic>
        <p:nvPicPr>
          <p:cNvPr id="2097197" name="Picture 4" descr="Refer to cap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9505" y="1212215"/>
            <a:ext cx="5276429" cy="4679567"/>
          </a:xfrm>
          <a:prstGeom prst="rect">
            <a:avLst/>
          </a:prstGeom>
          <a:noFill/>
        </p:spPr>
      </p:pic>
      <p:sp>
        <p:nvSpPr>
          <p:cNvPr id="1048744" name="文本框 12"/>
          <p:cNvSpPr txBox="1"/>
          <p:nvPr/>
        </p:nvSpPr>
        <p:spPr>
          <a:xfrm>
            <a:off x="357041" y="5905270"/>
            <a:ext cx="580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>
                <a:latin typeface="+mj-lt"/>
              </a:rPr>
              <a:t>Intra-node GPU communications via NVLINK or PCIe</a:t>
            </a:r>
            <a:endParaRPr kumimoji="1" lang="zh-CN" altLang="en-US" dirty="0">
              <a:latin typeface="+mj-lt"/>
            </a:endParaRPr>
          </a:p>
        </p:txBody>
      </p:sp>
      <p:sp>
        <p:nvSpPr>
          <p:cNvPr id="1048745" name="文本框 13"/>
          <p:cNvSpPr txBox="1"/>
          <p:nvPr/>
        </p:nvSpPr>
        <p:spPr>
          <a:xfrm>
            <a:off x="6552499" y="5884867"/>
            <a:ext cx="5805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>
                <a:latin typeface="+mj-lt"/>
              </a:rPr>
              <a:t>Inter-node communications via RDMA NIC (IB)</a:t>
            </a:r>
            <a:endParaRPr kumimoji="1" lang="zh-CN" altLang="en-US" dirty="0">
              <a:latin typeface="+mj-lt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sym typeface="+mn-ea"/>
              </a:rPr>
              <a:t>Collective</a:t>
            </a:r>
            <a:r>
              <a:rPr sz="3200">
                <a:sym typeface="+mn-ea"/>
              </a:rPr>
              <a:t> </a:t>
            </a:r>
            <a:r>
              <a:rPr lang="en-US" altLang="zh-CN" sz="3200" dirty="0" err="1">
                <a:sym typeface="+mn-ea"/>
              </a:rPr>
              <a:t>v.s</a:t>
            </a:r>
            <a:r>
              <a:rPr lang="en-US" altLang="zh-CN" sz="3200">
                <a:sym typeface="+mn-ea"/>
              </a:rPr>
              <a:t>. Point-to-point communications</a:t>
            </a:r>
            <a:endParaRPr lang="en-US" altLang="zh-CN" sz="32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Collective operations involve communication among a group of processes rather than just between pairs of processes. e.g., </a:t>
            </a:r>
            <a:r>
              <a:rPr lang="en-US" altLang="zh-CN" dirty="0" err="1">
                <a:sym typeface="+mn-ea"/>
              </a:rPr>
              <a:t>AllReduce</a:t>
            </a:r>
            <a:r>
              <a:rPr lang="en-US" altLang="zh-CN" dirty="0">
                <a:sym typeface="+mn-ea"/>
              </a:rPr>
              <a:t>, </a:t>
            </a:r>
            <a:r>
              <a:rPr lang="en-US" altLang="zh-CN" dirty="0" err="1">
                <a:sym typeface="+mn-ea"/>
              </a:rPr>
              <a:t>AllGather</a:t>
            </a:r>
            <a:r>
              <a:rPr lang="en-US" altLang="zh-CN" dirty="0">
                <a:sym typeface="+mn-ea"/>
              </a:rPr>
              <a:t>, Bcast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Point-to-point: Send/</a:t>
            </a:r>
            <a:r>
              <a:rPr lang="en-US" altLang="zh-CN" dirty="0" err="1">
                <a:sym typeface="+mn-ea"/>
              </a:rPr>
              <a:t>Recv</a:t>
            </a:r>
            <a:r>
              <a:rPr lang="en-US" altLang="zh-CN" dirty="0">
                <a:sym typeface="+mn-ea"/>
              </a:rPr>
              <a:t> (Two-side), Put/Get (One-side)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https://developer.nvidia.com/blog/scaling-ai-inference-performance-and-flexibility-with-nvidia-nvlink-and-nvlink-fusion/</a:t>
            </a:r>
            <a:r>
              <a:rPr lang="zh-CN" altLang="en-US" dirty="0">
                <a:sym typeface="+mn-ea"/>
              </a:rPr>
              <a:t> 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[2] </a:t>
            </a:r>
            <a:r>
              <a:rPr lang="en-US" altLang="zh-CN" dirty="0">
                <a:sym typeface="+mn-ea"/>
                <a:hlinkClick r:id="rId2"/>
              </a:rPr>
              <a:t>https://www.hiascend.com/developer/techArticles/20240809-1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19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62850" y="2739080"/>
            <a:ext cx="3464379" cy="3334696"/>
          </a:xfrm>
          <a:prstGeom prst="rect">
            <a:avLst/>
          </a:prstGeom>
          <a:noFill/>
        </p:spPr>
      </p:pic>
      <p:pic>
        <p:nvPicPr>
          <p:cNvPr id="2097199" name="Picture 10" descr="NCCL hardware and software stack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64771" y="3227888"/>
            <a:ext cx="4541317" cy="2306137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Broadcast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</a:t>
            </a:r>
            <a:r>
              <a:rPr lang="en-GB" altLang="zh-CN" dirty="0">
                <a:solidFill>
                  <a:srgbClr val="404040"/>
                </a:solidFill>
                <a:effectLst/>
                <a:cs typeface="Calibri" panose="020F0502020204030204" charset="0"/>
                <a:sym typeface="+mn-ea"/>
              </a:rPr>
              <a:t>copy an N-element buffer from the root rank (2) to all the ranks (0-3).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8758" y="2678339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Reduce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</a:t>
            </a:r>
            <a:r>
              <a:rPr lang="en-GB" altLang="zh-CN" dirty="0">
                <a:solidFill>
                  <a:srgbClr val="404040"/>
                </a:solidFill>
                <a:effectLst/>
                <a:cs typeface="Calibri" panose="020F0502020204030204" charset="0"/>
                <a:sym typeface="+mn-ea"/>
              </a:rPr>
              <a:t>performs reduction on data (for example, sum, min, max) across devices and stores the result in the receive buffer of a specified root rank.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2779486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Gather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</a:t>
            </a:r>
            <a:r>
              <a:rPr lang="en-GB" altLang="zh-CN" dirty="0">
                <a:solidFill>
                  <a:srgbClr val="404040"/>
                </a:solidFill>
                <a:effectLst/>
                <a:cs typeface="Calibri" panose="020F0502020204030204" charset="0"/>
                <a:sym typeface="+mn-ea"/>
              </a:rPr>
              <a:t>gathers N values from k ranks into an output buffer on the root rank of size k*N.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5472" y="266065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Scatter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</a:t>
            </a:r>
            <a:r>
              <a:rPr lang="en-GB" altLang="zh-CN" dirty="0">
                <a:solidFill>
                  <a:srgbClr val="404040"/>
                </a:solidFill>
                <a:effectLst/>
                <a:cs typeface="Calibri" panose="020F0502020204030204" charset="0"/>
                <a:sym typeface="+mn-ea"/>
              </a:rPr>
              <a:t>distributes a total of N*k values from the root rank to k ranks, each rank receiving N values.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2714171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err="1">
                <a:sym typeface="+mn-ea"/>
              </a:rPr>
              <a:t>AllReduce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</a:t>
            </a:r>
            <a:r>
              <a:rPr lang="en-GB" altLang="zh-CN" dirty="0">
                <a:solidFill>
                  <a:srgbClr val="404040"/>
                </a:solidFill>
                <a:effectLst/>
                <a:cs typeface="Calibri" panose="020F0502020204030204" charset="0"/>
                <a:sym typeface="+mn-ea"/>
              </a:rPr>
              <a:t>performs reductions on data (for example, sum, min, max) across devices and stores the result in the receive buffer of every rank.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2768600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err="1">
                <a:sym typeface="+mn-ea"/>
              </a:rPr>
              <a:t>AllGather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Operations: gathers N values from k ranks into an output buffer of size k*N, and distributes that result to all ranks.</a:t>
            </a:r>
            <a:endParaRPr lang="en-US" altLang="zh-CN"/>
          </a:p>
          <a:p>
            <a:pPr lvl="1"/>
            <a:r>
              <a:rPr lang="en-US" altLang="zh-CN"/>
              <a:t>The output is ordered by the rank index. </a:t>
            </a:r>
            <a:endParaRPr lang="en-US" altLang="zh-CN"/>
          </a:p>
          <a:p>
            <a:pPr lvl="1"/>
            <a:r>
              <a:rPr lang="en-US" altLang="zh-CN"/>
              <a:t>This operation is therefore impacted by a different rank to device mapping.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342900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err="1">
                <a:sym typeface="+mn-ea"/>
              </a:rPr>
              <a:t>ReduceScatter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Operations: performs the same operation as Reduce, except that the result is scattered in equal-sized blocks between ranks, each rank getting a chunk of data based on its rank index.</a:t>
            </a:r>
            <a:endParaRPr lang="en-US" altLang="zh-CN"/>
          </a:p>
          <a:p>
            <a:pPr lvl="1"/>
            <a:r>
              <a:rPr lang="en-US" altLang="zh-CN"/>
              <a:t>This operation is therefore impacted by a different rank to device mapping.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3291115"/>
            <a:ext cx="8255000" cy="2540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err="1">
                <a:sym typeface="+mn-ea"/>
              </a:rPr>
              <a:t>AlltoAll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>
                <a:cs typeface="Calibri" panose="020F0502020204030204" charset="0"/>
                <a:sym typeface="+mn-ea"/>
              </a:rPr>
              <a:t>Operations: each rank provides an input buffer of size N values, where the j-</a:t>
            </a:r>
            <a:r>
              <a:rPr lang="en-US" altLang="zh-CN" dirty="0" err="1">
                <a:cs typeface="Calibri" panose="020F0502020204030204" charset="0"/>
                <a:sym typeface="+mn-ea"/>
              </a:rPr>
              <a:t>th</a:t>
            </a:r>
            <a:r>
              <a:rPr lang="en-US" altLang="zh-CN" dirty="0">
                <a:cs typeface="Calibri" panose="020F0502020204030204" charset="0"/>
                <a:sym typeface="+mn-ea"/>
              </a:rPr>
              <a:t> chunk of N/k values is sent to destination rank j. Each rank receives an output buffer of size N values, where the </a:t>
            </a:r>
            <a:r>
              <a:rPr lang="en-US" altLang="zh-CN" dirty="0" err="1">
                <a:cs typeface="Calibri" panose="020F0502020204030204" charset="0"/>
                <a:sym typeface="+mn-ea"/>
              </a:rPr>
              <a:t>i-th</a:t>
            </a:r>
            <a:r>
              <a:rPr lang="en-US" altLang="zh-CN" dirty="0">
                <a:cs typeface="Calibri" panose="020F0502020204030204" charset="0"/>
                <a:sym typeface="+mn-ea"/>
              </a:rPr>
              <a:t> chunk of N/k values comes from source rank </a:t>
            </a:r>
            <a:r>
              <a:rPr lang="en-US" altLang="zh-CN" dirty="0" err="1">
                <a:cs typeface="Calibri" panose="020F0502020204030204" charset="0"/>
                <a:sym typeface="+mn-ea"/>
              </a:rPr>
              <a:t>i</a:t>
            </a:r>
            <a:r>
              <a:rPr lang="en-US" altLang="zh-CN" dirty="0">
                <a:cs typeface="Calibri" panose="020F0502020204030204" charset="0"/>
                <a:sym typeface="+mn-ea"/>
              </a:rPr>
              <a:t>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https://docs.nvidia.com/deeplearning/nccl/user-guide/docs/usage/collectives.html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8500" y="3429000"/>
            <a:ext cx="8255000" cy="26035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cs typeface="Calibri" panose="020F0502020204030204" charset="0"/>
                <a:sym typeface="+mn-ea"/>
              </a:rPr>
              <a:t>Take FSDP (PyTorch) as an example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DP, DDP, FSDP: Data Parallelism, Distributed DP, Fully Sharded DP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What is DP: multiple model copies on different devices.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  <a:hlinkClick r:id="rId1"/>
              </a:rPr>
              <a:t>https://www.uber.com/en-JP/blog/horovod/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0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62" y="3550510"/>
            <a:ext cx="3017980" cy="2471245"/>
          </a:xfrm>
          <a:prstGeom prst="rect">
            <a:avLst/>
          </a:prstGeom>
        </p:spPr>
      </p:pic>
      <p:pic>
        <p:nvPicPr>
          <p:cNvPr id="2097209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891" y="2401669"/>
            <a:ext cx="6218740" cy="4020196"/>
          </a:xfrm>
          <a:prstGeom prst="rect">
            <a:avLst/>
          </a:prstGeom>
        </p:spPr>
      </p:pic>
      <p:pic>
        <p:nvPicPr>
          <p:cNvPr id="2097210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90" y="2629719"/>
            <a:ext cx="4648200" cy="889000"/>
          </a:xfrm>
          <a:prstGeom prst="rect">
            <a:avLst/>
          </a:prstGeom>
        </p:spPr>
      </p:pic>
      <p:sp>
        <p:nvSpPr>
          <p:cNvPr id="1048788" name="矩形 12"/>
          <p:cNvSpPr/>
          <p:nvPr/>
        </p:nvSpPr>
        <p:spPr>
          <a:xfrm>
            <a:off x="8970380" y="2338086"/>
            <a:ext cx="682906" cy="40837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cs typeface="Calibri" panose="020F0502020204030204" charset="0"/>
                <a:sym typeface="+mn-ea"/>
              </a:rPr>
              <a:t>Take FSDP (PyTorch) as an example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DP, DDP, FSDP: Data Parallelism, Distributed DP, Fully Sharded DP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DDP is recommended: optimized all-reduce (ring-based) + distributed support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DP: reduce op is executed on node 0 (imbalance); DDP: ring-based all-reduce.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DDP: robust multi-process support.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[1]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docs.pytorch.org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/docs/stable/notes/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ddp.html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11" name="Picture 2" descr="Distributed Data Parallel — PyTorch 2.8 documentation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994400" y="3120880"/>
            <a:ext cx="6017865" cy="2839680"/>
          </a:xfrm>
          <a:prstGeom prst="rect">
            <a:avLst/>
          </a:prstGeom>
          <a:noFill/>
        </p:spPr>
      </p:pic>
      <p:pic>
        <p:nvPicPr>
          <p:cNvPr id="2097212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980657"/>
            <a:ext cx="5575300" cy="152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cs typeface="Calibri" panose="020F0502020204030204" charset="0"/>
                <a:sym typeface="+mn-ea"/>
              </a:rPr>
              <a:t>Take FSDP (PyTorch) as an example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DP, DDP, FSDP: Data Parallelism, Distributed DP, Fully Sharded DP</a:t>
            </a:r>
            <a:endParaRPr lang="en-US" altLang="zh-CN"/>
          </a:p>
          <a:p>
            <a:r>
              <a:rPr lang="en-US" altLang="zh-CN"/>
              <a:t>Before FSDP, we profile the memory utilization during the LLM training.</a:t>
            </a:r>
            <a:endParaRPr lang="en-US" altLang="zh-CN"/>
          </a:p>
          <a:p>
            <a:pPr lvl="1"/>
            <a:r>
              <a:rPr lang="en-US" altLang="zh-CN"/>
              <a:t>Model params account for only a portion of the </a:t>
            </a:r>
            <a:endParaRPr lang="en-US" altLang="zh-CN"/>
          </a:p>
          <a:p>
            <a:pPr marL="342900" lvl="1" indent="0">
              <a:buNone/>
            </a:pPr>
            <a:r>
              <a:rPr lang="en-US" altLang="zh-CN"/>
              <a:t>   total memory consumption during training.</a:t>
            </a:r>
            <a:endParaRPr lang="en-US" altLang="zh-CN"/>
          </a:p>
          <a:p>
            <a:pPr lvl="1"/>
            <a:r>
              <a:rPr lang="en-US" altLang="zh-CN"/>
              <a:t>We need to consider the optimizer states and</a:t>
            </a:r>
            <a:endParaRPr lang="en-US" altLang="zh-CN"/>
          </a:p>
          <a:p>
            <a:pPr marL="342900" lvl="1" indent="0">
              <a:buNone/>
            </a:pPr>
            <a:r>
              <a:rPr lang="en-US" altLang="zh-CN"/>
              <a:t>    gradients.</a:t>
            </a:r>
            <a:endParaRPr lang="en-US" altLang="zh-CN"/>
          </a:p>
          <a:p>
            <a:r>
              <a:rPr lang="en-US" altLang="zh-CN"/>
              <a:t>Core Idea: removing redundant data.</a:t>
            </a:r>
            <a:endParaRPr lang="en-US" altLang="zh-CN"/>
          </a:p>
          <a:p>
            <a:r>
              <a:rPr lang="en-US" altLang="zh-CN"/>
              <a:t>ZeRO (Zero Redundancy Optimizer).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[1]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docs.pytorch.org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/docs/stable/notes/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ddp.html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56375" y="2352675"/>
            <a:ext cx="5635625" cy="371221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cs typeface="Calibri" panose="020F0502020204030204" charset="0"/>
                <a:sym typeface="+mn-ea"/>
              </a:rPr>
              <a:t>Take FSDP (PyTorch) as an example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DP, DDP, FSDP: Data Parallelism, Distributed DP, Fully Sharded DP</a:t>
            </a:r>
            <a:endParaRPr lang="en-US" altLang="zh-CN"/>
          </a:p>
          <a:p>
            <a:r>
              <a:rPr lang="en-US" altLang="zh-CN"/>
              <a:t>ZeRO with different opt levels:</a:t>
            </a:r>
            <a:endParaRPr lang="en-US" altLang="zh-CN"/>
          </a:p>
          <a:p>
            <a:pPr lvl="1"/>
            <a:r>
              <a:rPr lang="en-US" altLang="zh-CN"/>
              <a:t>ZeRO-1: Shards the optimizer states (Optimizer States Sharding).</a:t>
            </a:r>
            <a:endParaRPr lang="en-US" altLang="zh-CN"/>
          </a:p>
          <a:p>
            <a:pPr lvl="1"/>
            <a:r>
              <a:rPr lang="en-US" altLang="zh-CN"/>
              <a:t>ZeRO-2: Shards both optimizer states and gradients (Optimizer States &amp; Gradients Sharding).</a:t>
            </a:r>
            <a:endParaRPr lang="en-US" altLang="zh-CN"/>
          </a:p>
          <a:p>
            <a:pPr lvl="1"/>
            <a:r>
              <a:rPr lang="en-US" altLang="zh-CN"/>
              <a:t>ZeRO-3: Shards the optimizer states, gradients, and model parameters (Optimizer States &amp; Gradients &amp; Parameters Sharding).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  <a:hlinkClick r:id="rId1"/>
              </a:rPr>
              <a:t>https://docs.pytorch.org/docs/stable/notes/ddp.html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[2] https://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www.youtube.com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/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watch?v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=</a:t>
            </a:r>
            <a:r>
              <a:rPr lang="en-US" altLang="zh-CN" dirty="0" err="1">
                <a:latin typeface="Calibri" panose="020F0502020204030204" charset="0"/>
                <a:cs typeface="Calibri" panose="020F0502020204030204" charset="0"/>
                <a:sym typeface="+mn-ea"/>
              </a:rPr>
              <a:t>czgA-MbAdvA&amp;t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=2550s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9165" y="3581400"/>
            <a:ext cx="6382947" cy="2844971"/>
          </a:xfrm>
          <a:prstGeom prst="rect">
            <a:avLst/>
          </a:prstGeom>
          <a:noFill/>
        </p:spPr>
      </p:pic>
      <p:sp>
        <p:nvSpPr>
          <p:cNvPr id="1048814" name="文本框 9"/>
          <p:cNvSpPr txBox="1"/>
          <p:nvPr/>
        </p:nvSpPr>
        <p:spPr>
          <a:xfrm>
            <a:off x="184644" y="4649942"/>
            <a:ext cx="5735157" cy="707886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/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ZeRO3 will introduce the extra communications</a:t>
            </a:r>
            <a:r>
              <a:rPr kumimoji="1" lang="zh-CN" altLang="en-US" sz="2000" u="sng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1" lang="en-US" altLang="zh-CN" sz="2000" u="sng" dirty="0">
                <a:latin typeface="Calibri" panose="020F0502020204030204" charset="0"/>
                <a:cs typeface="Calibri" panose="020F0502020204030204" charset="0"/>
              </a:rPr>
              <a:t>because of the partitions of model parameters.</a:t>
            </a:r>
            <a:endParaRPr kumimoji="1" lang="en-US" altLang="zh-CN" sz="2000" u="sng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15" name="文本框 11"/>
          <p:cNvSpPr txBox="1"/>
          <p:nvPr/>
        </p:nvSpPr>
        <p:spPr>
          <a:xfrm>
            <a:off x="6086356" y="6344809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GB" altLang="zh-CN" dirty="0">
                <a:latin typeface="Calibri" panose="020F0502020204030204" charset="0"/>
                <a:cs typeface="Calibri" panose="020F0502020204030204" charset="0"/>
              </a:rPr>
              <a:t>K denotes the memory multiplier of the optimizer states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cs typeface="Calibri" panose="020F0502020204030204" charset="0"/>
                <a:sym typeface="+mn-ea"/>
              </a:rPr>
              <a:t>Take FSDP (PyTorch) as an example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DP, DDP, FSDP: Data Parallelism, Distributed DP, Fully Sharded DP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kumimoji="1" lang="en-US" altLang="zh-CN" dirty="0">
                <a:cs typeface="Calibri" panose="020F0502020204030204" charset="0"/>
                <a:sym typeface="+mn-ea"/>
              </a:rPr>
              <a:t>FSDP: </a:t>
            </a:r>
            <a:r>
              <a:rPr kumimoji="1" lang="en-US" altLang="zh-CN" dirty="0" err="1">
                <a:cs typeface="Calibri" panose="020F0502020204030204" charset="0"/>
                <a:sym typeface="+mn-ea"/>
              </a:rPr>
              <a:t>sharding</a:t>
            </a:r>
            <a:r>
              <a:rPr kumimoji="1" lang="en-US" altLang="zh-CN" dirty="0">
                <a:cs typeface="Calibri" panose="020F0502020204030204" charset="0"/>
                <a:sym typeface="+mn-ea"/>
              </a:rPr>
              <a:t> model parameters/gradient/optimizer states for GPU memory reduction (ZeRO3).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[1]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  <a:hlinkClick r:id="rId1"/>
              </a:rPr>
              <a:t>https://docs.pytorch.org/tutorials/intermediate/FSDP_tutorial.html</a:t>
            </a:r>
            <a:endParaRPr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[2] 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  <a:hlinkClick r:id="rId2"/>
              </a:rPr>
              <a:t>https://arxiv.org/abs/2304.11277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15" name="Picture 2" descr="FSDP workflow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9550" y="2788751"/>
            <a:ext cx="7898291" cy="3567600"/>
          </a:xfrm>
          <a:prstGeom prst="rect">
            <a:avLst/>
          </a:prstGeom>
          <a:noFill/>
        </p:spPr>
      </p:pic>
      <p:pic>
        <p:nvPicPr>
          <p:cNvPr id="2097216" name="Picture 4" descr="FSDP all-gather and reduce-scatt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389937" y="3541852"/>
            <a:ext cx="3802063" cy="2087669"/>
          </a:xfrm>
          <a:prstGeom prst="rect">
            <a:avLst/>
          </a:prstGeom>
          <a:noFill/>
        </p:spPr>
      </p:pic>
      <p:sp>
        <p:nvSpPr>
          <p:cNvPr id="1048824" name="文本框 10"/>
          <p:cNvSpPr txBox="1"/>
          <p:nvPr/>
        </p:nvSpPr>
        <p:spPr>
          <a:xfrm>
            <a:off x="8939988" y="5669770"/>
            <a:ext cx="2701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=</a:t>
            </a:r>
            <a:endParaRPr kumimoji="1" lang="en-US" altLang="zh-CN" dirty="0"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Reduce-scatter + all-gather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en-US" altLang="zh-CN" sz="2800">
                <a:sym typeface="+mn-ea"/>
              </a:rPr>
              <a:t>Implementations of collective communication op.s</a:t>
            </a:r>
            <a:endParaRPr kumimoji="1" lang="en-US" altLang="zh-CN" sz="28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https://docs.pytorch.org/tutorials/intermediate/FSDP_tutorial.html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[2] </a:t>
            </a:r>
            <a:r>
              <a:rPr lang="en-US" altLang="zh-CN" dirty="0">
                <a:sym typeface="+mn-ea"/>
                <a:hlinkClick r:id="rId2"/>
              </a:rPr>
              <a:t>https://arxiv.org/abs/2304.11277</a:t>
            </a:r>
            <a:r>
              <a:rPr lang="en-US" altLang="zh-CN" dirty="0"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097217" name="Picture 4" descr="FSDP all-gather and reduce-scatt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0435" y="1343660"/>
            <a:ext cx="3116580" cy="1710690"/>
          </a:xfrm>
          <a:prstGeom prst="rect">
            <a:avLst/>
          </a:prstGeom>
          <a:noFill/>
        </p:spPr>
      </p:pic>
      <p:sp>
        <p:nvSpPr>
          <p:cNvPr id="1048832" name="文本框 12"/>
          <p:cNvSpPr txBox="1"/>
          <p:nvPr/>
        </p:nvSpPr>
        <p:spPr>
          <a:xfrm>
            <a:off x="419100" y="3185795"/>
            <a:ext cx="415988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All-reduce = Reduce-scatter + all-gather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18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554095"/>
            <a:ext cx="3740150" cy="2209800"/>
          </a:xfrm>
          <a:prstGeom prst="rect">
            <a:avLst/>
          </a:prstGeom>
        </p:spPr>
      </p:pic>
      <p:sp>
        <p:nvSpPr>
          <p:cNvPr id="1048833" name="文本框 13"/>
          <p:cNvSpPr txBox="1"/>
          <p:nvPr/>
        </p:nvSpPr>
        <p:spPr>
          <a:xfrm>
            <a:off x="1696085" y="5758180"/>
            <a:ext cx="1605280" cy="3695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Ring All-reduce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125" name="组合 9"/>
          <p:cNvGrpSpPr/>
          <p:nvPr/>
        </p:nvGrpSpPr>
        <p:grpSpPr>
          <a:xfrm>
            <a:off x="7463155" y="1343025"/>
            <a:ext cx="3740150" cy="1960880"/>
            <a:chOff x="8073488" y="2124816"/>
            <a:chExt cx="3594638" cy="1817234"/>
          </a:xfrm>
        </p:grpSpPr>
        <p:pic>
          <p:nvPicPr>
            <p:cNvPr id="2097219" name="Picture 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8073488" y="2124816"/>
              <a:ext cx="3594638" cy="1817234"/>
            </a:xfrm>
            <a:prstGeom prst="rect">
              <a:avLst/>
            </a:prstGeom>
            <a:noFill/>
          </p:spPr>
        </p:pic>
        <p:sp>
          <p:nvSpPr>
            <p:cNvPr id="1048834" name="矩形 6"/>
            <p:cNvSpPr/>
            <p:nvPr/>
          </p:nvSpPr>
          <p:spPr>
            <a:xfrm>
              <a:off x="11008360" y="2153920"/>
              <a:ext cx="619760" cy="10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kumimoji="1" lang="zh-CN" altLang="en-US"/>
            </a:p>
          </p:txBody>
        </p:sp>
      </p:grpSp>
      <p:sp>
        <p:nvSpPr>
          <p:cNvPr id="1048835" name="文本框 17"/>
          <p:cNvSpPr txBox="1"/>
          <p:nvPr/>
        </p:nvSpPr>
        <p:spPr>
          <a:xfrm>
            <a:off x="7960995" y="3322320"/>
            <a:ext cx="2744470" cy="3695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NVIDIA GPU CLOS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097220" name="Picture 4" descr="Huawei Presents UB-Mesh Interconnect for Large AI SuperNodes at Hot Chips  2025 - ServeTheHom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69175" y="3710305"/>
            <a:ext cx="3928110" cy="2209800"/>
          </a:xfrm>
          <a:prstGeom prst="rect">
            <a:avLst/>
          </a:prstGeom>
          <a:noFill/>
        </p:spPr>
      </p:pic>
      <p:sp>
        <p:nvSpPr>
          <p:cNvPr id="1048836" name="文本框 19"/>
          <p:cNvSpPr txBox="1"/>
          <p:nvPr/>
        </p:nvSpPr>
        <p:spPr>
          <a:xfrm>
            <a:off x="7680325" y="5759450"/>
            <a:ext cx="3305810" cy="369570"/>
          </a:xfrm>
          <a:prstGeom prst="rect">
            <a:avLst/>
          </a:prstGeom>
          <a:noFill/>
        </p:spPr>
        <p:txBody>
          <a:bodyPr wrap="none" rtlCol="0">
            <a:noAutofit/>
          </a:bodyPr>
          <a:p>
            <a:pPr algn="ctr"/>
            <a:r>
              <a:rPr kumimoji="1" lang="en-US" altLang="zh-CN" dirty="0">
                <a:latin typeface="Calibri" panose="020F0502020204030204" charset="0"/>
                <a:cs typeface="Calibri" panose="020F0502020204030204" charset="0"/>
              </a:rPr>
              <a:t>HUAWEI NPU Full-mesh Topology</a:t>
            </a:r>
            <a:endParaRPr kumimoji="1"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837" name="文本框 14"/>
          <p:cNvSpPr txBox="1"/>
          <p:nvPr/>
        </p:nvSpPr>
        <p:spPr>
          <a:xfrm>
            <a:off x="4554220" y="2737485"/>
            <a:ext cx="2744470" cy="1826260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noAutofit/>
          </a:bodyPr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/>
          </a:p>
          <a:p>
            <a:pPr algn="ctr"/>
            <a:endParaRPr kumimoji="1" lang="zh-CN" altLang="en-US" dirty="0"/>
          </a:p>
        </p:txBody>
      </p:sp>
      <p:sp>
        <p:nvSpPr>
          <p:cNvPr id="1048838" name="文本框 22"/>
          <p:cNvSpPr txBox="1"/>
          <p:nvPr/>
        </p:nvSpPr>
        <p:spPr>
          <a:xfrm>
            <a:off x="2921635" y="3075940"/>
            <a:ext cx="6109335" cy="92329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algn="ctr"/>
            <a:r>
              <a:rPr kumimoji="1" lang="en-US" altLang="zh-CN" dirty="0"/>
              <a:t>The implementations 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highly depends on </a:t>
            </a:r>
            <a:endParaRPr kumimoji="1" lang="en-US" altLang="zh-CN" dirty="0"/>
          </a:p>
          <a:p>
            <a:pPr algn="ctr"/>
            <a:r>
              <a:rPr kumimoji="1" lang="en-US" altLang="zh-CN" dirty="0"/>
              <a:t>the hardware topology  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kumimoji="1" lang="en-US" altLang="zh-CN">
                <a:sym typeface="+mn-ea"/>
              </a:rPr>
              <a:t>Topologies in the modern AI systems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[1] </a:t>
            </a:r>
            <a:r>
              <a:rPr lang="en-US" altLang="zh-CN" dirty="0">
                <a:sym typeface="+mn-ea"/>
                <a:hlinkClick r:id="rId1"/>
              </a:rPr>
              <a:t>https://ieeexplore.ieee.org/document/6337589/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34" name="组合 15"/>
          <p:cNvGrpSpPr/>
          <p:nvPr/>
        </p:nvGrpSpPr>
        <p:grpSpPr>
          <a:xfrm>
            <a:off x="1253472" y="1275212"/>
            <a:ext cx="9166321" cy="4938480"/>
            <a:chOff x="2045952" y="1283851"/>
            <a:chExt cx="9166321" cy="4938480"/>
          </a:xfrm>
        </p:grpSpPr>
        <p:grpSp>
          <p:nvGrpSpPr>
            <p:cNvPr id="135" name="组合 9"/>
            <p:cNvGrpSpPr/>
            <p:nvPr/>
          </p:nvGrpSpPr>
          <p:grpSpPr>
            <a:xfrm>
              <a:off x="2140069" y="1336130"/>
              <a:ext cx="3740149" cy="1960850"/>
              <a:chOff x="8073488" y="2124816"/>
              <a:chExt cx="3594638" cy="1817234"/>
            </a:xfrm>
          </p:grpSpPr>
          <p:pic>
            <p:nvPicPr>
              <p:cNvPr id="2097225" name="Picture 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8073488" y="2124816"/>
                <a:ext cx="3594638" cy="1817234"/>
              </a:xfrm>
              <a:prstGeom prst="rect">
                <a:avLst/>
              </a:prstGeom>
              <a:noFill/>
            </p:spPr>
          </p:pic>
          <p:sp>
            <p:nvSpPr>
              <p:cNvPr id="1048861" name="矩形 6"/>
              <p:cNvSpPr/>
              <p:nvPr/>
            </p:nvSpPr>
            <p:spPr>
              <a:xfrm>
                <a:off x="11008360" y="2153920"/>
                <a:ext cx="619760" cy="101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kumimoji="1" lang="zh-CN" altLang="en-US"/>
              </a:p>
            </p:txBody>
          </p:sp>
        </p:grpSp>
        <p:sp>
          <p:nvSpPr>
            <p:cNvPr id="1048862" name="文本框 17"/>
            <p:cNvSpPr txBox="1"/>
            <p:nvPr/>
          </p:nvSpPr>
          <p:spPr>
            <a:xfrm>
              <a:off x="7825972" y="3246334"/>
              <a:ext cx="2878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GOOGLE TPU Torus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6" name="Picture 4" descr="Huawei Presents UB-Mesh Interconnect for Large AI SuperNodes at Hot Chips  2025 - ServeTheHome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045952" y="3703644"/>
              <a:ext cx="3928383" cy="2209716"/>
            </a:xfrm>
            <a:prstGeom prst="rect">
              <a:avLst/>
            </a:prstGeom>
            <a:noFill/>
          </p:spPr>
        </p:pic>
        <p:sp>
          <p:nvSpPr>
            <p:cNvPr id="1048863" name="文本框 19"/>
            <p:cNvSpPr txBox="1"/>
            <p:nvPr/>
          </p:nvSpPr>
          <p:spPr>
            <a:xfrm>
              <a:off x="2357287" y="5752391"/>
              <a:ext cx="3305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HUAWEI NPU Full-mesh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7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8023" y="1283851"/>
              <a:ext cx="3894250" cy="2013129"/>
            </a:xfrm>
            <a:prstGeom prst="rect">
              <a:avLst/>
            </a:prstGeom>
          </p:spPr>
        </p:pic>
        <p:sp>
          <p:nvSpPr>
            <p:cNvPr id="1048864" name="文本框 20"/>
            <p:cNvSpPr txBox="1"/>
            <p:nvPr/>
          </p:nvSpPr>
          <p:spPr>
            <a:xfrm>
              <a:off x="2680131" y="3296980"/>
              <a:ext cx="2660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NVIDIA GPU Clos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  <p:pic>
          <p:nvPicPr>
            <p:cNvPr id="2097228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51081" y="3615666"/>
              <a:ext cx="2978023" cy="2250947"/>
            </a:xfrm>
            <a:prstGeom prst="rect">
              <a:avLst/>
            </a:prstGeom>
          </p:spPr>
        </p:pic>
        <p:sp>
          <p:nvSpPr>
            <p:cNvPr id="1048865" name="文本框 21"/>
            <p:cNvSpPr txBox="1"/>
            <p:nvPr/>
          </p:nvSpPr>
          <p:spPr>
            <a:xfrm>
              <a:off x="8270807" y="5852999"/>
              <a:ext cx="1988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kumimoji="1" lang="en-US" altLang="zh-CN" dirty="0">
                  <a:latin typeface="Calibri" panose="020F0502020204030204" charset="0"/>
                  <a:cs typeface="Calibri" panose="020F0502020204030204" charset="0"/>
                </a:rPr>
                <a:t>Dragonfly Topology</a:t>
              </a:r>
              <a:endParaRPr kumimoji="1" lang="zh-CN" altLang="en-US" dirty="0"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87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8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872" name="内容占位符 4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7991475" cy="4853305"/>
          </a:xfrm>
        </p:spPr>
        <p:txBody>
          <a:bodyPr>
            <a:normAutofit lnSpcReduction="10000"/>
          </a:bodyPr>
          <a:p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a naive implementation with root rank = 0.</a:t>
            </a:r>
            <a:endParaRPr lang="en-US" altLang="zh-CN" dirty="0"/>
          </a:p>
          <a:p>
            <a:pPr lvl="1"/>
            <a:r>
              <a:rPr lang="en-US" altLang="zh-CN" dirty="0"/>
              <a:t>Data transfer volume: 2 * (N-1) * K</a:t>
            </a:r>
            <a:endParaRPr lang="en-US" altLang="zh-CN" dirty="0"/>
          </a:p>
          <a:p>
            <a:r>
              <a:rPr lang="en-US" altLang="zh-CN" dirty="0"/>
              <a:t>There are three disadvantages</a:t>
            </a:r>
            <a:endParaRPr lang="en-US" altLang="zh-CN" dirty="0"/>
          </a:p>
          <a:p>
            <a:pPr lvl="1"/>
            <a:r>
              <a:rPr lang="en-US" altLang="zh-CN" dirty="0"/>
              <a:t>The bandwidth and computation of Rank 0 become bottleneck.</a:t>
            </a:r>
            <a:endParaRPr lang="en-US" altLang="zh-CN" dirty="0"/>
          </a:p>
          <a:p>
            <a:pPr lvl="1"/>
            <a:r>
              <a:rPr lang="en-US" altLang="zh-CN" dirty="0"/>
              <a:t>There are many idle resources during the </a:t>
            </a:r>
            <a:r>
              <a:rPr lang="en-US" altLang="zh-CN" dirty="0" err="1"/>
              <a:t>allreduce</a:t>
            </a:r>
            <a:r>
              <a:rPr lang="en-US" altLang="zh-CN" dirty="0"/>
              <a:t> (Rank 1 – N-1).</a:t>
            </a:r>
            <a:endParaRPr lang="en-US" altLang="zh-CN" dirty="0"/>
          </a:p>
          <a:p>
            <a:pPr lvl="1"/>
            <a:r>
              <a:rPr lang="en-US" altLang="zh-CN" dirty="0"/>
              <a:t>Poor scalability and lacks the consideration of topology.</a:t>
            </a:r>
            <a:endParaRPr lang="en-US" altLang="zh-CN" dirty="0"/>
          </a:p>
          <a:p>
            <a:r>
              <a:rPr lang="en-US" altLang="zh-CN" dirty="0"/>
              <a:t>How can we improve it?</a:t>
            </a:r>
            <a:endParaRPr lang="en-US" altLang="zh-CN" dirty="0"/>
          </a:p>
          <a:p>
            <a:pPr lvl="1"/>
            <a:r>
              <a:rPr lang="en-US" altLang="zh-CN" dirty="0"/>
              <a:t>Scatter the data transfer and computation</a:t>
            </a:r>
            <a:r>
              <a:rPr lang="zh-CN" altLang="en-US" dirty="0"/>
              <a:t> </a:t>
            </a:r>
            <a:r>
              <a:rPr lang="en-US" altLang="zh-CN" dirty="0"/>
              <a:t>workload to all of the ranks.</a:t>
            </a:r>
            <a:endParaRPr lang="en-US" altLang="zh-CN" dirty="0"/>
          </a:p>
          <a:p>
            <a:r>
              <a:rPr lang="en-US" altLang="zh-CN" dirty="0"/>
              <a:t>Solutions:</a:t>
            </a:r>
            <a:endParaRPr lang="en-US" altLang="zh-CN" dirty="0"/>
          </a:p>
          <a:p>
            <a:pPr lvl="1"/>
            <a:r>
              <a:rPr lang="en-US" altLang="zh-CN" dirty="0"/>
              <a:t>Tree-based, ring-based, halving-doubling, etc.</a:t>
            </a:r>
            <a:endParaRPr lang="en-US" altLang="zh-CN" dirty="0"/>
          </a:p>
        </p:txBody>
      </p:sp>
      <p:pic>
        <p:nvPicPr>
          <p:cNvPr id="209722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5217" y="1402079"/>
            <a:ext cx="3581217" cy="38713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87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8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879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  <a:endParaRPr lang="en-US" altLang="zh-CN" dirty="0"/>
          </a:p>
          <a:p>
            <a:pPr lvl="1"/>
            <a:r>
              <a:rPr lang="en-US" altLang="zh-CN" dirty="0"/>
              <a:t>Stage 1: Bottom-up Reduce</a:t>
            </a:r>
            <a:endParaRPr lang="en-US" altLang="zh-CN" dirty="0"/>
          </a:p>
          <a:p>
            <a:pPr lvl="1"/>
            <a:r>
              <a:rPr lang="en-US" altLang="zh-CN" dirty="0"/>
              <a:t>Stage 2: Top-down Broadcast</a:t>
            </a:r>
            <a:endParaRPr lang="en-US" altLang="zh-CN" dirty="0"/>
          </a:p>
        </p:txBody>
      </p:sp>
      <p:pic>
        <p:nvPicPr>
          <p:cNvPr id="2097230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  <p:sp>
        <p:nvSpPr>
          <p:cNvPr id="1048880" name="矩形 6"/>
          <p:cNvSpPr/>
          <p:nvPr/>
        </p:nvSpPr>
        <p:spPr>
          <a:xfrm>
            <a:off x="110716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048881" name="矩形 8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882" name="矩形 9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883" name="矩形 10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884" name="矩形 11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1048885" name="矩形 12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886" name="矩形 13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887" name="矩形 14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28" name="曲线连接符 16"/>
          <p:cNvCxnSpPr>
            <a:stCxn id="1048881" idx="2"/>
            <a:endCxn id="1048880" idx="2"/>
          </p:cNvCxnSpPr>
          <p:nvPr/>
        </p:nvCxnSpPr>
        <p:spPr>
          <a:xfrm rot="5400000">
            <a:off x="1969660" y="3251752"/>
            <a:ext cx="12700" cy="86249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曲线连接符 17"/>
          <p:cNvCxnSpPr>
            <a:stCxn id="1048883" idx="2"/>
            <a:endCxn id="1048882" idx="2"/>
          </p:cNvCxnSpPr>
          <p:nvPr/>
        </p:nvCxnSpPr>
        <p:spPr>
          <a:xfrm rot="5400000">
            <a:off x="3697054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0" name="曲线连接符 20"/>
          <p:cNvCxnSpPr>
            <a:stCxn id="1048885" idx="2"/>
            <a:endCxn id="1048884" idx="2"/>
          </p:cNvCxnSpPr>
          <p:nvPr/>
        </p:nvCxnSpPr>
        <p:spPr>
          <a:xfrm rot="5400000">
            <a:off x="5412438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1" name="曲线连接符 23"/>
          <p:cNvCxnSpPr>
            <a:stCxn id="1048887" idx="2"/>
            <a:endCxn id="1048886" idx="2"/>
          </p:cNvCxnSpPr>
          <p:nvPr/>
        </p:nvCxnSpPr>
        <p:spPr>
          <a:xfrm rot="5400000">
            <a:off x="7127822" y="3254154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8" name="矩形 26"/>
          <p:cNvSpPr/>
          <p:nvPr/>
        </p:nvSpPr>
        <p:spPr>
          <a:xfrm>
            <a:off x="1107164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0+1</a:t>
            </a:r>
            <a:endParaRPr kumimoji="1" lang="zh-CN" altLang="en-US" dirty="0"/>
          </a:p>
        </p:txBody>
      </p:sp>
      <p:sp>
        <p:nvSpPr>
          <p:cNvPr id="1048889" name="矩形 27"/>
          <p:cNvSpPr/>
          <p:nvPr/>
        </p:nvSpPr>
        <p:spPr>
          <a:xfrm>
            <a:off x="196966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890" name="矩形 28"/>
          <p:cNvSpPr/>
          <p:nvPr/>
        </p:nvSpPr>
        <p:spPr>
          <a:xfrm>
            <a:off x="283696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891" name="矩形 29"/>
          <p:cNvSpPr/>
          <p:nvPr/>
        </p:nvSpPr>
        <p:spPr>
          <a:xfrm>
            <a:off x="3694652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892" name="矩形 30"/>
          <p:cNvSpPr/>
          <p:nvPr/>
        </p:nvSpPr>
        <p:spPr>
          <a:xfrm>
            <a:off x="4552344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4+5</a:t>
            </a:r>
            <a:endParaRPr kumimoji="1" lang="zh-CN" altLang="en-US" dirty="0"/>
          </a:p>
        </p:txBody>
      </p:sp>
      <p:sp>
        <p:nvSpPr>
          <p:cNvPr id="1048893" name="矩形 31"/>
          <p:cNvSpPr/>
          <p:nvPr/>
        </p:nvSpPr>
        <p:spPr>
          <a:xfrm>
            <a:off x="5410036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894" name="矩形 32"/>
          <p:cNvSpPr/>
          <p:nvPr/>
        </p:nvSpPr>
        <p:spPr>
          <a:xfrm>
            <a:off x="6267728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895" name="矩形 33"/>
          <p:cNvSpPr/>
          <p:nvPr/>
        </p:nvSpPr>
        <p:spPr>
          <a:xfrm>
            <a:off x="7125420" y="415036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2" name="曲线连接符 34"/>
          <p:cNvCxnSpPr>
            <a:stCxn id="1048890" idx="2"/>
            <a:endCxn id="1048888" idx="2"/>
          </p:cNvCxnSpPr>
          <p:nvPr/>
        </p:nvCxnSpPr>
        <p:spPr>
          <a:xfrm rot="5400000">
            <a:off x="2403310" y="3539462"/>
            <a:ext cx="12700" cy="172979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3" name="曲线连接符 36"/>
          <p:cNvCxnSpPr>
            <a:stCxn id="1048894" idx="2"/>
            <a:endCxn id="1048892" idx="2"/>
          </p:cNvCxnSpPr>
          <p:nvPr/>
        </p:nvCxnSpPr>
        <p:spPr>
          <a:xfrm rot="5400000">
            <a:off x="5841284" y="3546668"/>
            <a:ext cx="12700" cy="17153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6" name="文本框 40"/>
          <p:cNvSpPr txBox="1"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/>
              <a:t>Rank 0            </a:t>
            </a:r>
            <a:endParaRPr kumimoji="1" lang="zh-CN" altLang="en-US" dirty="0"/>
          </a:p>
        </p:txBody>
      </p:sp>
      <p:sp>
        <p:nvSpPr>
          <p:cNvPr id="1048897" name="文本框 41"/>
          <p:cNvSpPr txBox="1"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/>
              <a:t>Rank 7            </a:t>
            </a:r>
            <a:endParaRPr kumimoji="1" lang="zh-CN" altLang="en-US" dirty="0"/>
          </a:p>
        </p:txBody>
      </p:sp>
      <p:sp>
        <p:nvSpPr>
          <p:cNvPr id="1048898" name="文本框 42"/>
          <p:cNvSpPr txBox="1"/>
          <p:nvPr/>
        </p:nvSpPr>
        <p:spPr>
          <a:xfrm>
            <a:off x="-28704" y="4586495"/>
            <a:ext cx="1040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dirty="0"/>
              <a:t>S1 Reduce</a:t>
            </a:r>
            <a:endParaRPr kumimoji="1" lang="zh-CN" altLang="en-US" dirty="0"/>
          </a:p>
        </p:txBody>
      </p:sp>
      <p:sp>
        <p:nvSpPr>
          <p:cNvPr id="1048899" name="矩形 43"/>
          <p:cNvSpPr/>
          <p:nvPr/>
        </p:nvSpPr>
        <p:spPr>
          <a:xfrm>
            <a:off x="1102360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0+1+2+3</a:t>
            </a:r>
            <a:endParaRPr kumimoji="1" lang="zh-CN" altLang="en-US" sz="1200" dirty="0"/>
          </a:p>
        </p:txBody>
      </p:sp>
      <p:sp>
        <p:nvSpPr>
          <p:cNvPr id="1048900" name="矩形 44"/>
          <p:cNvSpPr/>
          <p:nvPr/>
        </p:nvSpPr>
        <p:spPr>
          <a:xfrm>
            <a:off x="196485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01" name="矩形 45"/>
          <p:cNvSpPr/>
          <p:nvPr/>
        </p:nvSpPr>
        <p:spPr>
          <a:xfrm>
            <a:off x="283215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902" name="矩形 46"/>
          <p:cNvSpPr/>
          <p:nvPr/>
        </p:nvSpPr>
        <p:spPr>
          <a:xfrm>
            <a:off x="3689848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03" name="矩形 47"/>
          <p:cNvSpPr/>
          <p:nvPr/>
        </p:nvSpPr>
        <p:spPr>
          <a:xfrm>
            <a:off x="4547540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4+5+6+7</a:t>
            </a:r>
            <a:endParaRPr kumimoji="1" lang="zh-CN" altLang="en-US" sz="1200" dirty="0"/>
          </a:p>
        </p:txBody>
      </p:sp>
      <p:sp>
        <p:nvSpPr>
          <p:cNvPr id="1048904" name="矩形 48"/>
          <p:cNvSpPr/>
          <p:nvPr/>
        </p:nvSpPr>
        <p:spPr>
          <a:xfrm>
            <a:off x="5405232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05" name="矩形 49"/>
          <p:cNvSpPr/>
          <p:nvPr/>
        </p:nvSpPr>
        <p:spPr>
          <a:xfrm>
            <a:off x="6262924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906" name="矩形 50"/>
          <p:cNvSpPr/>
          <p:nvPr/>
        </p:nvSpPr>
        <p:spPr>
          <a:xfrm>
            <a:off x="7120616" y="490966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4" name="曲线连接符 51"/>
          <p:cNvCxnSpPr>
            <a:stCxn id="1048903" idx="2"/>
            <a:endCxn id="1048899" idx="2"/>
          </p:cNvCxnSpPr>
          <p:nvPr/>
        </p:nvCxnSpPr>
        <p:spPr>
          <a:xfrm rot="5400000">
            <a:off x="3256198" y="3441071"/>
            <a:ext cx="12700" cy="344518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07" name="矩形 54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08" name="矩形 55"/>
          <p:cNvSpPr/>
          <p:nvPr/>
        </p:nvSpPr>
        <p:spPr>
          <a:xfrm>
            <a:off x="196485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09" name="矩形 56"/>
          <p:cNvSpPr/>
          <p:nvPr/>
        </p:nvSpPr>
        <p:spPr>
          <a:xfrm>
            <a:off x="283215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2+3</a:t>
            </a:r>
            <a:endParaRPr kumimoji="1" lang="zh-CN" altLang="en-US" dirty="0"/>
          </a:p>
        </p:txBody>
      </p:sp>
      <p:sp>
        <p:nvSpPr>
          <p:cNvPr id="1048910" name="矩形 57"/>
          <p:cNvSpPr/>
          <p:nvPr/>
        </p:nvSpPr>
        <p:spPr>
          <a:xfrm>
            <a:off x="3689848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11" name="矩形 58"/>
          <p:cNvSpPr/>
          <p:nvPr/>
        </p:nvSpPr>
        <p:spPr>
          <a:xfrm>
            <a:off x="4547540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4+5+6+7</a:t>
            </a:r>
            <a:endParaRPr kumimoji="1" lang="zh-CN" altLang="en-US" sz="1200" dirty="0"/>
          </a:p>
        </p:txBody>
      </p:sp>
      <p:sp>
        <p:nvSpPr>
          <p:cNvPr id="1048912" name="矩形 59"/>
          <p:cNvSpPr/>
          <p:nvPr/>
        </p:nvSpPr>
        <p:spPr>
          <a:xfrm>
            <a:off x="5405232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13" name="矩形 60"/>
          <p:cNvSpPr/>
          <p:nvPr/>
        </p:nvSpPr>
        <p:spPr>
          <a:xfrm>
            <a:off x="6262924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6+7</a:t>
            </a:r>
            <a:endParaRPr kumimoji="1" lang="zh-CN" altLang="en-US" dirty="0"/>
          </a:p>
        </p:txBody>
      </p:sp>
      <p:sp>
        <p:nvSpPr>
          <p:cNvPr id="1048914" name="矩形 61"/>
          <p:cNvSpPr/>
          <p:nvPr/>
        </p:nvSpPr>
        <p:spPr>
          <a:xfrm>
            <a:off x="7120616" y="5661025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1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21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  <a:endParaRPr lang="en-US" altLang="zh-CN" dirty="0"/>
          </a:p>
          <a:p>
            <a:pPr lvl="1"/>
            <a:r>
              <a:rPr lang="en-US" altLang="zh-CN" dirty="0"/>
              <a:t>Stage 1: Bottom-up Reduce</a:t>
            </a:r>
            <a:endParaRPr lang="en-US" altLang="zh-CN" dirty="0"/>
          </a:p>
          <a:p>
            <a:pPr lvl="1"/>
            <a:r>
              <a:rPr lang="en-US" altLang="zh-CN" dirty="0"/>
              <a:t>Stage 2: Top-down Broadcast</a:t>
            </a:r>
            <a:endParaRPr lang="en-US" altLang="zh-CN" dirty="0"/>
          </a:p>
        </p:txBody>
      </p:sp>
      <p:pic>
        <p:nvPicPr>
          <p:cNvPr id="2097231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  <p:sp>
        <p:nvSpPr>
          <p:cNvPr id="1048922" name="矩形 8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23" name="矩形 9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924" name="矩形 10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25" name="矩形 11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1048926" name="矩形 12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27" name="矩形 13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928" name="矩形 14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sp>
        <p:nvSpPr>
          <p:cNvPr id="1048929" name="文本框 40"/>
          <p:cNvSpPr txBox="1"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/>
              <a:t>Rank 0            </a:t>
            </a:r>
            <a:endParaRPr kumimoji="1" lang="zh-CN" altLang="en-US" dirty="0"/>
          </a:p>
        </p:txBody>
      </p:sp>
      <p:sp>
        <p:nvSpPr>
          <p:cNvPr id="1048930" name="文本框 41"/>
          <p:cNvSpPr txBox="1"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dirty="0"/>
              <a:t>Rank 7            </a:t>
            </a:r>
            <a:endParaRPr kumimoji="1" lang="zh-CN" altLang="en-US" dirty="0"/>
          </a:p>
        </p:txBody>
      </p:sp>
      <p:sp>
        <p:nvSpPr>
          <p:cNvPr id="1048931" name="文本框 42"/>
          <p:cNvSpPr txBox="1"/>
          <p:nvPr/>
        </p:nvSpPr>
        <p:spPr>
          <a:xfrm>
            <a:off x="-82861" y="4603248"/>
            <a:ext cx="1240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dirty="0"/>
              <a:t>S2 Broadcast</a:t>
            </a:r>
            <a:endParaRPr kumimoji="1" lang="zh-CN" altLang="en-US" dirty="0"/>
          </a:p>
        </p:txBody>
      </p:sp>
      <p:cxnSp>
        <p:nvCxnSpPr>
          <p:cNvPr id="3145735" name="曲线连接符 51"/>
          <p:cNvCxnSpPr>
            <a:stCxn id="1048933" idx="2"/>
            <a:endCxn id="1048925" idx="2"/>
          </p:cNvCxnSpPr>
          <p:nvPr/>
        </p:nvCxnSpPr>
        <p:spPr>
          <a:xfrm rot="16200000" flipH="1">
            <a:off x="3258600" y="1958008"/>
            <a:ext cx="12700" cy="3449984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32" name="矩形 54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33" name="矩形 52"/>
          <p:cNvSpPr/>
          <p:nvPr/>
        </p:nvSpPr>
        <p:spPr>
          <a:xfrm>
            <a:off x="1102360" y="3429000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34" name="矩形 53"/>
          <p:cNvSpPr/>
          <p:nvPr/>
        </p:nvSpPr>
        <p:spPr>
          <a:xfrm>
            <a:off x="196485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35" name="矩形 62"/>
          <p:cNvSpPr/>
          <p:nvPr/>
        </p:nvSpPr>
        <p:spPr>
          <a:xfrm>
            <a:off x="283215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048936" name="矩形 63"/>
          <p:cNvSpPr/>
          <p:nvPr/>
        </p:nvSpPr>
        <p:spPr>
          <a:xfrm>
            <a:off x="3689848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37" name="矩形 65"/>
          <p:cNvSpPr/>
          <p:nvPr/>
        </p:nvSpPr>
        <p:spPr>
          <a:xfrm>
            <a:off x="5405232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38" name="矩形 66"/>
          <p:cNvSpPr/>
          <p:nvPr/>
        </p:nvSpPr>
        <p:spPr>
          <a:xfrm>
            <a:off x="6262924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6</a:t>
            </a:r>
            <a:endParaRPr kumimoji="1" lang="zh-CN" altLang="en-US" dirty="0"/>
          </a:p>
        </p:txBody>
      </p:sp>
      <p:sp>
        <p:nvSpPr>
          <p:cNvPr id="1048939" name="矩形 67"/>
          <p:cNvSpPr/>
          <p:nvPr/>
        </p:nvSpPr>
        <p:spPr>
          <a:xfrm>
            <a:off x="7120616" y="4157827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6" name="曲线连接符 68"/>
          <p:cNvCxnSpPr>
            <a:stCxn id="1048940" idx="2"/>
            <a:endCxn id="1048935" idx="2"/>
          </p:cNvCxnSpPr>
          <p:nvPr/>
        </p:nvCxnSpPr>
        <p:spPr>
          <a:xfrm rot="16200000" flipH="1">
            <a:off x="2396104" y="3544527"/>
            <a:ext cx="12700" cy="17346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0" name="矩形 69"/>
          <p:cNvSpPr/>
          <p:nvPr/>
        </p:nvSpPr>
        <p:spPr>
          <a:xfrm>
            <a:off x="1097556" y="4157827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1" name="矩形 70"/>
          <p:cNvSpPr/>
          <p:nvPr/>
        </p:nvSpPr>
        <p:spPr>
          <a:xfrm>
            <a:off x="4556292" y="4157827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cxnSp>
        <p:nvCxnSpPr>
          <p:cNvPr id="3145737" name="曲线连接符 71"/>
          <p:cNvCxnSpPr>
            <a:stCxn id="1048941" idx="2"/>
            <a:endCxn id="1048938" idx="2"/>
          </p:cNvCxnSpPr>
          <p:nvPr/>
        </p:nvCxnSpPr>
        <p:spPr>
          <a:xfrm rot="16200000" flipH="1">
            <a:off x="5840856" y="3558511"/>
            <a:ext cx="12700" cy="170663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2" name="矩形 72"/>
          <p:cNvSpPr/>
          <p:nvPr/>
        </p:nvSpPr>
        <p:spPr>
          <a:xfrm>
            <a:off x="1971206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48943" name="矩形 73"/>
          <p:cNvSpPr/>
          <p:nvPr/>
        </p:nvSpPr>
        <p:spPr>
          <a:xfrm>
            <a:off x="2838506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4" name="矩形 74"/>
          <p:cNvSpPr/>
          <p:nvPr/>
        </p:nvSpPr>
        <p:spPr>
          <a:xfrm>
            <a:off x="3696198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1048945" name="矩形 75"/>
          <p:cNvSpPr/>
          <p:nvPr/>
        </p:nvSpPr>
        <p:spPr>
          <a:xfrm>
            <a:off x="5411582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1048946" name="矩形 76"/>
          <p:cNvSpPr/>
          <p:nvPr/>
        </p:nvSpPr>
        <p:spPr>
          <a:xfrm>
            <a:off x="6269274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7" name="矩形 77"/>
          <p:cNvSpPr/>
          <p:nvPr/>
        </p:nvSpPr>
        <p:spPr>
          <a:xfrm>
            <a:off x="7126966" y="4904831"/>
            <a:ext cx="862496" cy="25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dirty="0"/>
              <a:t>7</a:t>
            </a:r>
            <a:endParaRPr kumimoji="1" lang="zh-CN" altLang="en-US" dirty="0"/>
          </a:p>
        </p:txBody>
      </p:sp>
      <p:cxnSp>
        <p:nvCxnSpPr>
          <p:cNvPr id="3145738" name="曲线连接符 78"/>
          <p:cNvCxnSpPr>
            <a:stCxn id="1048948" idx="2"/>
            <a:endCxn id="1048942" idx="2"/>
          </p:cNvCxnSpPr>
          <p:nvPr/>
        </p:nvCxnSpPr>
        <p:spPr>
          <a:xfrm rot="16200000" flipH="1">
            <a:off x="1968804" y="4725181"/>
            <a:ext cx="12700" cy="8673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8" name="矩形 79"/>
          <p:cNvSpPr/>
          <p:nvPr/>
        </p:nvSpPr>
        <p:spPr>
          <a:xfrm>
            <a:off x="1103906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49" name="矩形 80"/>
          <p:cNvSpPr/>
          <p:nvPr/>
        </p:nvSpPr>
        <p:spPr>
          <a:xfrm>
            <a:off x="4562642" y="4904831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cxnSp>
        <p:nvCxnSpPr>
          <p:cNvPr id="3145739" name="曲线连接符 81"/>
          <p:cNvCxnSpPr>
            <a:stCxn id="1048949" idx="2"/>
            <a:endCxn id="1048945" idx="2"/>
          </p:cNvCxnSpPr>
          <p:nvPr/>
        </p:nvCxnSpPr>
        <p:spPr>
          <a:xfrm rot="16200000" flipH="1">
            <a:off x="5418360" y="4734361"/>
            <a:ext cx="12700" cy="84894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0" name="曲线连接符 82"/>
          <p:cNvCxnSpPr>
            <a:stCxn id="1048943" idx="2"/>
            <a:endCxn id="1048944" idx="2"/>
          </p:cNvCxnSpPr>
          <p:nvPr/>
        </p:nvCxnSpPr>
        <p:spPr>
          <a:xfrm rot="16200000" flipH="1">
            <a:off x="3698600" y="4729985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41" name="曲线连接符 83"/>
          <p:cNvCxnSpPr>
            <a:stCxn id="1048946" idx="2"/>
            <a:endCxn id="1048947" idx="2"/>
          </p:cNvCxnSpPr>
          <p:nvPr/>
        </p:nvCxnSpPr>
        <p:spPr>
          <a:xfrm rot="16200000" flipH="1">
            <a:off x="7129368" y="4729985"/>
            <a:ext cx="12700" cy="85769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50" name="矩形 85"/>
          <p:cNvSpPr/>
          <p:nvPr/>
        </p:nvSpPr>
        <p:spPr>
          <a:xfrm>
            <a:off x="19634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1" name="矩形 86"/>
          <p:cNvSpPr/>
          <p:nvPr/>
        </p:nvSpPr>
        <p:spPr>
          <a:xfrm>
            <a:off x="28245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2" name="矩形 87"/>
          <p:cNvSpPr/>
          <p:nvPr/>
        </p:nvSpPr>
        <p:spPr>
          <a:xfrm>
            <a:off x="36856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3" name="矩形 88"/>
          <p:cNvSpPr/>
          <p:nvPr/>
        </p:nvSpPr>
        <p:spPr>
          <a:xfrm>
            <a:off x="45467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4" name="矩形 89"/>
          <p:cNvSpPr/>
          <p:nvPr/>
        </p:nvSpPr>
        <p:spPr>
          <a:xfrm>
            <a:off x="54078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5" name="矩形 90"/>
          <p:cNvSpPr/>
          <p:nvPr/>
        </p:nvSpPr>
        <p:spPr>
          <a:xfrm>
            <a:off x="6268960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  <p:sp>
        <p:nvSpPr>
          <p:cNvPr id="1048956" name="矩形 91"/>
          <p:cNvSpPr/>
          <p:nvPr/>
        </p:nvSpPr>
        <p:spPr>
          <a:xfrm>
            <a:off x="7130058" y="5661025"/>
            <a:ext cx="862496" cy="254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en-US" altLang="zh-CN" sz="1200" dirty="0"/>
              <a:t>SUM(0,7)</a:t>
            </a:r>
            <a:endParaRPr kumimoji="1" lang="zh-CN" altLang="en-US" sz="12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0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6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6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63" name="内容占位符 4"/>
          <p:cNvSpPr>
            <a:spLocks noGrp="1"/>
          </p:cNvSpPr>
          <p:nvPr>
            <p:ph sz="quarter" idx="13"/>
          </p:nvPr>
        </p:nvSpPr>
        <p:spPr>
          <a:xfrm>
            <a:off x="523874" y="1323974"/>
            <a:ext cx="11277601" cy="5161201"/>
          </a:xfrm>
        </p:spPr>
        <p:txBody>
          <a:bodyPr>
            <a:normAutofit/>
          </a:bodyPr>
          <a:p>
            <a:r>
              <a:rPr lang="en-US" altLang="zh-CN" dirty="0"/>
              <a:t>Tree-based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 hierarchical relation with the root of tree (Rank 0).</a:t>
            </a:r>
            <a:endParaRPr lang="en-US" altLang="zh-CN" dirty="0"/>
          </a:p>
          <a:p>
            <a:pPr lvl="1"/>
            <a:r>
              <a:rPr lang="en-US" altLang="zh-CN" dirty="0"/>
              <a:t>Stage 1: Bottom-up Reduce</a:t>
            </a:r>
            <a:endParaRPr lang="en-US" altLang="zh-CN" dirty="0"/>
          </a:p>
          <a:p>
            <a:pPr lvl="1"/>
            <a:r>
              <a:rPr lang="en-US" altLang="zh-CN" dirty="0"/>
              <a:t>Stage 2: Top-down Broadcast</a:t>
            </a:r>
            <a:endParaRPr lang="en-US" altLang="zh-CN" dirty="0"/>
          </a:p>
          <a:p>
            <a:r>
              <a:rPr lang="en-US" altLang="zh-CN" dirty="0"/>
              <a:t>Advantages</a:t>
            </a:r>
            <a:endParaRPr lang="en-US" altLang="zh-CN" dirty="0"/>
          </a:p>
          <a:p>
            <a:pPr lvl="1"/>
            <a:r>
              <a:rPr lang="en-US" altLang="zh-CN" dirty="0"/>
              <a:t>Parallel data transfer and reduce operations.</a:t>
            </a:r>
            <a:endParaRPr lang="en-US" altLang="zh-CN" dirty="0"/>
          </a:p>
          <a:p>
            <a:pPr lvl="1"/>
            <a:r>
              <a:rPr lang="en-US" altLang="zh-CN" dirty="0"/>
              <a:t>Logarithmic complexity (the naive version has linear complexity).</a:t>
            </a:r>
            <a:endParaRPr lang="en-US" altLang="zh-CN" dirty="0"/>
          </a:p>
          <a:p>
            <a:pPr lvl="1"/>
            <a:r>
              <a:rPr lang="en-US" altLang="zh-CN" dirty="0"/>
              <a:t>It </a:t>
            </a:r>
            <a:r>
              <a:rPr lang="en-GB" altLang="zh-CN" dirty="0"/>
              <a:t>excels with small data sizes because of the low latency.</a:t>
            </a:r>
            <a:endParaRPr lang="en-GB" altLang="zh-CN" dirty="0"/>
          </a:p>
          <a:p>
            <a:r>
              <a:rPr lang="en-US" altLang="zh-CN" dirty="0"/>
              <a:t>Disadvantages</a:t>
            </a:r>
            <a:endParaRPr lang="en-US" altLang="zh-CN" dirty="0"/>
          </a:p>
          <a:p>
            <a:pPr lvl="1"/>
            <a:r>
              <a:rPr lang="en-US" altLang="zh-CN" dirty="0"/>
              <a:t>It still has idle computing and bandwidth resources.</a:t>
            </a:r>
            <a:endParaRPr lang="en-US" altLang="zh-CN" dirty="0"/>
          </a:p>
          <a:p>
            <a:r>
              <a:rPr lang="en-US" altLang="zh-CN" dirty="0"/>
              <a:t>Further </a:t>
            </a:r>
            <a:r>
              <a:rPr lang="en-US" altLang="zh-CN" dirty="0" err="1"/>
              <a:t>Opt</a:t>
            </a:r>
            <a:r>
              <a:rPr lang="en-US" altLang="zh-CN" dirty="0"/>
              <a:t>: Double Binary Tree (NCCL)</a:t>
            </a:r>
            <a:endParaRPr lang="en-US" altLang="zh-CN" dirty="0"/>
          </a:p>
        </p:txBody>
      </p:sp>
      <p:pic>
        <p:nvPicPr>
          <p:cNvPr id="209723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Double Binary Tree-based Allreduce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/>
              <a:t>Observation</a:t>
            </a:r>
            <a:endParaRPr lang="en-US" altLang="zh-CN"/>
          </a:p>
          <a:p>
            <a:pPr lvl="1"/>
            <a:r>
              <a:rPr lang="en-US" altLang="zh-CN"/>
              <a:t>in a binary tree: internal/leaves </a:t>
            </a:r>
            <a:r>
              <a:rPr lang="en-US" altLang="zh-CN"/>
              <a:t>≈ 50-/50+</a:t>
            </a:r>
            <a:endParaRPr lang="en-US" altLang="zh-CN"/>
          </a:p>
          <a:p>
            <a:pPr lvl="0"/>
            <a:r>
              <a:rPr lang="en-US" altLang="zh-CN"/>
              <a:t>Double binary tree</a:t>
            </a:r>
            <a:endParaRPr lang="en-US" altLang="zh-CN"/>
          </a:p>
          <a:p>
            <a:pPr lvl="1"/>
            <a:r>
              <a:rPr lang="en-US" altLang="zh-CN"/>
              <a:t>no rank is internal on both trees</a:t>
            </a:r>
            <a:endParaRPr lang="en-US" altLang="zh-CN"/>
          </a:p>
          <a:p>
            <a:pPr lvl="1"/>
            <a:r>
              <a:rPr lang="en-US" altLang="zh-CN"/>
              <a:t>all ranks have both two parents and two children except for the root</a:t>
            </a:r>
            <a:endParaRPr lang="en-US" altLang="zh-CN"/>
          </a:p>
          <a:p>
            <a:pPr lvl="1"/>
            <a:r>
              <a:rPr lang="en-US" altLang="zh-CN"/>
              <a:t>full bandwidth and logarithmic latency</a:t>
            </a:r>
            <a:endParaRPr lang="en-US" altLang="zh-CN"/>
          </a:p>
          <a:p>
            <a:pPr lvl="1"/>
            <a:r>
              <a:rPr lang="en-US" altLang="zh-CN"/>
              <a:t>good for small and medium size messages</a:t>
            </a:r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https://developer.nvidia.com/blog/massively-scale-deep-learning-training-nccl-2-4/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595" y="1132523"/>
            <a:ext cx="4680000" cy="2591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203" y="4124325"/>
            <a:ext cx="2602547" cy="2232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0" y="4122738"/>
            <a:ext cx="2880000" cy="22335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6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70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</a:t>
            </a:r>
            <a:endParaRPr lang="en-US" altLang="zh-CN" dirty="0"/>
          </a:p>
          <a:p>
            <a:pPr lvl="1"/>
            <a:r>
              <a:rPr lang="en-US" altLang="zh-CN" dirty="0"/>
              <a:t>Stage 2: Iterative Gather</a:t>
            </a:r>
            <a:endParaRPr lang="en-US" altLang="zh-CN" dirty="0"/>
          </a:p>
        </p:txBody>
      </p:sp>
      <p:pic>
        <p:nvPicPr>
          <p:cNvPr id="209723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  <p:pic>
        <p:nvPicPr>
          <p:cNvPr id="2097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2245" y="2635250"/>
            <a:ext cx="4573905" cy="360426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7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77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35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  <p:pic>
        <p:nvPicPr>
          <p:cNvPr id="209723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405" y="2861359"/>
            <a:ext cx="5908778" cy="3543847"/>
          </a:xfrm>
          <a:prstGeom prst="rect">
            <a:avLst/>
          </a:prstGeom>
          <a:noFill/>
        </p:spPr>
      </p:pic>
      <p:sp>
        <p:nvSpPr>
          <p:cNvPr id="1048978" name="文本框 11"/>
          <p:cNvSpPr txBox="1"/>
          <p:nvPr/>
        </p:nvSpPr>
        <p:spPr>
          <a:xfrm>
            <a:off x="110837" y="2649552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en-US" altLang="zh-CN" i="1" dirty="0"/>
              <a:t>Split the data with N partitions</a:t>
            </a:r>
            <a:endParaRPr kumimoji="1" lang="zh-CN" altLang="en-US" i="1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2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8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85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3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  <p:pic>
        <p:nvPicPr>
          <p:cNvPr id="20972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1404" y="2548808"/>
            <a:ext cx="5919650" cy="4128655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3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1403" y="2552707"/>
            <a:ext cx="5919649" cy="4262147"/>
          </a:xfrm>
          <a:prstGeom prst="rect">
            <a:avLst/>
          </a:prstGeom>
          <a:noFill/>
        </p:spPr>
      </p:pic>
      <p:sp>
        <p:nvSpPr>
          <p:cNvPr id="1048989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9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92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40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1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1403" y="2548375"/>
            <a:ext cx="5919649" cy="4157516"/>
          </a:xfrm>
          <a:prstGeom prst="rect">
            <a:avLst/>
          </a:prstGeom>
          <a:noFill/>
        </p:spPr>
      </p:pic>
      <p:sp>
        <p:nvSpPr>
          <p:cNvPr id="1048996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899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9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8999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42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3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41403" y="2571659"/>
            <a:ext cx="5958976" cy="4160785"/>
          </a:xfrm>
          <a:prstGeom prst="rect">
            <a:avLst/>
          </a:prstGeom>
          <a:noFill/>
        </p:spPr>
      </p:pic>
      <p:sp>
        <p:nvSpPr>
          <p:cNvPr id="1049003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0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90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06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4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45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2265" y="2538665"/>
            <a:ext cx="6098114" cy="4286341"/>
          </a:xfrm>
          <a:prstGeom prst="rect">
            <a:avLst/>
          </a:prstGeom>
          <a:noFill/>
        </p:spPr>
      </p:pic>
      <p:sp>
        <p:nvSpPr>
          <p:cNvPr id="1049010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1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90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13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</p:txBody>
      </p:sp>
      <p:pic>
        <p:nvPicPr>
          <p:cNvPr id="2097246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7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1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901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20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  <a:p>
            <a:r>
              <a:rPr lang="en-US" altLang="zh-CN" dirty="0"/>
              <a:t>Quantitative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US" altLang="zh-CN" dirty="0"/>
          </a:p>
          <a:p>
            <a:pPr lvl="1"/>
            <a:r>
              <a:rPr lang="en-US" altLang="zh-CN" dirty="0"/>
              <a:t>Data Transfer Volume: 2 * (N-1) * K / N</a:t>
            </a:r>
            <a:endParaRPr lang="en-US" altLang="zh-CN" dirty="0"/>
          </a:p>
          <a:p>
            <a:pPr lvl="1"/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Time: 2 * (N-1) * alpha + 2 * (N-1) * K / N / beta</a:t>
            </a:r>
            <a:endParaRPr lang="en-US" altLang="zh-CN" dirty="0"/>
          </a:p>
          <a:p>
            <a:pPr lvl="1"/>
            <a:r>
              <a:rPr lang="en-US" altLang="zh-CN" dirty="0"/>
              <a:t>Tree-based </a:t>
            </a:r>
            <a:r>
              <a:rPr lang="en-US" altLang="zh-CN" dirty="0" err="1"/>
              <a:t>AllReduce</a:t>
            </a:r>
            <a:r>
              <a:rPr lang="en-US" altLang="zh-CN" dirty="0"/>
              <a:t> Time : 2 * log(N) * (alpha + K / beta)</a:t>
            </a:r>
            <a:endParaRPr lang="en-US" altLang="zh-CN" dirty="0"/>
          </a:p>
          <a:p>
            <a:pPr lvl="1"/>
            <a:r>
              <a:rPr lang="en-US" altLang="zh-CN" dirty="0"/>
              <a:t>alpha: latency; beta: bandwidth</a:t>
            </a:r>
            <a:endParaRPr lang="en-US" altLang="zh-CN" dirty="0"/>
          </a:p>
          <a:p>
            <a:r>
              <a:rPr lang="en-US" altLang="zh-CN" dirty="0"/>
              <a:t>Advantages: Optimal</a:t>
            </a:r>
            <a:r>
              <a:rPr lang="zh-CN" altLang="en-US" dirty="0"/>
              <a:t> </a:t>
            </a:r>
            <a:r>
              <a:rPr lang="en-US" altLang="zh-CN" dirty="0"/>
              <a:t>bandwidth</a:t>
            </a:r>
            <a:r>
              <a:rPr lang="zh-CN" altLang="en-US" dirty="0"/>
              <a:t> </a:t>
            </a:r>
            <a:r>
              <a:rPr lang="en-US" altLang="zh-CN" dirty="0"/>
              <a:t>utilization</a:t>
            </a:r>
            <a:endParaRPr lang="en-US" altLang="zh-CN" dirty="0"/>
          </a:p>
        </p:txBody>
      </p:sp>
      <p:pic>
        <p:nvPicPr>
          <p:cNvPr id="209724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4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2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90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27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Ring-based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Iterative Reduce with N-1 steps</a:t>
            </a:r>
            <a:endParaRPr lang="en-US" altLang="zh-CN" dirty="0"/>
          </a:p>
          <a:p>
            <a:pPr lvl="1"/>
            <a:r>
              <a:rPr lang="en-US" altLang="zh-CN" dirty="0"/>
              <a:t>Stage 2: Iterative Gather with N-1 steps</a:t>
            </a:r>
            <a:endParaRPr lang="en-US" altLang="zh-CN" dirty="0"/>
          </a:p>
          <a:p>
            <a:r>
              <a:rPr lang="en-US" altLang="zh-CN" dirty="0"/>
              <a:t>Quantitative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endParaRPr lang="en-US" altLang="zh-CN" dirty="0"/>
          </a:p>
          <a:p>
            <a:pPr lvl="1"/>
            <a:r>
              <a:rPr lang="en-US" altLang="zh-CN" dirty="0"/>
              <a:t>Data Transfer Volume: 2 * (N-1) * K / N</a:t>
            </a:r>
            <a:endParaRPr lang="en-US" altLang="zh-CN" dirty="0"/>
          </a:p>
          <a:p>
            <a:pPr lvl="1"/>
            <a:r>
              <a:rPr lang="en-US" altLang="zh-CN" dirty="0"/>
              <a:t>Overall</a:t>
            </a:r>
            <a:r>
              <a:rPr lang="zh-CN" altLang="en-US" dirty="0"/>
              <a:t> </a:t>
            </a:r>
            <a:r>
              <a:rPr lang="en-US" altLang="zh-CN" dirty="0"/>
              <a:t>Time: 2 * (N-1) * alpha + 2 * (N-1) * K / N / beta</a:t>
            </a:r>
            <a:endParaRPr lang="en-US" altLang="zh-CN" dirty="0"/>
          </a:p>
          <a:p>
            <a:pPr lvl="1"/>
            <a:r>
              <a:rPr lang="en-US" altLang="zh-CN" dirty="0"/>
              <a:t>Tree-based </a:t>
            </a:r>
            <a:r>
              <a:rPr lang="en-US" altLang="zh-CN" dirty="0" err="1"/>
              <a:t>AllReduce</a:t>
            </a:r>
            <a:r>
              <a:rPr lang="en-US" altLang="zh-CN" dirty="0"/>
              <a:t> Time : 2 * log(N) * (alpha + K / beta)</a:t>
            </a:r>
            <a:endParaRPr lang="en-US" altLang="zh-CN" dirty="0"/>
          </a:p>
          <a:p>
            <a:pPr lvl="1"/>
            <a:r>
              <a:rPr lang="en-US" altLang="zh-CN" dirty="0"/>
              <a:t>alpha: latency; beta: bandwidth</a:t>
            </a:r>
            <a:endParaRPr lang="en-US" altLang="zh-CN" dirty="0"/>
          </a:p>
          <a:p>
            <a:r>
              <a:rPr lang="en-US" altLang="zh-CN" dirty="0"/>
              <a:t>Advantages: Optimal</a:t>
            </a:r>
            <a:r>
              <a:rPr lang="zh-CN" altLang="en-US" dirty="0"/>
              <a:t> </a:t>
            </a:r>
            <a:r>
              <a:rPr lang="en-US" altLang="zh-CN" dirty="0"/>
              <a:t>bandwidth</a:t>
            </a:r>
            <a:r>
              <a:rPr lang="zh-CN" altLang="en-US" dirty="0"/>
              <a:t> </a:t>
            </a:r>
            <a:r>
              <a:rPr lang="en-US" altLang="zh-CN" dirty="0"/>
              <a:t>utilization</a:t>
            </a:r>
            <a:endParaRPr lang="en-US" altLang="zh-CN" dirty="0"/>
          </a:p>
        </p:txBody>
      </p:sp>
      <p:pic>
        <p:nvPicPr>
          <p:cNvPr id="209724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1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3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[1] </a:t>
            </a:r>
            <a:r>
              <a:rPr lang="en-US" altLang="zh-CN" dirty="0">
                <a:hlinkClick r:id="rId1"/>
              </a:rPr>
              <a:t>https://www.semanticscholar.org/paper/Optimization-of-Collective-Reduction-Operations-Rabenseifner/e2584fdc3f9e696423d96522038f3fa35137ab92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0490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34" name="内容占位符 4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en-US" altLang="zh-CN" dirty="0"/>
              <a:t>Halving-doubling</a:t>
            </a:r>
            <a:r>
              <a:rPr lang="zh-CN" altLang="en-US" dirty="0"/>
              <a:t> </a:t>
            </a:r>
            <a:r>
              <a:rPr lang="en-US" altLang="zh-CN" dirty="0" err="1"/>
              <a:t>AllReduce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endParaRPr lang="en-US" altLang="zh-CN" dirty="0"/>
          </a:p>
          <a:p>
            <a:pPr lvl="1"/>
            <a:r>
              <a:rPr lang="en-US" altLang="zh-CN" dirty="0"/>
              <a:t>Stage 1: Recursive halving reduce</a:t>
            </a:r>
            <a:endParaRPr lang="en-US" altLang="zh-CN" dirty="0"/>
          </a:p>
          <a:p>
            <a:pPr lvl="1"/>
            <a:r>
              <a:rPr lang="en-US" altLang="zh-CN" dirty="0"/>
              <a:t>Stage 2: Recursive doubling gather</a:t>
            </a:r>
            <a:endParaRPr lang="en-US" altLang="zh-CN" dirty="0"/>
          </a:p>
        </p:txBody>
      </p:sp>
      <p:pic>
        <p:nvPicPr>
          <p:cNvPr id="209724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57845" y="2676640"/>
            <a:ext cx="7876309" cy="360792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8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AllReduce</a:t>
            </a:r>
            <a:r>
              <a:rPr kumimoji="1" lang="en-US" altLang="zh-CN" dirty="0"/>
              <a:t> as an example</a:t>
            </a:r>
            <a:endParaRPr kumimoji="1" lang="zh-CN" altLang="en-US" dirty="0"/>
          </a:p>
        </p:txBody>
      </p:sp>
      <p:sp>
        <p:nvSpPr>
          <p:cNvPr id="104903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40" name="内容占位符 4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668126" cy="4852988"/>
          </a:xfrm>
        </p:spPr>
        <p:txBody>
          <a:bodyPr/>
          <a:p>
            <a:r>
              <a:rPr lang="en-US" altLang="zh-CN" dirty="0"/>
              <a:t>Comparisons among ring-based, tree-based, and halving-doubling </a:t>
            </a:r>
            <a:r>
              <a:rPr lang="en-US" altLang="zh-CN" dirty="0" err="1"/>
              <a:t>Allreduce</a:t>
            </a:r>
            <a:r>
              <a:rPr lang="en-US" altLang="zh-CN" dirty="0"/>
              <a:t> algorithms.</a:t>
            </a:r>
            <a:endParaRPr lang="en-US" altLang="zh-CN" dirty="0"/>
          </a:p>
          <a:p>
            <a:r>
              <a:rPr lang="en-US" altLang="zh-CN" dirty="0"/>
              <a:t>Modern CCLs can select an efficient strategy according to the topology and the communication domain.</a:t>
            </a:r>
            <a:endParaRPr lang="en-US" altLang="zh-CN" dirty="0"/>
          </a:p>
        </p:txBody>
      </p:sp>
      <p:graphicFrame>
        <p:nvGraphicFramePr>
          <p:cNvPr id="4194305" name="表格 5"/>
          <p:cNvGraphicFramePr>
            <a:graphicFrameLocks noGrp="1"/>
          </p:cNvGraphicFramePr>
          <p:nvPr/>
        </p:nvGraphicFramePr>
        <p:xfrm>
          <a:off x="887649" y="3110288"/>
          <a:ext cx="10767695" cy="2804795"/>
        </p:xfrm>
        <a:graphic>
          <a:graphicData uri="http://schemas.openxmlformats.org/drawingml/2006/table">
            <a:tbl>
              <a:tblPr firstRow="1">
                <a:tableStyleId>{91EBBBCC-DAD2-459C-BE2E-F6DE35CF9A28}</a:tableStyleId>
              </a:tblPr>
              <a:tblGrid>
                <a:gridCol w="2153516"/>
                <a:gridCol w="2153516"/>
                <a:gridCol w="2153516"/>
                <a:gridCol w="2153516"/>
                <a:gridCol w="2153516"/>
              </a:tblGrid>
              <a:tr h="252000">
                <a:tc>
                  <a:txBody>
                    <a:bodyPr/>
                    <a:p>
                      <a:pPr algn="ctr"/>
                      <a:r>
                        <a:rPr lang="en-GB" sz="2000" b="1" dirty="0">
                          <a:effectLst/>
                        </a:rPr>
                        <a:t>Algorithm</a:t>
                      </a:r>
                      <a:endParaRPr lang="en-GB" sz="2000" b="1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>
                          <a:effectLst/>
                        </a:rPr>
                        <a:t>Steps (Complexity)</a:t>
                      </a:r>
                      <a:endParaRPr lang="en-GB" sz="2000" b="1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 dirty="0">
                          <a:effectLst/>
                        </a:rPr>
                        <a:t>Latency</a:t>
                      </a:r>
                      <a:endParaRPr lang="en-GB" sz="2000" b="1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>
                          <a:effectLst/>
                        </a:rPr>
                        <a:t>Bandwidth Efficiency</a:t>
                      </a:r>
                      <a:endParaRPr lang="en-GB" sz="2000" b="1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>
                          <a:effectLst/>
                        </a:rPr>
                        <a:t>Ideal Data Size</a:t>
                      </a:r>
                      <a:endParaRPr lang="en-GB" sz="2000" b="1">
                        <a:effectLst/>
                        <a:latin typeface="Google Sans Text"/>
                      </a:endParaRP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p>
                      <a:pPr algn="ctr"/>
                      <a:r>
                        <a:rPr lang="en-GB" sz="2000" b="1" dirty="0">
                          <a:effectLst/>
                        </a:rPr>
                        <a:t>Ring-based</a:t>
                      </a:r>
                      <a:endParaRPr lang="en-GB" sz="2000" b="1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O(N)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High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>
                          <a:effectLst/>
                        </a:rPr>
                        <a:t>Optimal</a:t>
                      </a:r>
                      <a:endParaRPr lang="en-GB" sz="2000" b="1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>
                          <a:effectLst/>
                        </a:rPr>
                        <a:t>Large Data (&gt; 64MB)</a:t>
                      </a:r>
                      <a:endParaRPr lang="en-GB" sz="2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p>
                      <a:pPr algn="ctr"/>
                      <a:r>
                        <a:rPr lang="en-GB" sz="2000" b="1">
                          <a:effectLst/>
                        </a:rPr>
                        <a:t>Tree-based</a:t>
                      </a:r>
                      <a:endParaRPr lang="en-GB" sz="2000" b="1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O(log N)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Lowest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>
                          <a:effectLst/>
                        </a:rPr>
                        <a:t>Moderate</a:t>
                      </a:r>
                      <a:endParaRPr lang="en-GB" sz="2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>
                          <a:effectLst/>
                        </a:rPr>
                        <a:t>Small-Medium (&lt; 16MB)</a:t>
                      </a:r>
                      <a:endParaRPr lang="en-GB" sz="200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</a:tr>
              <a:tr h="702000">
                <a:tc>
                  <a:txBody>
                    <a:bodyPr/>
                    <a:p>
                      <a:pPr algn="ctr"/>
                      <a:r>
                        <a:rPr lang="en-GB" sz="2000" b="1" dirty="0">
                          <a:effectLst/>
                        </a:rPr>
                        <a:t>Halving-Doubling</a:t>
                      </a:r>
                      <a:endParaRPr lang="en-GB" sz="2000" b="1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O(log N)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b="1" dirty="0">
                          <a:effectLst/>
                        </a:rPr>
                        <a:t>Low</a:t>
                      </a:r>
                      <a:endParaRPr lang="en-GB" sz="2000" b="1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Moderate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lang="en-GB" sz="2000" dirty="0">
                          <a:effectLst/>
                        </a:rPr>
                        <a:t>Very Small (&lt; 1MB)</a:t>
                      </a:r>
                      <a:endParaRPr lang="en-GB" sz="2000" dirty="0">
                        <a:effectLst/>
                        <a:latin typeface="Google Sans Text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4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Protocol design matters</a:t>
            </a:r>
            <a:endParaRPr kumimoji="1" lang="zh-CN" altLang="en-US" dirty="0"/>
          </a:p>
        </p:txBody>
      </p:sp>
      <p:sp>
        <p:nvSpPr>
          <p:cNvPr id="10490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46" name="内容占位符 4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668126" cy="4852988"/>
          </a:xfrm>
        </p:spPr>
        <p:txBody>
          <a:bodyPr/>
          <a:p>
            <a:r>
              <a:rPr lang="en-US" altLang="zh-CN" dirty="0"/>
              <a:t>Take NCCL as an example.</a:t>
            </a:r>
            <a:endParaRPr lang="en-US" altLang="zh-CN" dirty="0"/>
          </a:p>
        </p:txBody>
      </p:sp>
      <p:pic>
        <p:nvPicPr>
          <p:cNvPr id="209725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624" y="1797890"/>
            <a:ext cx="3907249" cy="2590847"/>
          </a:xfrm>
          <a:prstGeom prst="rect">
            <a:avLst/>
          </a:prstGeom>
        </p:spPr>
      </p:pic>
      <p:pic>
        <p:nvPicPr>
          <p:cNvPr id="2097251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37" y="1780207"/>
            <a:ext cx="3907249" cy="2256069"/>
          </a:xfrm>
          <a:prstGeom prst="rect">
            <a:avLst/>
          </a:prstGeom>
        </p:spPr>
      </p:pic>
      <p:pic>
        <p:nvPicPr>
          <p:cNvPr id="2097252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105" y="4282458"/>
            <a:ext cx="7937790" cy="2503133"/>
          </a:xfrm>
          <a:prstGeom prst="rect">
            <a:avLst/>
          </a:prstGeom>
        </p:spPr>
      </p:pic>
      <p:sp>
        <p:nvSpPr>
          <p:cNvPr id="104904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p>
            <a:r>
              <a:rPr lang="en-GB" altLang="zh-CN" dirty="0"/>
              <a:t>[1] https://</a:t>
            </a:r>
            <a:r>
              <a:rPr lang="en-GB" altLang="zh-CN" dirty="0" err="1"/>
              <a:t>arxiv.org</a:t>
            </a:r>
            <a:r>
              <a:rPr lang="en-GB" altLang="zh-CN" dirty="0"/>
              <a:t>/pdf/2507.04786v1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1" name="标题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11060070" cy="700925"/>
          </a:xfrm>
        </p:spPr>
        <p:txBody>
          <a:bodyPr/>
          <a:p>
            <a:r>
              <a:rPr kumimoji="1" lang="en-US" altLang="zh-CN" dirty="0"/>
              <a:t>Besides, the protocol designs are also important</a:t>
            </a:r>
            <a:endParaRPr kumimoji="1" lang="zh-CN" altLang="en-US" dirty="0"/>
          </a:p>
        </p:txBody>
      </p:sp>
      <p:sp>
        <p:nvSpPr>
          <p:cNvPr id="10490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49053" name="内容占位符 4"/>
          <p:cNvSpPr>
            <a:spLocks noGrp="1"/>
          </p:cNvSpPr>
          <p:nvPr>
            <p:ph sz="quarter" idx="13"/>
          </p:nvPr>
        </p:nvSpPr>
        <p:spPr>
          <a:xfrm>
            <a:off x="523874" y="1323975"/>
            <a:ext cx="11668126" cy="4852988"/>
          </a:xfrm>
        </p:spPr>
        <p:txBody>
          <a:bodyPr/>
          <a:p>
            <a:r>
              <a:rPr lang="en-US" altLang="zh-CN" dirty="0"/>
              <a:t>Take NCCL as an example.</a:t>
            </a:r>
            <a:endParaRPr lang="en-US" altLang="zh-CN" dirty="0"/>
          </a:p>
        </p:txBody>
      </p:sp>
      <p:pic>
        <p:nvPicPr>
          <p:cNvPr id="2097253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951" y="1800977"/>
            <a:ext cx="10023578" cy="4555374"/>
          </a:xfrm>
          <a:prstGeom prst="rect">
            <a:avLst/>
          </a:prstGeom>
        </p:spPr>
      </p:pic>
      <p:sp>
        <p:nvSpPr>
          <p:cNvPr id="104905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p>
            <a:r>
              <a:rPr lang="en-GB" altLang="zh-CN" dirty="0"/>
              <a:t>[1] https://</a:t>
            </a:r>
            <a:r>
              <a:rPr lang="en-GB" altLang="zh-CN" dirty="0" err="1"/>
              <a:t>arxiv.org</a:t>
            </a:r>
            <a:r>
              <a:rPr lang="en-GB" altLang="zh-CN" dirty="0"/>
              <a:t>/pdf/2507.04786v1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Broadcast (a.k.a., One-to-All Boardcast)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Among a group of processing elements (nodes), a designated root node has a data item to be communicated (copied) to all other nodes.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1"/>
            <a:r>
              <a:rPr lang="en-US" altLang="zh-CN"/>
              <a:t>All nodes are assumed to explicitly take part in the broadcast operation.</a:t>
            </a:r>
            <a:endParaRPr lang="en-US" altLang="zh-CN"/>
          </a:p>
          <a:p>
            <a:pPr lvl="1"/>
            <a:r>
              <a:rPr lang="en-US" altLang="zh-CN"/>
              <a:t>It is generally assumed that before its execution all nodes know the index of the designated root node as well as the the amount n of data to be broadcast.</a:t>
            </a:r>
            <a:endParaRPr lang="en-US" altLang="zh-CN"/>
          </a:p>
          <a:p>
            <a:pPr lvl="1"/>
            <a:r>
              <a:rPr lang="en-US" altLang="zh-CN"/>
              <a:t>The data item x may be either a single, atomic unit or divisible into smaller, disjoint pieces.</a:t>
            </a:r>
            <a:endParaRPr lang="en-US" altLang="zh-CN"/>
          </a:p>
          <a:p>
            <a:pPr lvl="2"/>
            <a:r>
              <a:rPr lang="en-US" altLang="zh-CN"/>
              <a:t>The latter can be exploited algorithmically when n is large.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5980" y="2303780"/>
            <a:ext cx="5400000" cy="11254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Broadcast: Assumptions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Assumptions in the following analysis</a:t>
            </a:r>
            <a:r>
              <a:rPr lang="en-US" altLang="zh-CN">
                <a:solidFill>
                  <a:schemeClr val="bg1">
                    <a:lumMod val="75000"/>
                  </a:schemeClr>
                </a:solidFill>
              </a:rPr>
              <a:t> (for this lecture ONLY)</a:t>
            </a:r>
            <a:endParaRPr lang="en-US" altLang="zh-CN"/>
          </a:p>
          <a:p>
            <a:pPr lvl="1"/>
            <a:r>
              <a:rPr lang="en-US" altLang="zh-CN"/>
              <a:t>All nodes can communicate through a communication network.</a:t>
            </a:r>
            <a:endParaRPr lang="en-US" altLang="zh-CN"/>
          </a:p>
          <a:p>
            <a:pPr lvl="1"/>
            <a:r>
              <a:rPr lang="en-US" altLang="zh-CN"/>
              <a:t>Individual nodes perform communication operations that send and/or receive individual messages.</a:t>
            </a:r>
            <a:endParaRPr lang="en-US" altLang="zh-CN"/>
          </a:p>
          <a:p>
            <a:pPr lvl="1"/>
            <a:r>
              <a:rPr lang="en-US" altLang="zh-CN"/>
              <a:t>Communication is through a single port</a:t>
            </a:r>
            <a:endParaRPr lang="en-US" altLang="zh-CN"/>
          </a:p>
          <a:p>
            <a:pPr marL="685800" lvl="2" indent="0">
              <a:buNone/>
            </a:pPr>
            <a:r>
              <a:rPr lang="en-US" altLang="zh-CN"/>
              <a:t>(such that a node can be involved in at most one communication operation at a time)</a:t>
            </a:r>
            <a:endParaRPr lang="en-US" altLang="zh-CN"/>
          </a:p>
          <a:p>
            <a:pPr lvl="2"/>
            <a:r>
              <a:rPr lang="en-US" altLang="zh-CN"/>
              <a:t>Such an operation can be either a send to or a receive from another node (unidirectional communication),</a:t>
            </a:r>
            <a:endParaRPr lang="en-US" altLang="zh-CN"/>
          </a:p>
          <a:p>
            <a:pPr lvl="2"/>
            <a:r>
              <a:rPr lang="en-US" altLang="zh-CN"/>
              <a:t>a combined send to and receive from another node (bidirectional, telephone like communication), or</a:t>
            </a:r>
            <a:endParaRPr lang="en-US" altLang="zh-CN"/>
          </a:p>
          <a:p>
            <a:pPr lvl="2"/>
            <a:r>
              <a:rPr lang="en-US" altLang="zh-CN"/>
              <a:t>a send to and receive from two possibly different nodes (simultaneous sendreceive, fully bidirectional communication).</a:t>
            </a:r>
            <a:endParaRPr lang="en-US" altLang="zh-CN"/>
          </a:p>
          <a:p>
            <a:pPr lvl="1"/>
            <a:r>
              <a:rPr lang="en-US" altLang="zh-CN"/>
              <a:t>The communication medium is homogeneous and fully connected</a:t>
            </a:r>
            <a:endParaRPr lang="en-US" altLang="zh-CN"/>
          </a:p>
          <a:p>
            <a:pPr lvl="1"/>
            <a:r>
              <a:rPr lang="en-US" altLang="zh-CN"/>
              <a:t>A first approximation for the transferring time between two nodes: α + nβ</a:t>
            </a:r>
            <a:endParaRPr lang="en-US" altLang="zh-CN"/>
          </a:p>
          <a:p>
            <a:pPr lvl="2"/>
            <a:r>
              <a:rPr lang="en-US" altLang="zh-CN"/>
              <a:t>n is the message size</a:t>
            </a:r>
            <a:endParaRPr lang="en-US" altLang="zh-CN"/>
          </a:p>
          <a:p>
            <a:pPr lvl="2"/>
            <a:r>
              <a:rPr lang="en-US" altLang="zh-CN"/>
              <a:t>α is the start-up cost (latency)</a:t>
            </a:r>
            <a:endParaRPr lang="en-US" altLang="zh-CN"/>
          </a:p>
          <a:p>
            <a:pPr lvl="2"/>
            <a:r>
              <a:rPr lang="en-US" altLang="zh-CN"/>
              <a:t>β is the cost per item transfered (inverse of the bandwidth)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Broadcast: Two Lower Bounds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20000"/>
              </a:bodyPr>
              <a:lstStyle/>
              <a:p>
                <a:r>
                  <a:rPr lang="en-US" altLang="zh-CN"/>
                  <a:t>Two lower bounds</a:t>
                </a:r>
                <a:endParaRPr lang="en-US" altLang="zh-CN"/>
              </a:p>
              <a:p>
                <a:pPr lvl="1"/>
                <a:r>
                  <a:rPr lang="en-US" altLang="zh-CN" sz="2000"/>
                  <a:t>for 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/>
                  <a:t> term: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endParaRPr lang="en-US" altLang="zh-CN"/>
              </a:p>
              <a:p>
                <a:pPr lvl="2"/>
                <a:r>
                  <a:rPr lang="en-US" altLang="zh-CN"/>
                  <a:t>a round: during which each node can send at most one message and receive at most one message.</a:t>
                </a:r>
                <a:endParaRPr lang="en-US" altLang="zh-CN"/>
              </a:p>
              <a:p>
                <a:pPr lvl="2"/>
                <a:r>
                  <a:rPr lang="en-US" altLang="zh-CN"/>
                  <a:t>In each round, the number of nodes that know message x can at most double.</a:t>
                </a:r>
                <a:endParaRPr lang="en-US" altLang="zh-CN"/>
              </a:p>
              <a:p>
                <a:pPr lvl="2"/>
                <a:r>
                  <a:rPr lang="en-US" altLang="zh-CN"/>
                  <a:t>Thus, a minimum of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/>
                  <a:t> rounds are needed to broadcast the message.</a:t>
                </a:r>
                <a:endParaRPr lang="en-US" altLang="zh-CN"/>
              </a:p>
              <a:p>
                <a:pPr lvl="2"/>
                <a:r>
                  <a:rPr lang="en-US" altLang="zh-CN"/>
                  <a:t>Each round costs at least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/>
                  <a:t>.</a:t>
                </a:r>
                <a:endParaRPr lang="en-US" altLang="zh-CN"/>
              </a:p>
              <a:p>
                <a:pPr lvl="1"/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for the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term: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endParaRPr lang="en-US" altLang="zh-CN"/>
              </a:p>
              <a:p>
                <a:pPr lvl="2"/>
                <a:r>
                  <a:rPr lang="en-US" altLang="zh-CN"/>
                  <a:t>If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</m:oMath>
                </a14:m>
                <a:r>
                  <a:rPr lang="en-US" altLang="zh-CN"/>
                  <a:t> then the message must leave the root node, requiring a time of at least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en-US" altLang="zh-CN"/>
                  <a:t>.</a:t>
                </a:r>
                <a:endParaRPr lang="en-US" altLang="zh-CN"/>
              </a:p>
              <a:p>
                <a:pPr lvl="0"/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Notes</a:t>
                </a:r>
                <a:endParaRPr lang="en-US" altLang="zh-CN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When assumptions about the communication system change, these lower bounds change as well.</a:t>
                </a:r>
                <a:endParaRPr lang="en-US" altLang="zh-CN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Lower bounds for </a:t>
                </a:r>
                <a:r>
                  <a:rPr lang="en-US" altLang="zh-CN" u="sng">
                    <a:solidFill>
                      <a:schemeClr val="bg2">
                        <a:lumMod val="50000"/>
                      </a:schemeClr>
                    </a:solidFill>
                  </a:rPr>
                  <a:t>mesh</a:t>
                </a:r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 and </a:t>
                </a:r>
                <a:r>
                  <a:rPr lang="en-US" altLang="zh-CN" u="sng">
                    <a:solidFill>
                      <a:schemeClr val="bg2">
                        <a:lumMod val="50000"/>
                      </a:schemeClr>
                    </a:solidFill>
                  </a:rPr>
                  <a:t>torus networks</a:t>
                </a:r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, </a:t>
                </a:r>
                <a:r>
                  <a:rPr lang="en-US" altLang="zh-CN" u="sng">
                    <a:solidFill>
                      <a:schemeClr val="bg2">
                        <a:lumMod val="50000"/>
                      </a:schemeClr>
                    </a:solidFill>
                  </a:rPr>
                  <a:t>hypercubes</a:t>
                </a:r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, and many other topologies are known</a:t>
                </a:r>
                <a:r>
                  <a:rPr lang="en-US" altLang="zh-CN" baseline="30000">
                    <a:solidFill>
                      <a:schemeClr val="bg2">
                        <a:lumMod val="50000"/>
                      </a:schemeClr>
                    </a:solidFill>
                  </a:rPr>
                  <a:t>[WGe95]</a:t>
                </a:r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.</a:t>
                </a:r>
                <a:endParaRPr lang="en-US" altLang="zh-CN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lvl="1"/>
                <a:r>
                  <a:rPr lang="en-US" altLang="zh-CN">
                    <a:solidFill>
                      <a:schemeClr val="bg2">
                        <a:lumMod val="50000"/>
                      </a:schemeClr>
                    </a:solidFill>
                  </a:rPr>
                  <a:t>Determining the minimum broadcast time in an arbitrary, given graph is NP-hard </a:t>
                </a:r>
                <a:r>
                  <a:rPr lang="en-US" altLang="zh-CN" baseline="30000">
                    <a:solidFill>
                      <a:schemeClr val="bg2">
                        <a:lumMod val="50000"/>
                      </a:schemeClr>
                    </a:solidFill>
                  </a:rPr>
                  <a:t>[JaM95]</a:t>
                </a:r>
                <a:endParaRPr lang="en-US" altLang="zh-CN" baseline="300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1"/>
                <a:stretch>
                  <a:fillRect l="-6" t="-36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r>
              <a:rPr lang="en-US" altLang="zh-CN" dirty="0"/>
              <a:t>[WGe95] Watts J, van de Geijn RA (1995) A pipelined broadcast for multi-dimensional meshes. Parallel Process Lett 5</a:t>
            </a:r>
            <a:r>
              <a:rPr lang="en-US" altLang="zh-CN" dirty="0"/>
              <a:t>: 281–292</a:t>
            </a:r>
            <a:endParaRPr lang="zh-CN" altLang="en-US" dirty="0"/>
          </a:p>
          <a:p>
            <a:r>
              <a:rPr lang="en-US" altLang="zh-CN" dirty="0"/>
              <a:t>[JaM95] Jansen K, M</a:t>
            </a:r>
            <a:r>
              <a:rPr lang="en-US" altLang="en-US" dirty="0"/>
              <a:t>ü</a:t>
            </a:r>
            <a:r>
              <a:rPr lang="en-US" altLang="zh-CN" dirty="0"/>
              <a:t>ller H (1995) The minimum broadcast time problem for several processor networks. Theor Comput Sci 147(1&amp;2):</a:t>
            </a:r>
            <a:r>
              <a:rPr lang="en-US" altLang="zh-CN" dirty="0"/>
              <a:t> 69</a:t>
            </a:r>
            <a:r>
              <a:rPr lang="en-US" altLang="zh-CN" dirty="0"/>
              <a:t>–85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Broadcast: Tree-based Algorithms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3"/>
          </p:nvPr>
        </p:nvPicPr>
        <p:blipFill>
          <a:blip r:embed="rId1"/>
          <a:stretch>
            <a:fillRect/>
          </a:stretch>
        </p:blipFill>
        <p:spPr>
          <a:xfrm>
            <a:off x="3961765" y="1323975"/>
            <a:ext cx="4401185" cy="4853305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Broadcast: The “MST” Algorithm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/>
                  <a:t>The so-called</a:t>
                </a:r>
                <a:r>
                  <a:rPr lang="en-US" altLang="zh-CN">
                    <a:solidFill>
                      <a:schemeClr val="accent6">
                        <a:lumMod val="75000"/>
                      </a:schemeClr>
                    </a:solidFill>
                  </a:rPr>
                  <a:t>*</a:t>
                </a:r>
                <a:r>
                  <a:rPr lang="en-US" altLang="zh-CN"/>
                  <a:t> Minimum Spanning Tree (MST) algorithm</a:t>
                </a:r>
                <a:endParaRPr lang="en-US" altLang="zh-CN"/>
              </a:p>
              <a:p>
                <a:pPr lvl="1"/>
                <a:r>
                  <a:rPr lang="en-US" altLang="zh-CN"/>
                  <a:t>Partition the set of nodes into two roughly equalsized subsets.</a:t>
                </a:r>
                <a:endParaRPr lang="en-US" altLang="zh-CN"/>
              </a:p>
              <a:p>
                <a:pPr lvl="1"/>
                <a:r>
                  <a:rPr lang="en-US" altLang="zh-CN"/>
                  <a:t>Send x from the root to a node in the subset that does not include the root.</a:t>
                </a:r>
                <a:endParaRPr lang="en-US" altLang="zh-CN"/>
              </a:p>
              <a:p>
                <a:pPr lvl="2"/>
                <a:r>
                  <a:rPr lang="en-US" altLang="zh-CN"/>
                  <a:t>The receiving node will become a local root in that subset.</a:t>
                </a:r>
                <a:endParaRPr lang="en-US" altLang="zh-CN"/>
              </a:p>
              <a:p>
                <a:pPr lvl="1"/>
                <a:r>
                  <a:rPr lang="en-US" altLang="zh-CN"/>
                  <a:t>Recursively broadcast x from the (local) root nodes in the two subsets.</a:t>
                </a:r>
                <a:endParaRPr lang="en-US" altLang="zh-CN"/>
              </a:p>
              <a:p>
                <a:pPr lvl="0"/>
                <a:r>
                  <a:rPr lang="en-US" altLang="zh-CN"/>
                  <a:t>The total cost of the MST algorithm: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/>
                <a:r>
                  <a:rPr lang="en-US" altLang="zh-CN"/>
                  <a:t>It achieves the lower bound for the α term</a:t>
                </a:r>
                <a:endParaRPr lang="en-US" altLang="zh-CN"/>
              </a:p>
              <a:p>
                <a:pPr lvl="1"/>
                <a:r>
                  <a:rPr lang="en-US" altLang="zh-CN"/>
                  <a:t>but not for the β term for which it is a logarithmic factor off from the lower bound.</a:t>
                </a:r>
                <a:endParaRPr lang="en-US" altLang="zh-CN"/>
              </a:p>
              <a:p>
                <a:pPr lvl="0"/>
                <a:r>
                  <a:rPr lang="en-US" altLang="zh-CN"/>
                  <a:t>The MST algorithm constructs a binomial spanning tree over the set of nodes</a:t>
                </a:r>
                <a:endParaRPr lang="en-US" altLang="zh-CN"/>
              </a:p>
              <a:p>
                <a:pPr lvl="1"/>
                <a:r>
                  <a:rPr lang="en-US" altLang="zh-CN">
                    <a:solidFill>
                      <a:schemeClr val="bg1">
                        <a:lumMod val="75000"/>
                      </a:schemeClr>
                    </a:solidFill>
                  </a:rPr>
                  <a:t>Figure (</a:t>
                </a:r>
                <a:r>
                  <a:rPr lang="en-US" altLang="zh-CN">
                    <a:solidFill>
                      <a:schemeClr val="bg1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d</a:t>
                </a:r>
                <a:r>
                  <a:rPr lang="en-US" altLang="zh-CN">
                    <a:solidFill>
                      <a:schemeClr val="bg1">
                        <a:lumMod val="75000"/>
                      </a:schemeClr>
                    </a:solidFill>
                  </a:rPr>
                  <a:t>) in the previous slide</a:t>
                </a:r>
                <a:endParaRPr lang="en-US" altLang="zh-CN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1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anchor="b" anchorCtr="0"/>
          <a:lstStyle/>
          <a:p>
            <a:pPr indent="0" fontAlgn="auto">
              <a:spcAft>
                <a:spcPts val="0"/>
              </a:spcAft>
            </a:pPr>
            <a:r>
              <a:rPr lang="en-US" altLang="zh-CN" dirty="0"/>
              <a:t>* which is a misnomer, since all broadcast trees are spanning trees and minimum for homogeneous communication media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Broadcast: Pipelining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zh-CN"/>
                  <a:t>For large n, pipelining improves the broadcast cost</a:t>
                </a:r>
                <a:endParaRPr lang="en-US" altLang="zh-CN"/>
              </a:p>
              <a:p>
                <a:pPr lvl="1"/>
                <a:r>
                  <a:rPr lang="en-US" altLang="zh-CN"/>
                  <a:t>the message is split into k blocks of size n/k each</a:t>
                </a:r>
                <a:endParaRPr lang="en-US" altLang="zh-CN"/>
              </a:p>
              <a:p>
                <a:r>
                  <a:rPr lang="en-US" altLang="zh-CN"/>
                  <a:t>In the “</a:t>
                </a:r>
                <a:r>
                  <a:rPr lang="en-US" altLang="zh-CN" u="sng"/>
                  <a:t>path</a:t>
                </a:r>
                <a:r>
                  <a:rPr lang="en-US" altLang="zh-CN"/>
                  <a:t>” boradcast tree:</a:t>
                </a:r>
                <a:endParaRPr lang="en-US" altLang="zh-CN"/>
              </a:p>
              <a:p>
                <a:pPr lvl="1"/>
                <a:r>
                  <a:rPr lang="en-US" altLang="zh-CN" sz="2000"/>
                  <a:t>The first piece from node 0 takes p-1 rounds to reach node p-1</a:t>
                </a:r>
                <a:endParaRPr lang="en-US" altLang="zh-CN" sz="2000"/>
              </a:p>
              <a:p>
                <a:pPr lvl="1"/>
                <a:r>
                  <a:rPr lang="en-US" altLang="zh-CN"/>
                  <a:t>an additional k-1 rounds for the remaining k-1 pieces</a:t>
                </a:r>
                <a:endParaRPr lang="en-US" altLang="zh-CN"/>
              </a:p>
              <a:p>
                <a:pPr lvl="1"/>
                <a:r>
                  <a:rPr lang="en-US" altLang="zh-CN"/>
                  <a:t>total time cost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)(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/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 ≥ 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𝛼𝛽</m:t>
                        </m:r>
                      </m:e>
                    </m:ra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endParaRPr lang="en-US" altLang="zh-CN">
                  <a:sym typeface="+mn-ea"/>
                </a:endParaRPr>
              </a:p>
              <a:p>
                <a:pPr lvl="2"/>
                <a:r>
                  <a:rPr lang="en-US" altLang="zh-CN" sz="1600">
                    <a:sym typeface="+mn-ea"/>
                  </a:rPr>
                  <a:t>with optimal number of blocks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𝑘</m:t>
                    </m:r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𝑝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𝛽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/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𝛼</m:t>
                        </m:r>
                      </m:e>
                    </m:rad>
                  </m:oMath>
                </a14:m>
                <a:endParaRPr lang="en-US" altLang="zh-CN"/>
              </a:p>
              <a:p>
                <a:r>
                  <a:rPr lang="en-US" altLang="zh-CN">
                    <a:sym typeface="+mn-ea"/>
                  </a:rPr>
                  <a:t>Pipelining can be</a:t>
                </a:r>
                <a:r>
                  <a:rPr lang="en-US" altLang="zh-CN"/>
                  <a:t> applied on fixed degree trees</a:t>
                </a:r>
                <a:endParaRPr lang="en-US" altLang="zh-CN"/>
              </a:p>
              <a:p>
                <a:pPr lvl="1"/>
                <a:r>
                  <a:rPr lang="en-US" altLang="zh-CN" u="sng"/>
                  <a:t>Binary tree</a:t>
                </a:r>
                <a:r>
                  <a:rPr lang="en-US" altLang="zh-CN"/>
                  <a:t>: best-effort time cost  =</a:t>
                </a:r>
                <a:r>
                  <a:rPr lang="en-US" altLang="zh-CN">
                    <a:sym typeface="+mn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𝛼𝛽</m:t>
                        </m:r>
                      </m:e>
                    </m:ra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endParaRPr lang="en-US" altLang="zh-CN"/>
              </a:p>
              <a:p>
                <a:pPr lvl="1"/>
                <a:r>
                  <a:rPr lang="en-US" altLang="zh-CN" u="sng"/>
                  <a:t>Fibonacci tree</a:t>
                </a:r>
                <a:r>
                  <a:rPr lang="en-US" altLang="zh-CN"/>
                  <a:t>: </a:t>
                </a:r>
                <a:r>
                  <a:rPr lang="en-US" altLang="zh-CN">
                    <a:sym typeface="+mn-ea"/>
                  </a:rPr>
                  <a:t>best-effort</a:t>
                </a:r>
                <a:r>
                  <a:rPr lang="en-US" altLang="zh-CN"/>
                  <a:t> time cost  =</a:t>
                </a:r>
                <a:r>
                  <a:rPr lang="en-US" altLang="zh-CN">
                    <a:sym typeface="+mn-ea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𝛩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</m:func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𝛩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𝛼𝛽</m:t>
                        </m:r>
                      </m:e>
                    </m:ra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lang="en-US" altLang="zh-CN"/>
                  <a:t>  where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𝛩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5</m:t>
                            </m:r>
                          </m:e>
                        </m:rad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/>
              </a:p>
              <a:p>
                <a:pPr lvl="0"/>
                <a:r>
                  <a:rPr lang="en-US" altLang="zh-CN"/>
                  <a:t>Pipelining is</a:t>
                </a:r>
                <a:r>
                  <a:rPr lang="en-US" altLang="zh-CN">
                    <a:solidFill>
                      <a:srgbClr val="C00000"/>
                    </a:solidFill>
                  </a:rPr>
                  <a:t> not</a:t>
                </a:r>
                <a:r>
                  <a:rPr lang="en-US" altLang="zh-CN"/>
                  <a:t> helpful on nonconstant degrees trees (e.g., </a:t>
                </a:r>
                <a:r>
                  <a:rPr lang="en-US" altLang="zh-CN" u="sng"/>
                  <a:t>binomial tree</a:t>
                </a:r>
                <a:r>
                  <a:rPr lang="en-US" altLang="zh-CN"/>
                  <a:t> and </a:t>
                </a:r>
                <a:r>
                  <a:rPr lang="en-US" altLang="zh-CN" u="sng"/>
                  <a:t>star graph</a:t>
                </a:r>
                <a:r>
                  <a:rPr lang="en-US" altLang="zh-CN"/>
                  <a:t>)</a:t>
                </a:r>
                <a:endParaRPr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1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Broadcast: the Third Lower Bound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lvl="0"/>
                <a:r>
                  <a:rPr lang="en-US" altLang="zh-CN"/>
                  <a:t>The third lower bound on the number of rounds: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charset="0"/>
                                    <a:ea typeface="Ms" panose="00000400000000000000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first piece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charset="0"/>
                                    <a:ea typeface="Ms" panose="00000400000000000000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/>
                  <a:t> rounds plus k-1 additional rounds</a:t>
                </a:r>
                <a:endParaRPr lang="en-US" altLang="zh-CN"/>
              </a:p>
              <a:p>
                <a:pPr lvl="1"/>
                <a:r>
                  <a:rPr lang="en-US" altLang="zh-CN"/>
                  <a:t>total time cost =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charset="0"/>
                                    <a:ea typeface="Ms" panose="00000400000000000000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</m:e>
                    </m:d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)(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/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/>
                  <a:t>  </a:t>
                </a:r>
                <a:r>
                  <a:rPr lang="en-US" altLang="zh-CN"/>
                  <a:t>≥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(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>
                                <a:latin typeface="Cambria Math" panose="02040503050406030204" charset="0"/>
                                <a:ea typeface="Ms" panose="00000400000000000000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e>
                    </m:func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)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𝛼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charset="0"/>
                                    <a:ea typeface="Ms" panose="00000400000000000000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𝛼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𝛽</m:t>
                        </m:r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</m:e>
                    </m:rad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𝑛</m:t>
                    </m:r>
                  </m:oMath>
                </a14:m>
                <a:endParaRPr lang="en-US" altLang="zh-CN"/>
              </a:p>
              <a:p>
                <a:pPr lvl="2"/>
                <a:r>
                  <a:rPr lang="en-US" altLang="zh-CN"/>
                  <a:t>with optimal number of blocks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>
                        <a:latin typeface="Cambria Math" panose="02040503050406030204" charset="0"/>
                        <a:ea typeface="Ms" panose="00000400000000000000" charset="0"/>
                        <a:cs typeface="Cambria Math" panose="0204050305040603020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(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>
                                    <a:latin typeface="Cambria Math" panose="02040503050406030204" charset="0"/>
                                    <a:ea typeface="Ms" panose="00000400000000000000" charset="0"/>
                                    <a:cs typeface="Cambria Math" panose="02040503050406030204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𝑝</m:t>
                            </m:r>
                          </m:e>
                        </m:func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𝛽</m:t>
                        </m:r>
                        <m:r>
                          <a:rPr lang="en-US" altLang="zh-CN"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/</m:t>
                        </m:r>
                        <m:r>
                          <a:rPr lang="en-US" altLang="zh-CN">
                            <a:latin typeface="Cambria Math" panose="02040503050406030204" charset="0"/>
                            <a:ea typeface="Ms" panose="00000400000000000000" charset="0"/>
                            <a:cs typeface="Cambria Math" panose="02040503050406030204" charset="0"/>
                          </a:rPr>
                          <m:t>𝛼</m:t>
                        </m:r>
                      </m:e>
                    </m:rad>
                  </m:oMath>
                </a14:m>
                <a:endParaRPr lang="en-US" altLang="zh-CN"/>
              </a:p>
              <a:p>
                <a:endParaRPr lang="en-US" altLang="zh-CN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1"/>
                <a:stretch>
                  <a:fillRect l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Broadcast: Simultaneous Trees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optimal k - 1 + log</a:t>
            </a:r>
            <a:r>
              <a:rPr lang="en-US" altLang="zh-CN" baseline="-25000"/>
              <a:t>2</a:t>
            </a:r>
            <a:r>
              <a:rPr lang="en-US" altLang="zh-CN"/>
              <a:t>p rounds of pipelining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when the message is split into k blocks</a:t>
            </a:r>
            <a:endParaRPr lang="en-US" altLang="zh-CN"/>
          </a:p>
          <a:p>
            <a:r>
              <a:rPr lang="en-US" altLang="zh-CN"/>
              <a:t>p=2</a:t>
            </a:r>
            <a:r>
              <a:rPr lang="en-US" altLang="zh-CN" baseline="30000"/>
              <a:t>d</a:t>
            </a:r>
            <a:r>
              <a:rPr lang="en-US" altLang="zh-CN"/>
              <a:t> nodes in a d-dim</a:t>
            </a:r>
            <a:r>
              <a:rPr lang="en-US" altLang="zh-CN"/>
              <a:t>ensional hypercube</a:t>
            </a:r>
            <a:endParaRPr lang="en-US" altLang="zh-CN"/>
          </a:p>
          <a:p>
            <a:pPr lvl="1"/>
            <a:r>
              <a:rPr lang="en-US" altLang="zh-CN"/>
              <a:t>node id: i ∈ { 0, 1, ..., 2</a:t>
            </a:r>
            <a:r>
              <a:rPr lang="en-US" altLang="zh-CN" baseline="30000"/>
              <a:t>d</a:t>
            </a:r>
            <a:r>
              <a:rPr lang="en-US" altLang="zh-CN"/>
              <a:t>-1 } </a:t>
            </a:r>
            <a:r>
              <a:rPr lang="en-US" altLang="zh-CN">
                <a:sym typeface="+mn-ea"/>
              </a:rPr>
              <a:t> with </a:t>
            </a:r>
            <a:r>
              <a:rPr lang="en-US" altLang="zh-CN">
                <a:sym typeface="+mn-ea"/>
              </a:rPr>
              <a:t>i</a:t>
            </a:r>
            <a:r>
              <a:rPr lang="en-US" altLang="zh-CN" baseline="-25000">
                <a:sym typeface="+mn-ea"/>
              </a:rPr>
              <a:t>j</a:t>
            </a:r>
            <a:r>
              <a:rPr lang="en-US" altLang="zh-CN">
                <a:sym typeface="+mn-ea"/>
              </a:rPr>
              <a:t> as the j-th bit</a:t>
            </a:r>
            <a:endParaRPr lang="en-US" altLang="zh-CN"/>
          </a:p>
          <a:p>
            <a:r>
              <a:rPr lang="en-US" altLang="zh-CN"/>
              <a:t>d edge-disjoint spanning binomial trees (ESBT)</a:t>
            </a:r>
            <a:endParaRPr lang="en-US" altLang="zh-CN"/>
          </a:p>
          <a:p>
            <a:pPr lvl="1"/>
            <a:r>
              <a:rPr lang="en-US" altLang="zh-CN"/>
              <a:t>all trees are rooted at node 0</a:t>
            </a:r>
            <a:endParaRPr lang="en-US" altLang="zh-CN"/>
          </a:p>
          <a:p>
            <a:pPr lvl="1"/>
            <a:r>
              <a:rPr lang="en-US" altLang="zh-CN"/>
              <a:t>the j-th tree has 2</a:t>
            </a:r>
            <a:r>
              <a:rPr lang="en-US" altLang="zh-CN" baseline="30000"/>
              <a:t>d-1</a:t>
            </a:r>
            <a:r>
              <a:rPr lang="en-US" altLang="zh-CN"/>
              <a:t>-1 leaves with i</a:t>
            </a:r>
            <a:r>
              <a:rPr lang="en-US" altLang="zh-CN" baseline="-25000"/>
              <a:t>j</a:t>
            </a:r>
            <a:r>
              <a:rPr lang="en-US" altLang="zh-CN"/>
              <a:t>=0</a:t>
            </a:r>
            <a:endParaRPr lang="en-US" altLang="zh-CN"/>
          </a:p>
          <a:p>
            <a:pPr lvl="1"/>
            <a:r>
              <a:rPr lang="en-US" altLang="zh-CN"/>
              <a:t>the j-th tree broadcasts blocks j, j+d, j+2d, ...</a:t>
            </a:r>
            <a:endParaRPr lang="en-US" altLang="zh-CN"/>
          </a:p>
          <a:p>
            <a:pPr lvl="0"/>
            <a:r>
              <a:rPr lang="en-US" altLang="zh-CN"/>
              <a:t>Leaves in tree j = t%d receive block t-d in round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t</a:t>
            </a:r>
            <a:endParaRPr lang="en-US" altLang="zh-CN"/>
          </a:p>
          <a:p>
            <a:pPr lvl="1"/>
            <a:r>
              <a:rPr lang="en-US" altLang="zh-CN" sz="2000"/>
              <a:t>block </a:t>
            </a:r>
            <a:r>
              <a:rPr lang="en-US" altLang="zh-CN" sz="2000">
                <a:solidFill>
                  <a:schemeClr val="bg1">
                    <a:lumMod val="75000"/>
                  </a:schemeClr>
                </a:solidFill>
              </a:rPr>
              <a:t>-d, 1-d, ..., -1,</a:t>
            </a:r>
            <a:r>
              <a:rPr lang="en-US" altLang="zh-CN" sz="2000"/>
              <a:t> 0, 1, ..., k-1</a:t>
            </a:r>
            <a:endParaRPr lang="en-US" altLang="zh-CN"/>
          </a:p>
          <a:p>
            <a:pPr lvl="0"/>
            <a:r>
              <a:rPr lang="en-US" altLang="zh-CN"/>
              <a:t>BitDistance</a:t>
            </a:r>
            <a:r>
              <a:rPr lang="en-US" altLang="zh-CN" baseline="-25000"/>
              <a:t>i</a:t>
            </a:r>
            <a:r>
              <a:rPr lang="en-US" altLang="zh-CN"/>
              <a:t>[j]: distance to the next 1 to the left of i</a:t>
            </a:r>
            <a:r>
              <a:rPr lang="en-US" altLang="zh-CN" baseline="-25000"/>
              <a:t>j</a:t>
            </a:r>
            <a:endParaRPr lang="en-US" altLang="zh-CN"/>
          </a:p>
          <a:p>
            <a:pPr lvl="1"/>
            <a:r>
              <a:rPr lang="en-US" altLang="zh-CN"/>
              <a:t>BitDistance</a:t>
            </a:r>
            <a:r>
              <a:rPr lang="en-US" altLang="zh-CN" baseline="-25000"/>
              <a:t>0</a:t>
            </a:r>
            <a:r>
              <a:rPr lang="en-US" altLang="zh-CN"/>
              <a:t>[k] ≡ k for 0 &lt; k </a:t>
            </a:r>
            <a:r>
              <a:rPr lang="en-US" altLang="zh-CN"/>
              <a:t>≤ d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 altLang="zh-CN" dirty="0"/>
              <a:t>S. Lennart Johnsson and C. T. Ho, “Optimum Broadcasting and Personalized Communication in Hypercubes,” IEEE TC, 1989.</a:t>
            </a:r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3F7469-D28B-482F-B1B6-3B8E7CF5151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9101455" y="513715"/>
            <a:ext cx="1079500" cy="810260"/>
            <a:chOff x="14333" y="5162"/>
            <a:chExt cx="1700" cy="1276"/>
          </a:xfrm>
        </p:grpSpPr>
        <p:pic>
          <p:nvPicPr>
            <p:cNvPr id="7" name="内容占位符 5"/>
            <p:cNvPicPr>
              <a:picLocks noGrp="1" noChangeAspect="1"/>
            </p:cNvPicPr>
            <p:nvPr/>
          </p:nvPicPr>
          <p:blipFill>
            <a:blip r:embed="rId1"/>
            <a:srcRect l="32174" t="67665" r="49885" b="20133"/>
            <a:stretch>
              <a:fillRect/>
            </a:stretch>
          </p:blipFill>
          <p:spPr>
            <a:xfrm>
              <a:off x="14333" y="5162"/>
              <a:ext cx="1701" cy="1276"/>
            </a:xfrm>
            <a:prstGeom prst="rect">
              <a:avLst/>
            </a:prstGeom>
          </p:spPr>
        </p:pic>
        <p:cxnSp>
          <p:nvCxnSpPr>
            <p:cNvPr id="9" name="直接箭头连接符 8"/>
            <p:cNvCxnSpPr/>
            <p:nvPr/>
          </p:nvCxnSpPr>
          <p:spPr>
            <a:xfrm flipH="1" flipV="1">
              <a:off x="14446" y="5247"/>
              <a:ext cx="1587" cy="397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/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70" y="3239135"/>
            <a:ext cx="4320000" cy="2964630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7481570" y="1323975"/>
            <a:ext cx="4319270" cy="1762760"/>
            <a:chOff x="11782" y="2085"/>
            <a:chExt cx="6802" cy="277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782" y="2085"/>
              <a:ext cx="6803" cy="2776"/>
            </a:xfrm>
            <a:prstGeom prst="rect">
              <a:avLst/>
            </a:prstGeom>
          </p:spPr>
        </p:pic>
        <p:cxnSp>
          <p:nvCxnSpPr>
            <p:cNvPr id="12" name="直接箭头连接符 11"/>
            <p:cNvCxnSpPr/>
            <p:nvPr/>
          </p:nvCxnSpPr>
          <p:spPr>
            <a:xfrm>
              <a:off x="12024" y="2959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17209" y="2412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14900" y="3525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14333" y="4089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 flipH="1">
              <a:off x="12024" y="4094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H="1">
              <a:off x="12655" y="3514"/>
              <a:ext cx="1134" cy="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8" name="直接箭头连接符 7"/>
          <p:cNvCxnSpPr/>
          <p:nvPr/>
        </p:nvCxnSpPr>
        <p:spPr>
          <a:xfrm flipH="1">
            <a:off x="7962900" y="1526540"/>
            <a:ext cx="720090" cy="0"/>
          </a:xfrm>
          <a:prstGeom prst="straightConnector1">
            <a:avLst/>
          </a:prstGeom>
          <a:ln>
            <a:solidFill>
              <a:schemeClr val="accent6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Further</a:t>
            </a:r>
            <a:r>
              <a:rPr lang="x-none"/>
              <a:t> R</a:t>
            </a:r>
            <a:r>
              <a:rPr lang="en-US" altLang="zh-CN"/>
              <a:t>eadings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pPr lvl="0"/>
            <a:r>
              <a:rPr lang="en-US" altLang="zh-CN"/>
              <a:t>van de Geijn, R., Tr</a:t>
            </a:r>
            <a:r>
              <a:rPr lang="en-US" altLang="en-US"/>
              <a:t>ä</a:t>
            </a:r>
            <a:r>
              <a:rPr lang="en-US" altLang="zh-CN"/>
              <a:t>ff, J. (2011). Collective Communication. In: Padua, D. (eds) Encyclopedia of Parallel Computing. Springer, Boston, MA.</a:t>
            </a:r>
            <a:endParaRPr lang="en-US" altLang="zh-CN"/>
          </a:p>
          <a:p>
            <a:pPr lvl="0"/>
            <a:r>
              <a:rPr lang="en-US" altLang="zh-CN"/>
              <a:t>Tr</a:t>
            </a:r>
            <a:r>
              <a:rPr lang="en-US" altLang="en-US"/>
              <a:t>ä</a:t>
            </a:r>
            <a:r>
              <a:rPr lang="en-US" altLang="zh-CN"/>
              <a:t>ff, J.L., van de Geijn, R.A. (2011). Broadcast. In: Padua, D. (eds) Encyclopedia of Parallel Computing. Springer, Boston, MA.</a:t>
            </a:r>
            <a:endParaRPr lang="en-US" altLang="zh-CN"/>
          </a:p>
          <a:p>
            <a:pPr lvl="0"/>
            <a:r>
              <a:rPr lang="en-US" altLang="zh-CN"/>
              <a:t>Tr</a:t>
            </a:r>
            <a:r>
              <a:rPr lang="en-US" altLang="en-US"/>
              <a:t>ä</a:t>
            </a:r>
            <a:r>
              <a:rPr lang="en-US" altLang="zh-CN"/>
              <a:t>ffe, J.L., van de Geijn, R.A. (2011). Allgather. In: Padua, D. (eds) Encyclopedia of Parallel Computing. Springer, Boston, MA.</a:t>
            </a:r>
            <a:endParaRPr lang="en-US" altLang="zh-CN"/>
          </a:p>
          <a:p>
            <a:pPr lvl="0"/>
            <a:r>
              <a:rPr lang="en-US" altLang="zh-CN"/>
              <a:t>Tr</a:t>
            </a:r>
            <a:r>
              <a:rPr lang="en-US" altLang="en-US"/>
              <a:t>ä</a:t>
            </a:r>
            <a:r>
              <a:rPr lang="en-US" altLang="zh-CN"/>
              <a:t>ff, J.L., vande Geijn, R.A. (2011). All-to-All. In: Padua, D. (eds) Encyclopedia of Parallel Computing. Springer, Boston, MA.</a:t>
            </a:r>
            <a:endParaRPr lang="en-US" altLang="zh-CN"/>
          </a:p>
          <a:p>
            <a:pPr lvl="0"/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lang="zh-CN" altLang="en-US"/>
              <a:t>*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heme/theme1.xml><?xml version="1.0" encoding="utf-8"?>
<a:theme xmlns:a="http://schemas.openxmlformats.org/drawingml/2006/main" name="封面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微软雅黑"/>
        <a:cs typeface="Arial"/>
        <a:font script="Jpan" typeface="ＭＳ Ｐゴシック"/>
        <a:font script="Hang" typeface="굴림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ＭＳ Ｐ明朝"/>
        <a:font script="Hang" typeface="바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内容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Yu Gothic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Yu Gothic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  <a:font script="Jpan" typeface="游ゴシック Light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微软雅黑"/>
        <a:cs typeface="Arial"/>
        <a:font script="Jpan" typeface="游ゴシック"/>
        <a:font script="Hang" typeface="맑은 고딕"/>
        <a:font script="Hans" typeface="微软雅黑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16218</Words>
  <Application>WPS 演示</Application>
  <PresentationFormat>宽屏</PresentationFormat>
  <Paragraphs>736</Paragraphs>
  <Slides>49</Slides>
  <Notes>8</Notes>
  <HiddenSlides>3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Arial</vt:lpstr>
      <vt:lpstr>宋体</vt:lpstr>
      <vt:lpstr>Wingdings</vt:lpstr>
      <vt:lpstr>Calibri</vt:lpstr>
      <vt:lpstr>微软雅黑</vt:lpstr>
      <vt:lpstr>Calibri Light</vt:lpstr>
      <vt:lpstr>Arial Unicode MS</vt:lpstr>
      <vt:lpstr>-apple-system</vt:lpstr>
      <vt:lpstr>Google Sans Text</vt:lpstr>
      <vt:lpstr>Segoe Print</vt:lpstr>
      <vt:lpstr>Cambria Math</vt:lpstr>
      <vt:lpstr>Ms</vt:lpstr>
      <vt:lpstr>封面</vt:lpstr>
      <vt:lpstr>内容</vt:lpstr>
      <vt:lpstr>AI System Fundamentals &amp; Heterogeneous Computing</vt:lpstr>
      <vt:lpstr>PowerPoint 演示文稿</vt:lpstr>
      <vt:lpstr>Scaling Law of LLMs</vt:lpstr>
      <vt:lpstr>AI computing systems are also scaling</vt:lpstr>
      <vt:lpstr>Mapping LLMs on multiple GPUs/NPUs...</vt:lpstr>
      <vt:lpstr>Communication datapath in the AI systems</vt:lpstr>
      <vt:lpstr>Collective v.s. Point-to-point communications</vt:lpstr>
      <vt:lpstr>Broadcast</vt:lpstr>
      <vt:lpstr>Reduce</vt:lpstr>
      <vt:lpstr>Gather</vt:lpstr>
      <vt:lpstr>Scatter</vt:lpstr>
      <vt:lpstr>AllReduce</vt:lpstr>
      <vt:lpstr>AllGather</vt:lpstr>
      <vt:lpstr>ReduceScatter</vt:lpstr>
      <vt:lpstr>AlltoAll</vt:lpstr>
      <vt:lpstr>Take FSDP (PyTorch) as an example</vt:lpstr>
      <vt:lpstr>Take FSDP (PyTorch) as an example</vt:lpstr>
      <vt:lpstr>Take FSDP (PyTorch) as an example</vt:lpstr>
      <vt:lpstr>Take FSDP (PyTorch) as an example</vt:lpstr>
      <vt:lpstr>Take FSDP (PyTorch) as an example</vt:lpstr>
      <vt:lpstr>Implementations of collective communication op.s</vt:lpstr>
      <vt:lpstr>Topologies in the modern AI systems </vt:lpstr>
      <vt:lpstr>Take AllReduce as an example</vt:lpstr>
      <vt:lpstr>Take AllReduce as an example</vt:lpstr>
      <vt:lpstr>Take AllReduce as an example</vt:lpstr>
      <vt:lpstr>Take AllReduce as an example</vt:lpstr>
      <vt:lpstr>Double Binary Tree-based Allreduce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Take AllReduce as an example</vt:lpstr>
      <vt:lpstr>Protocol design matters</vt:lpstr>
      <vt:lpstr>Besides, the protocol designs are also important</vt:lpstr>
      <vt:lpstr>Broadcast (a.k.a., One-to-All Boardcast)</vt:lpstr>
      <vt:lpstr>Broadcast: Assumptions</vt:lpstr>
      <vt:lpstr>Broadcast: Two Lower Bounds</vt:lpstr>
      <vt:lpstr>Broadcast: Tree-based Algorithms</vt:lpstr>
      <vt:lpstr>Broadcast: The “MST” Algorithm</vt:lpstr>
      <vt:lpstr>Broadcast: Pipelining</vt:lpstr>
      <vt:lpstr>Broadcast: the Third Lower Bound</vt:lpstr>
      <vt:lpstr>Broadcast: Simultaneous Trees</vt:lpstr>
      <vt:lpstr>Further Readings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Zhiqiang Zhao</cp:lastModifiedBy>
  <cp:revision>1644</cp:revision>
  <dcterms:created xsi:type="dcterms:W3CDTF">2026-08-07T02:03:00Z</dcterms:created>
  <dcterms:modified xsi:type="dcterms:W3CDTF">2026-08-07T02:06:09Z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A154A0C6C0C8418C8332971ADFE3A65B_13</vt:lpwstr>
  </property>
  <property fmtid="{D5CDD505-2E9C-101B-9397-08002B2CF9AE}" pid="3" name="KSOProductBuildVer">
    <vt:lpwstr>2052-12.1.0.21915</vt:lpwstr>
  </property>
</Properties>
</file>